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embeddedFontLst>
    <p:embeddedFont>
      <p:font typeface="Liter" panose="02000503030000020004" pitchFamily="34" charset="0"/>
      <p:regular r:id="rId23"/>
    </p:embeddedFont>
    <p:embeddedFont>
      <p:font typeface="Liter" panose="02000503030000020004" pitchFamily="34" charset="-122"/>
      <p:regular r:id="rId24"/>
    </p:embeddedFont>
    <p:embeddedFont>
      <p:font typeface="Liter" panose="02000503030000020004" pitchFamily="34" charset="-120"/>
      <p:regular r:id="rId25"/>
    </p:embeddedFont>
    <p:embeddedFont>
      <p:font typeface="Hedvig Letters Sans" pitchFamily="34" charset="0"/>
      <p:regular r:id="rId26"/>
    </p:embeddedFont>
    <p:embeddedFont>
      <p:font typeface="Hedvig Letters Sans" pitchFamily="34" charset="-122"/>
      <p:regular r:id="rId27"/>
    </p:embeddedFont>
    <p:embeddedFont>
      <p:font typeface="Hedvig Letters Sans" pitchFamily="34" charset="-120"/>
      <p:regular r:id="rId28"/>
    </p:embeddedFont>
    <p:embeddedFont>
      <p:font typeface="MiSans" pitchFamily="34" charset="-122"/>
      <p:regular r:id="rId29"/>
    </p:embeddedFont>
    <p:embeddedFont>
      <p:font typeface="MiSans" pitchFamily="34" charset="-12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e8e5a6e3382b42365ebf41d633757dc11f11a86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17">
                  <a:alpha val="80000"/>
                </a:srgbClr>
              </a:gs>
              <a:gs pos="50000">
                <a:srgbClr val="1A237E">
                  <a:alpha val="60000"/>
                </a:srgbClr>
              </a:gs>
              <a:gs pos="100000">
                <a:srgbClr val="0A0E17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385763"/>
            <a:ext cx="1562100" cy="352425"/>
          </a:xfrm>
          <a:custGeom>
            <a:avLst/>
            <a:gdLst/>
            <a:ahLst/>
            <a:cxnLst/>
            <a:rect l="l" t="t" r="r" b="b"/>
            <a:pathLst>
              <a:path w="1562100" h="352425">
                <a:moveTo>
                  <a:pt x="176213" y="0"/>
                </a:moveTo>
                <a:lnTo>
                  <a:pt x="1385888" y="0"/>
                </a:lnTo>
                <a:cubicBezTo>
                  <a:pt x="1483142" y="0"/>
                  <a:pt x="1562100" y="78958"/>
                  <a:pt x="1562100" y="176213"/>
                </a:cubicBezTo>
                <a:lnTo>
                  <a:pt x="1562100" y="176213"/>
                </a:lnTo>
                <a:cubicBezTo>
                  <a:pt x="1562100" y="273467"/>
                  <a:pt x="1483142" y="352425"/>
                  <a:pt x="138588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2925" y="5238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" name="Text 3"/>
          <p:cNvSpPr/>
          <p:nvPr/>
        </p:nvSpPr>
        <p:spPr>
          <a:xfrm>
            <a:off x="695325" y="466725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AI-NATIVE · v2.0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35956"/>
            <a:ext cx="11887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NEO</a:t>
            </a:r>
            <a:r>
              <a:rPr lang="en-US" sz="7200" b="1" kern="0" spc="-180" dirty="0">
                <a:solidFill>
                  <a:srgbClr val="3D5AF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STRIKE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07895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0" scaled="1"/>
          </a:gradFill>
        </p:spPr>
      </p:sp>
      <p:sp>
        <p:nvSpPr>
          <p:cNvPr id="9" name="Text 6"/>
          <p:cNvSpPr/>
          <p:nvPr/>
        </p:nvSpPr>
        <p:spPr>
          <a:xfrm>
            <a:off x="381000" y="3421856"/>
            <a:ext cx="11572875" cy="361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Fast Track-Native Integration Platform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4012406"/>
            <a:ext cx="11420475" cy="504825"/>
          </a:xfrm>
          <a:custGeom>
            <a:avLst/>
            <a:gdLst/>
            <a:ahLst/>
            <a:cxnLst/>
            <a:rect l="l" t="t" r="r" b="b"/>
            <a:pathLst>
              <a:path w="11420475" h="50482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28627"/>
                </a:lnTo>
                <a:cubicBezTo>
                  <a:pt x="11420475" y="470710"/>
                  <a:pt x="11386360" y="504825"/>
                  <a:pt x="113442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744" y="416956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933450" y="4131469"/>
            <a:ext cx="5886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 Casino &amp; Sports-Book · Backend Live in </a:t>
            </a:r>
            <a:r>
              <a:rPr lang="en-US" sz="13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48 Hours</a:t>
            </a:r>
            <a:r>
              <a:rPr lang="en-US" sz="13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· Full Launch in </a:t>
            </a:r>
            <a:r>
              <a:rPr lang="en-US" sz="13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 Weeks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14" name="Text 11"/>
          <p:cNvSpPr/>
          <p:nvPr/>
        </p:nvSpPr>
        <p:spPr>
          <a:xfrm>
            <a:off x="623888" y="62865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Enterprise-Grade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93466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6" name="Text 13"/>
          <p:cNvSpPr/>
          <p:nvPr/>
        </p:nvSpPr>
        <p:spPr>
          <a:xfrm>
            <a:off x="2108969" y="6286500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64954" y="631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8" name="Text 15"/>
          <p:cNvSpPr/>
          <p:nvPr/>
        </p:nvSpPr>
        <p:spPr>
          <a:xfrm>
            <a:off x="3197126" y="6286500"/>
            <a:ext cx="590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API-First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9916" y="5715000"/>
            <a:ext cx="12954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48h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38991" y="62865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live backend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318" y="398550"/>
            <a:ext cx="36232" cy="289854"/>
          </a:xfrm>
          <a:custGeom>
            <a:avLst/>
            <a:gdLst/>
            <a:ahLst/>
            <a:cxnLst/>
            <a:rect l="l" t="t" r="r" b="b"/>
            <a:pathLst>
              <a:path w="36232" h="289854">
                <a:moveTo>
                  <a:pt x="0" y="0"/>
                </a:moveTo>
                <a:lnTo>
                  <a:pt x="36232" y="0"/>
                </a:lnTo>
                <a:lnTo>
                  <a:pt x="36232" y="289854"/>
                </a:lnTo>
                <a:lnTo>
                  <a:pt x="0" y="289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07245" y="362318"/>
            <a:ext cx="4692018" cy="3623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6-Week Development Gap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245" y="797100"/>
            <a:ext cx="11394900" cy="217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Why technical founders waste months building what NeoStrike delivers in 48 hours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6847" y="1200178"/>
            <a:ext cx="5634045" cy="4528975"/>
          </a:xfrm>
          <a:custGeom>
            <a:avLst/>
            <a:gdLst/>
            <a:ahLst/>
            <a:cxnLst/>
            <a:rect l="l" t="t" r="r" b="b"/>
            <a:pathLst>
              <a:path w="5634045" h="4528975">
                <a:moveTo>
                  <a:pt x="108695" y="0"/>
                </a:moveTo>
                <a:lnTo>
                  <a:pt x="5525349" y="0"/>
                </a:lnTo>
                <a:cubicBezTo>
                  <a:pt x="5585380" y="0"/>
                  <a:pt x="5634045" y="48665"/>
                  <a:pt x="5634045" y="108695"/>
                </a:cubicBezTo>
                <a:lnTo>
                  <a:pt x="5634045" y="4420279"/>
                </a:lnTo>
                <a:cubicBezTo>
                  <a:pt x="5634045" y="4480310"/>
                  <a:pt x="5585380" y="4528975"/>
                  <a:pt x="5525349" y="4528975"/>
                </a:cubicBezTo>
                <a:lnTo>
                  <a:pt x="108695" y="4528975"/>
                </a:lnTo>
                <a:cubicBezTo>
                  <a:pt x="48665" y="4528975"/>
                  <a:pt x="0" y="4480310"/>
                  <a:pt x="0" y="4420279"/>
                </a:cubicBezTo>
                <a:lnTo>
                  <a:pt x="0" y="108695"/>
                </a:lnTo>
                <a:cubicBezTo>
                  <a:pt x="0" y="48665"/>
                  <a:pt x="48665" y="0"/>
                  <a:pt x="1086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30000"/>
                </a:srgbClr>
              </a:gs>
              <a:gs pos="100000">
                <a:srgbClr val="0A0E17">
                  <a:alpha val="50000"/>
                </a:srgbClr>
              </a:gs>
            </a:gsLst>
            <a:lin ang="2700000" scaled="1"/>
          </a:gra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535" y="1385866"/>
            <a:ext cx="362318" cy="362318"/>
          </a:xfrm>
          <a:custGeom>
            <a:avLst/>
            <a:gdLst/>
            <a:ahLst/>
            <a:cxnLst/>
            <a:rect l="l" t="t" r="r" b="b"/>
            <a:pathLst>
              <a:path w="362318" h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54437" y="1485504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>
                <a:moveTo>
                  <a:pt x="81522" y="0"/>
                </a:moveTo>
                <a:cubicBezTo>
                  <a:pt x="86203" y="0"/>
                  <a:pt x="90502" y="2579"/>
                  <a:pt x="92731" y="6687"/>
                </a:cubicBezTo>
                <a:lnTo>
                  <a:pt x="161515" y="134065"/>
                </a:lnTo>
                <a:cubicBezTo>
                  <a:pt x="163648" y="138013"/>
                  <a:pt x="163553" y="142790"/>
                  <a:pt x="161260" y="146643"/>
                </a:cubicBezTo>
                <a:cubicBezTo>
                  <a:pt x="158967" y="150496"/>
                  <a:pt x="154795" y="152853"/>
                  <a:pt x="150305" y="152853"/>
                </a:cubicBezTo>
                <a:lnTo>
                  <a:pt x="12738" y="152853"/>
                </a:lnTo>
                <a:cubicBezTo>
                  <a:pt x="8248" y="152853"/>
                  <a:pt x="4108" y="150496"/>
                  <a:pt x="1783" y="146643"/>
                </a:cubicBezTo>
                <a:cubicBezTo>
                  <a:pt x="-541" y="142790"/>
                  <a:pt x="-605" y="138013"/>
                  <a:pt x="1529" y="134065"/>
                </a:cubicBezTo>
                <a:lnTo>
                  <a:pt x="70312" y="6687"/>
                </a:lnTo>
                <a:cubicBezTo>
                  <a:pt x="72541" y="2579"/>
                  <a:pt x="76840" y="0"/>
                  <a:pt x="81522" y="0"/>
                </a:cubicBezTo>
                <a:close/>
                <a:moveTo>
                  <a:pt x="81522" y="53499"/>
                </a:moveTo>
                <a:cubicBezTo>
                  <a:pt x="77286" y="53499"/>
                  <a:pt x="73879" y="56906"/>
                  <a:pt x="73879" y="61141"/>
                </a:cubicBezTo>
                <a:lnTo>
                  <a:pt x="73879" y="96807"/>
                </a:lnTo>
                <a:cubicBezTo>
                  <a:pt x="73879" y="101042"/>
                  <a:pt x="77286" y="104449"/>
                  <a:pt x="81522" y="104449"/>
                </a:cubicBezTo>
                <a:cubicBezTo>
                  <a:pt x="85757" y="104449"/>
                  <a:pt x="89164" y="101042"/>
                  <a:pt x="89164" y="96807"/>
                </a:cubicBezTo>
                <a:lnTo>
                  <a:pt x="89164" y="61141"/>
                </a:lnTo>
                <a:cubicBezTo>
                  <a:pt x="89164" y="56906"/>
                  <a:pt x="85757" y="53499"/>
                  <a:pt x="81522" y="53499"/>
                </a:cubicBezTo>
                <a:close/>
                <a:moveTo>
                  <a:pt x="90024" y="122282"/>
                </a:moveTo>
                <a:cubicBezTo>
                  <a:pt x="90217" y="119126"/>
                  <a:pt x="88644" y="116124"/>
                  <a:pt x="85938" y="114487"/>
                </a:cubicBezTo>
                <a:cubicBezTo>
                  <a:pt x="83233" y="112851"/>
                  <a:pt x="79842" y="112851"/>
                  <a:pt x="77137" y="114487"/>
                </a:cubicBezTo>
                <a:cubicBezTo>
                  <a:pt x="74431" y="116124"/>
                  <a:pt x="72858" y="119126"/>
                  <a:pt x="73051" y="122282"/>
                </a:cubicBezTo>
                <a:cubicBezTo>
                  <a:pt x="72858" y="125438"/>
                  <a:pt x="74431" y="128441"/>
                  <a:pt x="77137" y="130077"/>
                </a:cubicBezTo>
                <a:cubicBezTo>
                  <a:pt x="79842" y="131714"/>
                  <a:pt x="83233" y="131714"/>
                  <a:pt x="85938" y="130077"/>
                </a:cubicBezTo>
                <a:cubicBezTo>
                  <a:pt x="88644" y="128441"/>
                  <a:pt x="90217" y="125438"/>
                  <a:pt x="90024" y="122282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8" name="Text 6"/>
          <p:cNvSpPr/>
          <p:nvPr/>
        </p:nvSpPr>
        <p:spPr>
          <a:xfrm>
            <a:off x="1023548" y="1422098"/>
            <a:ext cx="1530793" cy="289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0651" y="1893111"/>
            <a:ext cx="5244553" cy="634056"/>
          </a:xfrm>
          <a:custGeom>
            <a:avLst/>
            <a:gdLst/>
            <a:ahLst/>
            <a:cxnLst/>
            <a:rect l="l" t="t" r="r" b="b"/>
            <a:pathLst>
              <a:path w="5244553" h="634056">
                <a:moveTo>
                  <a:pt x="36232" y="0"/>
                </a:moveTo>
                <a:lnTo>
                  <a:pt x="5172086" y="0"/>
                </a:lnTo>
                <a:cubicBezTo>
                  <a:pt x="5212108" y="0"/>
                  <a:pt x="5244553" y="32444"/>
                  <a:pt x="5244553" y="72466"/>
                </a:cubicBezTo>
                <a:lnTo>
                  <a:pt x="5244553" y="561590"/>
                </a:lnTo>
                <a:cubicBezTo>
                  <a:pt x="5244553" y="601612"/>
                  <a:pt x="5212108" y="634056"/>
                  <a:pt x="5172086" y="634056"/>
                </a:cubicBezTo>
                <a:lnTo>
                  <a:pt x="36232" y="634056"/>
                </a:lnTo>
                <a:cubicBezTo>
                  <a:pt x="16222" y="634056"/>
                  <a:pt x="0" y="617835"/>
                  <a:pt x="0" y="597825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70651" y="1893111"/>
            <a:ext cx="36232" cy="634056"/>
          </a:xfrm>
          <a:custGeom>
            <a:avLst/>
            <a:gdLst/>
            <a:ahLst/>
            <a:cxnLst/>
            <a:rect l="l" t="t" r="r" b="b"/>
            <a:pathLst>
              <a:path w="36232" h="634056">
                <a:moveTo>
                  <a:pt x="36232" y="0"/>
                </a:moveTo>
                <a:lnTo>
                  <a:pt x="36232" y="0"/>
                </a:lnTo>
                <a:lnTo>
                  <a:pt x="36232" y="634056"/>
                </a:lnTo>
                <a:lnTo>
                  <a:pt x="36232" y="634056"/>
                </a:lnTo>
                <a:cubicBezTo>
                  <a:pt x="16222" y="634056"/>
                  <a:pt x="0" y="617835"/>
                  <a:pt x="0" y="59782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1" name="Shape 9"/>
          <p:cNvSpPr/>
          <p:nvPr/>
        </p:nvSpPr>
        <p:spPr>
          <a:xfrm>
            <a:off x="715578" y="2038039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72464" y="144927"/>
                </a:moveTo>
                <a:cubicBezTo>
                  <a:pt x="112457" y="144927"/>
                  <a:pt x="144927" y="112457"/>
                  <a:pt x="144927" y="72464"/>
                </a:cubicBezTo>
                <a:cubicBezTo>
                  <a:pt x="144927" y="32470"/>
                  <a:pt x="112457" y="0"/>
                  <a:pt x="72464" y="0"/>
                </a:cubicBezTo>
                <a:cubicBezTo>
                  <a:pt x="32470" y="0"/>
                  <a:pt x="0" y="32470"/>
                  <a:pt x="0" y="72464"/>
                </a:cubicBezTo>
                <a:cubicBezTo>
                  <a:pt x="0" y="112457"/>
                  <a:pt x="32470" y="144927"/>
                  <a:pt x="72464" y="144927"/>
                </a:cubicBezTo>
                <a:close/>
                <a:moveTo>
                  <a:pt x="47271" y="47271"/>
                </a:moveTo>
                <a:cubicBezTo>
                  <a:pt x="49932" y="44610"/>
                  <a:pt x="54234" y="44610"/>
                  <a:pt x="56867" y="47271"/>
                </a:cubicBezTo>
                <a:lnTo>
                  <a:pt x="72435" y="62840"/>
                </a:lnTo>
                <a:lnTo>
                  <a:pt x="88004" y="47271"/>
                </a:lnTo>
                <a:cubicBezTo>
                  <a:pt x="90664" y="44610"/>
                  <a:pt x="94967" y="44610"/>
                  <a:pt x="97599" y="47271"/>
                </a:cubicBezTo>
                <a:cubicBezTo>
                  <a:pt x="100232" y="49932"/>
                  <a:pt x="100260" y="54234"/>
                  <a:pt x="97599" y="56867"/>
                </a:cubicBezTo>
                <a:lnTo>
                  <a:pt x="82031" y="72435"/>
                </a:lnTo>
                <a:lnTo>
                  <a:pt x="97599" y="88004"/>
                </a:lnTo>
                <a:cubicBezTo>
                  <a:pt x="100260" y="90664"/>
                  <a:pt x="100260" y="94967"/>
                  <a:pt x="97599" y="97599"/>
                </a:cubicBezTo>
                <a:cubicBezTo>
                  <a:pt x="94939" y="100232"/>
                  <a:pt x="90636" y="100260"/>
                  <a:pt x="88004" y="97599"/>
                </a:cubicBezTo>
                <a:lnTo>
                  <a:pt x="72435" y="82031"/>
                </a:lnTo>
                <a:lnTo>
                  <a:pt x="56867" y="97599"/>
                </a:lnTo>
                <a:cubicBezTo>
                  <a:pt x="54206" y="100260"/>
                  <a:pt x="49904" y="100260"/>
                  <a:pt x="47271" y="97599"/>
                </a:cubicBezTo>
                <a:cubicBezTo>
                  <a:pt x="44639" y="94939"/>
                  <a:pt x="44610" y="90636"/>
                  <a:pt x="47271" y="88004"/>
                </a:cubicBezTo>
                <a:lnTo>
                  <a:pt x="62840" y="72435"/>
                </a:lnTo>
                <a:lnTo>
                  <a:pt x="47271" y="56867"/>
                </a:lnTo>
                <a:cubicBezTo>
                  <a:pt x="44610" y="54206"/>
                  <a:pt x="44610" y="49904"/>
                  <a:pt x="47271" y="4727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2" name="Text 10"/>
          <p:cNvSpPr/>
          <p:nvPr/>
        </p:nvSpPr>
        <p:spPr>
          <a:xfrm>
            <a:off x="987316" y="2001807"/>
            <a:ext cx="4782597" cy="416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founders waste </a:t>
            </a:r>
            <a:r>
              <a:rPr lang="en-US" sz="10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6-8 weeks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building game provider adapters, wallet UIs, game lobbies, and payment flows from scratch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0651" y="2631334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70651" y="2631334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5" name="Shape 13"/>
          <p:cNvSpPr/>
          <p:nvPr/>
        </p:nvSpPr>
        <p:spPr>
          <a:xfrm>
            <a:off x="715578" y="2776262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72464" y="144927"/>
                </a:moveTo>
                <a:cubicBezTo>
                  <a:pt x="112457" y="144927"/>
                  <a:pt x="144927" y="112457"/>
                  <a:pt x="144927" y="72464"/>
                </a:cubicBezTo>
                <a:cubicBezTo>
                  <a:pt x="144927" y="32470"/>
                  <a:pt x="112457" y="0"/>
                  <a:pt x="72464" y="0"/>
                </a:cubicBezTo>
                <a:cubicBezTo>
                  <a:pt x="32470" y="0"/>
                  <a:pt x="0" y="32470"/>
                  <a:pt x="0" y="72464"/>
                </a:cubicBezTo>
                <a:cubicBezTo>
                  <a:pt x="0" y="112457"/>
                  <a:pt x="32470" y="144927"/>
                  <a:pt x="72464" y="144927"/>
                </a:cubicBezTo>
                <a:close/>
                <a:moveTo>
                  <a:pt x="47271" y="47271"/>
                </a:moveTo>
                <a:cubicBezTo>
                  <a:pt x="49932" y="44610"/>
                  <a:pt x="54234" y="44610"/>
                  <a:pt x="56867" y="47271"/>
                </a:cubicBezTo>
                <a:lnTo>
                  <a:pt x="72435" y="62840"/>
                </a:lnTo>
                <a:lnTo>
                  <a:pt x="88004" y="47271"/>
                </a:lnTo>
                <a:cubicBezTo>
                  <a:pt x="90664" y="44610"/>
                  <a:pt x="94967" y="44610"/>
                  <a:pt x="97599" y="47271"/>
                </a:cubicBezTo>
                <a:cubicBezTo>
                  <a:pt x="100232" y="49932"/>
                  <a:pt x="100260" y="54234"/>
                  <a:pt x="97599" y="56867"/>
                </a:cubicBezTo>
                <a:lnTo>
                  <a:pt x="82031" y="72435"/>
                </a:lnTo>
                <a:lnTo>
                  <a:pt x="97599" y="88004"/>
                </a:lnTo>
                <a:cubicBezTo>
                  <a:pt x="100260" y="90664"/>
                  <a:pt x="100260" y="94967"/>
                  <a:pt x="97599" y="97599"/>
                </a:cubicBezTo>
                <a:cubicBezTo>
                  <a:pt x="94939" y="100232"/>
                  <a:pt x="90636" y="100260"/>
                  <a:pt x="88004" y="97599"/>
                </a:cubicBezTo>
                <a:lnTo>
                  <a:pt x="72435" y="82031"/>
                </a:lnTo>
                <a:lnTo>
                  <a:pt x="56867" y="97599"/>
                </a:lnTo>
                <a:cubicBezTo>
                  <a:pt x="54206" y="100260"/>
                  <a:pt x="49904" y="100260"/>
                  <a:pt x="47271" y="97599"/>
                </a:cubicBezTo>
                <a:cubicBezTo>
                  <a:pt x="44639" y="94939"/>
                  <a:pt x="44610" y="90636"/>
                  <a:pt x="47271" y="88004"/>
                </a:cubicBezTo>
                <a:lnTo>
                  <a:pt x="62840" y="72435"/>
                </a:lnTo>
                <a:lnTo>
                  <a:pt x="47271" y="56867"/>
                </a:lnTo>
                <a:cubicBezTo>
                  <a:pt x="44610" y="54206"/>
                  <a:pt x="44610" y="49904"/>
                  <a:pt x="47271" y="4727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6" name="Text 14"/>
          <p:cNvSpPr/>
          <p:nvPr/>
        </p:nvSpPr>
        <p:spPr>
          <a:xfrm>
            <a:off x="987316" y="2740030"/>
            <a:ext cx="4565207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Rigid White-Label stacks with limited flexibility lock you into suboptimal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0651" y="3163489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70651" y="3163489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9" name="Shape 17"/>
          <p:cNvSpPr/>
          <p:nvPr/>
        </p:nvSpPr>
        <p:spPr>
          <a:xfrm>
            <a:off x="715578" y="3308416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72464" y="144927"/>
                </a:moveTo>
                <a:cubicBezTo>
                  <a:pt x="112457" y="144927"/>
                  <a:pt x="144927" y="112457"/>
                  <a:pt x="144927" y="72464"/>
                </a:cubicBezTo>
                <a:cubicBezTo>
                  <a:pt x="144927" y="32470"/>
                  <a:pt x="112457" y="0"/>
                  <a:pt x="72464" y="0"/>
                </a:cubicBezTo>
                <a:cubicBezTo>
                  <a:pt x="32470" y="0"/>
                  <a:pt x="0" y="32470"/>
                  <a:pt x="0" y="72464"/>
                </a:cubicBezTo>
                <a:cubicBezTo>
                  <a:pt x="0" y="112457"/>
                  <a:pt x="32470" y="144927"/>
                  <a:pt x="72464" y="144927"/>
                </a:cubicBezTo>
                <a:close/>
                <a:moveTo>
                  <a:pt x="47271" y="47271"/>
                </a:moveTo>
                <a:cubicBezTo>
                  <a:pt x="49932" y="44610"/>
                  <a:pt x="54234" y="44610"/>
                  <a:pt x="56867" y="47271"/>
                </a:cubicBezTo>
                <a:lnTo>
                  <a:pt x="72435" y="62840"/>
                </a:lnTo>
                <a:lnTo>
                  <a:pt x="88004" y="47271"/>
                </a:lnTo>
                <a:cubicBezTo>
                  <a:pt x="90664" y="44610"/>
                  <a:pt x="94967" y="44610"/>
                  <a:pt x="97599" y="47271"/>
                </a:cubicBezTo>
                <a:cubicBezTo>
                  <a:pt x="100232" y="49932"/>
                  <a:pt x="100260" y="54234"/>
                  <a:pt x="97599" y="56867"/>
                </a:cubicBezTo>
                <a:lnTo>
                  <a:pt x="82031" y="72435"/>
                </a:lnTo>
                <a:lnTo>
                  <a:pt x="97599" y="88004"/>
                </a:lnTo>
                <a:cubicBezTo>
                  <a:pt x="100260" y="90664"/>
                  <a:pt x="100260" y="94967"/>
                  <a:pt x="97599" y="97599"/>
                </a:cubicBezTo>
                <a:cubicBezTo>
                  <a:pt x="94939" y="100232"/>
                  <a:pt x="90636" y="100260"/>
                  <a:pt x="88004" y="97599"/>
                </a:cubicBezTo>
                <a:lnTo>
                  <a:pt x="72435" y="82031"/>
                </a:lnTo>
                <a:lnTo>
                  <a:pt x="56867" y="97599"/>
                </a:lnTo>
                <a:cubicBezTo>
                  <a:pt x="54206" y="100260"/>
                  <a:pt x="49904" y="100260"/>
                  <a:pt x="47271" y="97599"/>
                </a:cubicBezTo>
                <a:cubicBezTo>
                  <a:pt x="44639" y="94939"/>
                  <a:pt x="44610" y="90636"/>
                  <a:pt x="47271" y="88004"/>
                </a:cubicBezTo>
                <a:lnTo>
                  <a:pt x="62840" y="72435"/>
                </a:lnTo>
                <a:lnTo>
                  <a:pt x="47271" y="56867"/>
                </a:lnTo>
                <a:cubicBezTo>
                  <a:pt x="44610" y="54206"/>
                  <a:pt x="44610" y="49904"/>
                  <a:pt x="47271" y="4727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0" name="Text 18"/>
          <p:cNvSpPr/>
          <p:nvPr/>
        </p:nvSpPr>
        <p:spPr>
          <a:xfrm>
            <a:off x="987316" y="3272184"/>
            <a:ext cx="3740933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Slow real-time data sync affecting player experience and retention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0651" y="3695643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570651" y="3695643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3" name="Shape 21"/>
          <p:cNvSpPr/>
          <p:nvPr/>
        </p:nvSpPr>
        <p:spPr>
          <a:xfrm>
            <a:off x="715578" y="3840571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72464" y="144927"/>
                </a:moveTo>
                <a:cubicBezTo>
                  <a:pt x="112457" y="144927"/>
                  <a:pt x="144927" y="112457"/>
                  <a:pt x="144927" y="72464"/>
                </a:cubicBezTo>
                <a:cubicBezTo>
                  <a:pt x="144927" y="32470"/>
                  <a:pt x="112457" y="0"/>
                  <a:pt x="72464" y="0"/>
                </a:cubicBezTo>
                <a:cubicBezTo>
                  <a:pt x="32470" y="0"/>
                  <a:pt x="0" y="32470"/>
                  <a:pt x="0" y="72464"/>
                </a:cubicBezTo>
                <a:cubicBezTo>
                  <a:pt x="0" y="112457"/>
                  <a:pt x="32470" y="144927"/>
                  <a:pt x="72464" y="144927"/>
                </a:cubicBezTo>
                <a:close/>
                <a:moveTo>
                  <a:pt x="96354" y="60207"/>
                </a:moveTo>
                <a:lnTo>
                  <a:pt x="73709" y="96439"/>
                </a:lnTo>
                <a:cubicBezTo>
                  <a:pt x="72520" y="98335"/>
                  <a:pt x="70482" y="99524"/>
                  <a:pt x="68246" y="99637"/>
                </a:cubicBezTo>
                <a:cubicBezTo>
                  <a:pt x="66010" y="99751"/>
                  <a:pt x="63859" y="98732"/>
                  <a:pt x="62528" y="96920"/>
                </a:cubicBezTo>
                <a:lnTo>
                  <a:pt x="48941" y="78804"/>
                </a:lnTo>
                <a:cubicBezTo>
                  <a:pt x="46677" y="75804"/>
                  <a:pt x="47299" y="71558"/>
                  <a:pt x="50300" y="69293"/>
                </a:cubicBezTo>
                <a:cubicBezTo>
                  <a:pt x="53300" y="67029"/>
                  <a:pt x="57546" y="67652"/>
                  <a:pt x="59811" y="70652"/>
                </a:cubicBezTo>
                <a:lnTo>
                  <a:pt x="67453" y="80842"/>
                </a:lnTo>
                <a:lnTo>
                  <a:pt x="84833" y="53017"/>
                </a:lnTo>
                <a:cubicBezTo>
                  <a:pt x="86815" y="49847"/>
                  <a:pt x="91004" y="48856"/>
                  <a:pt x="94203" y="50866"/>
                </a:cubicBezTo>
                <a:cubicBezTo>
                  <a:pt x="97401" y="52876"/>
                  <a:pt x="98364" y="57037"/>
                  <a:pt x="96354" y="6023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4" name="Text 22"/>
          <p:cNvSpPr/>
          <p:nvPr/>
        </p:nvSpPr>
        <p:spPr>
          <a:xfrm>
            <a:off x="987316" y="3804339"/>
            <a:ext cx="3106877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FT Sync: 10 Event Types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Built-in and ready to stream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0651" y="4227798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70651" y="4227798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7" name="Shape 25"/>
          <p:cNvSpPr/>
          <p:nvPr/>
        </p:nvSpPr>
        <p:spPr>
          <a:xfrm>
            <a:off x="715578" y="4372725"/>
            <a:ext cx="144927" cy="144927"/>
          </a:xfrm>
          <a:custGeom>
            <a:avLst/>
            <a:gdLst/>
            <a:ahLst/>
            <a:cxnLst/>
            <a:rect l="l" t="t" r="r" b="b"/>
            <a:pathLst>
              <a:path w="144927" h="144927">
                <a:moveTo>
                  <a:pt x="72464" y="144927"/>
                </a:moveTo>
                <a:cubicBezTo>
                  <a:pt x="112457" y="144927"/>
                  <a:pt x="144927" y="112457"/>
                  <a:pt x="144927" y="72464"/>
                </a:cubicBezTo>
                <a:cubicBezTo>
                  <a:pt x="144927" y="32470"/>
                  <a:pt x="112457" y="0"/>
                  <a:pt x="72464" y="0"/>
                </a:cubicBezTo>
                <a:cubicBezTo>
                  <a:pt x="32470" y="0"/>
                  <a:pt x="0" y="32470"/>
                  <a:pt x="0" y="72464"/>
                </a:cubicBezTo>
                <a:cubicBezTo>
                  <a:pt x="0" y="112457"/>
                  <a:pt x="32470" y="144927"/>
                  <a:pt x="72464" y="144927"/>
                </a:cubicBezTo>
                <a:close/>
                <a:moveTo>
                  <a:pt x="96354" y="60207"/>
                </a:moveTo>
                <a:lnTo>
                  <a:pt x="73709" y="96439"/>
                </a:lnTo>
                <a:cubicBezTo>
                  <a:pt x="72520" y="98335"/>
                  <a:pt x="70482" y="99524"/>
                  <a:pt x="68246" y="99637"/>
                </a:cubicBezTo>
                <a:cubicBezTo>
                  <a:pt x="66010" y="99751"/>
                  <a:pt x="63859" y="98732"/>
                  <a:pt x="62528" y="96920"/>
                </a:cubicBezTo>
                <a:lnTo>
                  <a:pt x="48941" y="78804"/>
                </a:lnTo>
                <a:cubicBezTo>
                  <a:pt x="46677" y="75804"/>
                  <a:pt x="47299" y="71558"/>
                  <a:pt x="50300" y="69293"/>
                </a:cubicBezTo>
                <a:cubicBezTo>
                  <a:pt x="53300" y="67029"/>
                  <a:pt x="57546" y="67652"/>
                  <a:pt x="59811" y="70652"/>
                </a:cubicBezTo>
                <a:lnTo>
                  <a:pt x="67453" y="80842"/>
                </a:lnTo>
                <a:lnTo>
                  <a:pt x="84833" y="53017"/>
                </a:lnTo>
                <a:cubicBezTo>
                  <a:pt x="86815" y="49847"/>
                  <a:pt x="91004" y="48856"/>
                  <a:pt x="94203" y="50866"/>
                </a:cubicBezTo>
                <a:cubicBezTo>
                  <a:pt x="97401" y="52876"/>
                  <a:pt x="98364" y="57037"/>
                  <a:pt x="96354" y="6023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8" name="Text 26"/>
          <p:cNvSpPr/>
          <p:nvPr/>
        </p:nvSpPr>
        <p:spPr>
          <a:xfrm>
            <a:off x="987316" y="4336493"/>
            <a:ext cx="3876802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PAM pre-integrated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with Tecpinion &amp; Bragg — 2-week timeline holds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7064" y="4800713"/>
            <a:ext cx="5253611" cy="733694"/>
          </a:xfrm>
          <a:custGeom>
            <a:avLst/>
            <a:gdLst/>
            <a:ahLst/>
            <a:cxnLst/>
            <a:rect l="l" t="t" r="r" b="b"/>
            <a:pathLst>
              <a:path w="5253611" h="733694">
                <a:moveTo>
                  <a:pt x="72467" y="0"/>
                </a:moveTo>
                <a:lnTo>
                  <a:pt x="5181144" y="0"/>
                </a:lnTo>
                <a:cubicBezTo>
                  <a:pt x="5221166" y="0"/>
                  <a:pt x="5253611" y="32445"/>
                  <a:pt x="5253611" y="72467"/>
                </a:cubicBezTo>
                <a:lnTo>
                  <a:pt x="5253611" y="661227"/>
                </a:lnTo>
                <a:cubicBezTo>
                  <a:pt x="5253611" y="701249"/>
                  <a:pt x="5221166" y="733694"/>
                  <a:pt x="5181144" y="733694"/>
                </a:cubicBezTo>
                <a:lnTo>
                  <a:pt x="72467" y="733694"/>
                </a:lnTo>
                <a:cubicBezTo>
                  <a:pt x="32445" y="733694"/>
                  <a:pt x="0" y="701249"/>
                  <a:pt x="0" y="661227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88" y="4913938"/>
            <a:ext cx="1449272" cy="3260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6-8 Weeks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0288" y="5240024"/>
            <a:ext cx="1376808" cy="1811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Dev cycle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66444" y="4913938"/>
            <a:ext cx="1530793" cy="3260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40" b="1" dirty="0">
                <a:solidFill>
                  <a:srgbClr val="FF646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€50K-100K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38908" y="5240024"/>
            <a:ext cx="1458330" cy="1811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Sunk costs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0047" y="1200178"/>
            <a:ext cx="5634045" cy="4528975"/>
          </a:xfrm>
          <a:custGeom>
            <a:avLst/>
            <a:gdLst/>
            <a:ahLst/>
            <a:cxnLst/>
            <a:rect l="l" t="t" r="r" b="b"/>
            <a:pathLst>
              <a:path w="5634045" h="4528975">
                <a:moveTo>
                  <a:pt x="108695" y="0"/>
                </a:moveTo>
                <a:lnTo>
                  <a:pt x="5525349" y="0"/>
                </a:lnTo>
                <a:cubicBezTo>
                  <a:pt x="5585380" y="0"/>
                  <a:pt x="5634045" y="48665"/>
                  <a:pt x="5634045" y="108695"/>
                </a:cubicBezTo>
                <a:lnTo>
                  <a:pt x="5634045" y="4420279"/>
                </a:lnTo>
                <a:cubicBezTo>
                  <a:pt x="5634045" y="4480310"/>
                  <a:pt x="5585380" y="4528975"/>
                  <a:pt x="5525349" y="4528975"/>
                </a:cubicBezTo>
                <a:lnTo>
                  <a:pt x="108695" y="4528975"/>
                </a:lnTo>
                <a:cubicBezTo>
                  <a:pt x="48665" y="4528975"/>
                  <a:pt x="0" y="4480310"/>
                  <a:pt x="0" y="4420279"/>
                </a:cubicBezTo>
                <a:lnTo>
                  <a:pt x="0" y="108695"/>
                </a:lnTo>
                <a:cubicBezTo>
                  <a:pt x="0" y="48665"/>
                  <a:pt x="48665" y="0"/>
                  <a:pt x="1086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30000"/>
                </a:srgbClr>
              </a:gs>
              <a:gs pos="100000">
                <a:srgbClr val="0A0E17">
                  <a:alpha val="50000"/>
                </a:srgbClr>
              </a:gs>
            </a:gsLst>
            <a:lin ang="2700000" scaled="1"/>
          </a:gra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5735" y="1385866"/>
            <a:ext cx="362318" cy="362318"/>
          </a:xfrm>
          <a:custGeom>
            <a:avLst/>
            <a:gdLst/>
            <a:ahLst/>
            <a:cxnLst/>
            <a:rect l="l" t="t" r="r" b="b"/>
            <a:pathLst>
              <a:path w="362318" h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477637" y="1485504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>
                <a:moveTo>
                  <a:pt x="132473" y="66236"/>
                </a:moveTo>
                <a:cubicBezTo>
                  <a:pt x="132473" y="80853"/>
                  <a:pt x="127728" y="94355"/>
                  <a:pt x="119735" y="105309"/>
                </a:cubicBezTo>
                <a:lnTo>
                  <a:pt x="160050" y="145656"/>
                </a:lnTo>
                <a:cubicBezTo>
                  <a:pt x="164030" y="149637"/>
                  <a:pt x="164030" y="156101"/>
                  <a:pt x="160050" y="160082"/>
                </a:cubicBezTo>
                <a:cubicBezTo>
                  <a:pt x="156069" y="164062"/>
                  <a:pt x="149605" y="164062"/>
                  <a:pt x="145624" y="160082"/>
                </a:cubicBezTo>
                <a:lnTo>
                  <a:pt x="105309" y="119735"/>
                </a:lnTo>
                <a:cubicBezTo>
                  <a:pt x="94355" y="127728"/>
                  <a:pt x="80853" y="132473"/>
                  <a:pt x="66236" y="132473"/>
                </a:cubicBezTo>
                <a:cubicBezTo>
                  <a:pt x="29647" y="132473"/>
                  <a:pt x="0" y="102825"/>
                  <a:pt x="0" y="66236"/>
                </a:cubicBezTo>
                <a:cubicBezTo>
                  <a:pt x="0" y="29647"/>
                  <a:pt x="29647" y="0"/>
                  <a:pt x="66236" y="0"/>
                </a:cubicBezTo>
                <a:cubicBezTo>
                  <a:pt x="102825" y="0"/>
                  <a:pt x="132473" y="29647"/>
                  <a:pt x="132473" y="66236"/>
                </a:cubicBezTo>
                <a:close/>
                <a:moveTo>
                  <a:pt x="66236" y="112092"/>
                </a:moveTo>
                <a:cubicBezTo>
                  <a:pt x="91545" y="112092"/>
                  <a:pt x="112092" y="91545"/>
                  <a:pt x="112092" y="66236"/>
                </a:cubicBezTo>
                <a:cubicBezTo>
                  <a:pt x="112092" y="40928"/>
                  <a:pt x="91545" y="20380"/>
                  <a:pt x="66236" y="20380"/>
                </a:cubicBezTo>
                <a:cubicBezTo>
                  <a:pt x="40928" y="20380"/>
                  <a:pt x="20380" y="40928"/>
                  <a:pt x="20380" y="66236"/>
                </a:cubicBezTo>
                <a:cubicBezTo>
                  <a:pt x="20380" y="91545"/>
                  <a:pt x="40928" y="112092"/>
                  <a:pt x="66236" y="11209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7" name="Text 35"/>
          <p:cNvSpPr/>
          <p:nvPr/>
        </p:nvSpPr>
        <p:spPr>
          <a:xfrm>
            <a:off x="6846748" y="1422098"/>
            <a:ext cx="1675721" cy="289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Market Gap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3851" y="1893111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393851" y="1893111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F6467">
              <a:alpha val="5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556894" y="2038039"/>
            <a:ext cx="108695" cy="144927"/>
          </a:xfrm>
          <a:custGeom>
            <a:avLst/>
            <a:gdLst/>
            <a:ahLst/>
            <a:cxnLst/>
            <a:rect l="l" t="t" r="r" b="b"/>
            <a:pathLst>
              <a:path w="108695" h="144927">
                <a:moveTo>
                  <a:pt x="15597" y="20777"/>
                </a:moveTo>
                <a:cubicBezTo>
                  <a:pt x="12058" y="17238"/>
                  <a:pt x="6312" y="17238"/>
                  <a:pt x="2774" y="20777"/>
                </a:cubicBezTo>
                <a:cubicBezTo>
                  <a:pt x="-764" y="24315"/>
                  <a:pt x="-764" y="30061"/>
                  <a:pt x="2774" y="33599"/>
                </a:cubicBezTo>
                <a:lnTo>
                  <a:pt x="41667" y="72464"/>
                </a:lnTo>
                <a:lnTo>
                  <a:pt x="2802" y="111356"/>
                </a:lnTo>
                <a:cubicBezTo>
                  <a:pt x="-736" y="114894"/>
                  <a:pt x="-736" y="120641"/>
                  <a:pt x="2802" y="124179"/>
                </a:cubicBezTo>
                <a:cubicBezTo>
                  <a:pt x="6341" y="127717"/>
                  <a:pt x="12087" y="127717"/>
                  <a:pt x="15625" y="124179"/>
                </a:cubicBezTo>
                <a:lnTo>
                  <a:pt x="54489" y="85286"/>
                </a:lnTo>
                <a:lnTo>
                  <a:pt x="93382" y="124151"/>
                </a:lnTo>
                <a:cubicBezTo>
                  <a:pt x="96920" y="127689"/>
                  <a:pt x="102666" y="127689"/>
                  <a:pt x="106204" y="124151"/>
                </a:cubicBezTo>
                <a:cubicBezTo>
                  <a:pt x="109743" y="120612"/>
                  <a:pt x="109743" y="114866"/>
                  <a:pt x="106204" y="111328"/>
                </a:cubicBezTo>
                <a:lnTo>
                  <a:pt x="67312" y="72464"/>
                </a:lnTo>
                <a:lnTo>
                  <a:pt x="106176" y="33571"/>
                </a:lnTo>
                <a:cubicBezTo>
                  <a:pt x="109714" y="30033"/>
                  <a:pt x="109714" y="24287"/>
                  <a:pt x="106176" y="20748"/>
                </a:cubicBezTo>
                <a:cubicBezTo>
                  <a:pt x="102638" y="17210"/>
                  <a:pt x="96892" y="17210"/>
                  <a:pt x="93353" y="20748"/>
                </a:cubicBezTo>
                <a:lnTo>
                  <a:pt x="54489" y="59641"/>
                </a:lnTo>
                <a:lnTo>
                  <a:pt x="15597" y="2077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41" name="Text 39"/>
          <p:cNvSpPr/>
          <p:nvPr/>
        </p:nvSpPr>
        <p:spPr>
          <a:xfrm>
            <a:off x="6810517" y="2001807"/>
            <a:ext cx="3786223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KYC connector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operators start from scratch on player identity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3851" y="2425266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393851" y="2425266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F6467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556894" y="2570193"/>
            <a:ext cx="108695" cy="144927"/>
          </a:xfrm>
          <a:custGeom>
            <a:avLst/>
            <a:gdLst/>
            <a:ahLst/>
            <a:cxnLst/>
            <a:rect l="l" t="t" r="r" b="b"/>
            <a:pathLst>
              <a:path w="108695" h="144927">
                <a:moveTo>
                  <a:pt x="15597" y="20777"/>
                </a:moveTo>
                <a:cubicBezTo>
                  <a:pt x="12058" y="17238"/>
                  <a:pt x="6312" y="17238"/>
                  <a:pt x="2774" y="20777"/>
                </a:cubicBezTo>
                <a:cubicBezTo>
                  <a:pt x="-764" y="24315"/>
                  <a:pt x="-764" y="30061"/>
                  <a:pt x="2774" y="33599"/>
                </a:cubicBezTo>
                <a:lnTo>
                  <a:pt x="41667" y="72464"/>
                </a:lnTo>
                <a:lnTo>
                  <a:pt x="2802" y="111356"/>
                </a:lnTo>
                <a:cubicBezTo>
                  <a:pt x="-736" y="114894"/>
                  <a:pt x="-736" y="120641"/>
                  <a:pt x="2802" y="124179"/>
                </a:cubicBezTo>
                <a:cubicBezTo>
                  <a:pt x="6341" y="127717"/>
                  <a:pt x="12087" y="127717"/>
                  <a:pt x="15625" y="124179"/>
                </a:cubicBezTo>
                <a:lnTo>
                  <a:pt x="54489" y="85286"/>
                </a:lnTo>
                <a:lnTo>
                  <a:pt x="93382" y="124151"/>
                </a:lnTo>
                <a:cubicBezTo>
                  <a:pt x="96920" y="127689"/>
                  <a:pt x="102666" y="127689"/>
                  <a:pt x="106204" y="124151"/>
                </a:cubicBezTo>
                <a:cubicBezTo>
                  <a:pt x="109743" y="120612"/>
                  <a:pt x="109743" y="114866"/>
                  <a:pt x="106204" y="111328"/>
                </a:cubicBezTo>
                <a:lnTo>
                  <a:pt x="67312" y="72464"/>
                </a:lnTo>
                <a:lnTo>
                  <a:pt x="106176" y="33571"/>
                </a:lnTo>
                <a:cubicBezTo>
                  <a:pt x="109714" y="30033"/>
                  <a:pt x="109714" y="24287"/>
                  <a:pt x="106176" y="20748"/>
                </a:cubicBezTo>
                <a:cubicBezTo>
                  <a:pt x="102638" y="17210"/>
                  <a:pt x="96892" y="17210"/>
                  <a:pt x="93353" y="20748"/>
                </a:cubicBezTo>
                <a:lnTo>
                  <a:pt x="54489" y="59641"/>
                </a:lnTo>
                <a:lnTo>
                  <a:pt x="15597" y="2077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45" name="Text 43"/>
          <p:cNvSpPr/>
          <p:nvPr/>
        </p:nvSpPr>
        <p:spPr>
          <a:xfrm>
            <a:off x="6810517" y="2533961"/>
            <a:ext cx="3858686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bonus management layer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manual issuance only, no automation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3851" y="2957421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393851" y="2957421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F6467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556894" y="3102348"/>
            <a:ext cx="108695" cy="144927"/>
          </a:xfrm>
          <a:custGeom>
            <a:avLst/>
            <a:gdLst/>
            <a:ahLst/>
            <a:cxnLst/>
            <a:rect l="l" t="t" r="r" b="b"/>
            <a:pathLst>
              <a:path w="108695" h="144927">
                <a:moveTo>
                  <a:pt x="15597" y="20777"/>
                </a:moveTo>
                <a:cubicBezTo>
                  <a:pt x="12058" y="17238"/>
                  <a:pt x="6312" y="17238"/>
                  <a:pt x="2774" y="20777"/>
                </a:cubicBezTo>
                <a:cubicBezTo>
                  <a:pt x="-764" y="24315"/>
                  <a:pt x="-764" y="30061"/>
                  <a:pt x="2774" y="33599"/>
                </a:cubicBezTo>
                <a:lnTo>
                  <a:pt x="41667" y="72464"/>
                </a:lnTo>
                <a:lnTo>
                  <a:pt x="2802" y="111356"/>
                </a:lnTo>
                <a:cubicBezTo>
                  <a:pt x="-736" y="114894"/>
                  <a:pt x="-736" y="120641"/>
                  <a:pt x="2802" y="124179"/>
                </a:cubicBezTo>
                <a:cubicBezTo>
                  <a:pt x="6341" y="127717"/>
                  <a:pt x="12087" y="127717"/>
                  <a:pt x="15625" y="124179"/>
                </a:cubicBezTo>
                <a:lnTo>
                  <a:pt x="54489" y="85286"/>
                </a:lnTo>
                <a:lnTo>
                  <a:pt x="93382" y="124151"/>
                </a:lnTo>
                <a:cubicBezTo>
                  <a:pt x="96920" y="127689"/>
                  <a:pt x="102666" y="127689"/>
                  <a:pt x="106204" y="124151"/>
                </a:cubicBezTo>
                <a:cubicBezTo>
                  <a:pt x="109743" y="120612"/>
                  <a:pt x="109743" y="114866"/>
                  <a:pt x="106204" y="111328"/>
                </a:cubicBezTo>
                <a:lnTo>
                  <a:pt x="67312" y="72464"/>
                </a:lnTo>
                <a:lnTo>
                  <a:pt x="106176" y="33571"/>
                </a:lnTo>
                <a:cubicBezTo>
                  <a:pt x="109714" y="30033"/>
                  <a:pt x="109714" y="24287"/>
                  <a:pt x="106176" y="20748"/>
                </a:cubicBezTo>
                <a:cubicBezTo>
                  <a:pt x="102638" y="17210"/>
                  <a:pt x="96892" y="17210"/>
                  <a:pt x="93353" y="20748"/>
                </a:cubicBezTo>
                <a:lnTo>
                  <a:pt x="54489" y="59641"/>
                </a:lnTo>
                <a:lnTo>
                  <a:pt x="15597" y="2077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49" name="Text 47"/>
          <p:cNvSpPr/>
          <p:nvPr/>
        </p:nvSpPr>
        <p:spPr>
          <a:xfrm>
            <a:off x="6810517" y="3066116"/>
            <a:ext cx="4239120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Player Identity layer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PAM still needed, creating integration complexity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3851" y="3489575"/>
            <a:ext cx="5244553" cy="425724"/>
          </a:xfrm>
          <a:custGeom>
            <a:avLst/>
            <a:gdLst/>
            <a:ahLst/>
            <a:cxnLst/>
            <a:rect l="l" t="t" r="r" b="b"/>
            <a:pathLst>
              <a:path w="5244553" h="425724">
                <a:moveTo>
                  <a:pt x="36232" y="0"/>
                </a:moveTo>
                <a:lnTo>
                  <a:pt x="5172090" y="0"/>
                </a:lnTo>
                <a:cubicBezTo>
                  <a:pt x="5212110" y="0"/>
                  <a:pt x="5244553" y="32443"/>
                  <a:pt x="5244553" y="72462"/>
                </a:cubicBezTo>
                <a:lnTo>
                  <a:pt x="5244553" y="353261"/>
                </a:lnTo>
                <a:cubicBezTo>
                  <a:pt x="5244553" y="393281"/>
                  <a:pt x="5212110" y="425724"/>
                  <a:pt x="5172090" y="425724"/>
                </a:cubicBez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solidFill>
            <a:srgbClr val="0A0E17">
              <a:alpha val="4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393851" y="3489575"/>
            <a:ext cx="36232" cy="425724"/>
          </a:xfrm>
          <a:custGeom>
            <a:avLst/>
            <a:gdLst/>
            <a:ahLst/>
            <a:cxnLst/>
            <a:rect l="l" t="t" r="r" b="b"/>
            <a:pathLst>
              <a:path w="36232" h="425724">
                <a:moveTo>
                  <a:pt x="36232" y="0"/>
                </a:moveTo>
                <a:lnTo>
                  <a:pt x="36232" y="0"/>
                </a:lnTo>
                <a:lnTo>
                  <a:pt x="36232" y="425724"/>
                </a:lnTo>
                <a:lnTo>
                  <a:pt x="36232" y="425724"/>
                </a:lnTo>
                <a:cubicBezTo>
                  <a:pt x="16222" y="425724"/>
                  <a:pt x="0" y="409502"/>
                  <a:pt x="0" y="389492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FF6467">
              <a:alpha val="5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556894" y="3634502"/>
            <a:ext cx="108695" cy="144927"/>
          </a:xfrm>
          <a:custGeom>
            <a:avLst/>
            <a:gdLst/>
            <a:ahLst/>
            <a:cxnLst/>
            <a:rect l="l" t="t" r="r" b="b"/>
            <a:pathLst>
              <a:path w="108695" h="144927">
                <a:moveTo>
                  <a:pt x="15597" y="20777"/>
                </a:moveTo>
                <a:cubicBezTo>
                  <a:pt x="12058" y="17238"/>
                  <a:pt x="6312" y="17238"/>
                  <a:pt x="2774" y="20777"/>
                </a:cubicBezTo>
                <a:cubicBezTo>
                  <a:pt x="-764" y="24315"/>
                  <a:pt x="-764" y="30061"/>
                  <a:pt x="2774" y="33599"/>
                </a:cubicBezTo>
                <a:lnTo>
                  <a:pt x="41667" y="72464"/>
                </a:lnTo>
                <a:lnTo>
                  <a:pt x="2802" y="111356"/>
                </a:lnTo>
                <a:cubicBezTo>
                  <a:pt x="-736" y="114894"/>
                  <a:pt x="-736" y="120641"/>
                  <a:pt x="2802" y="124179"/>
                </a:cubicBezTo>
                <a:cubicBezTo>
                  <a:pt x="6341" y="127717"/>
                  <a:pt x="12087" y="127717"/>
                  <a:pt x="15625" y="124179"/>
                </a:cubicBezTo>
                <a:lnTo>
                  <a:pt x="54489" y="85286"/>
                </a:lnTo>
                <a:lnTo>
                  <a:pt x="93382" y="124151"/>
                </a:lnTo>
                <a:cubicBezTo>
                  <a:pt x="96920" y="127689"/>
                  <a:pt x="102666" y="127689"/>
                  <a:pt x="106204" y="124151"/>
                </a:cubicBezTo>
                <a:cubicBezTo>
                  <a:pt x="109743" y="120612"/>
                  <a:pt x="109743" y="114866"/>
                  <a:pt x="106204" y="111328"/>
                </a:cubicBezTo>
                <a:lnTo>
                  <a:pt x="67312" y="72464"/>
                </a:lnTo>
                <a:lnTo>
                  <a:pt x="106176" y="33571"/>
                </a:lnTo>
                <a:cubicBezTo>
                  <a:pt x="109714" y="30033"/>
                  <a:pt x="109714" y="24287"/>
                  <a:pt x="106176" y="20748"/>
                </a:cubicBezTo>
                <a:cubicBezTo>
                  <a:pt x="102638" y="17210"/>
                  <a:pt x="96892" y="17210"/>
                  <a:pt x="93353" y="20748"/>
                </a:cubicBezTo>
                <a:lnTo>
                  <a:pt x="54489" y="59641"/>
                </a:lnTo>
                <a:lnTo>
                  <a:pt x="15597" y="2077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53" name="Text 51"/>
          <p:cNvSpPr/>
          <p:nvPr/>
        </p:nvSpPr>
        <p:spPr>
          <a:xfrm>
            <a:off x="6810517" y="3598270"/>
            <a:ext cx="3858686" cy="208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AI-native autonomous operations layer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manual monitoring only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80264" y="4823358"/>
            <a:ext cx="5253611" cy="715578"/>
          </a:xfrm>
          <a:custGeom>
            <a:avLst/>
            <a:gdLst/>
            <a:ahLst/>
            <a:cxnLst/>
            <a:rect l="l" t="t" r="r" b="b"/>
            <a:pathLst>
              <a:path w="5253611" h="715578">
                <a:moveTo>
                  <a:pt x="72467" y="0"/>
                </a:moveTo>
                <a:lnTo>
                  <a:pt x="5181144" y="0"/>
                </a:lnTo>
                <a:cubicBezTo>
                  <a:pt x="5221166" y="0"/>
                  <a:pt x="5253611" y="32444"/>
                  <a:pt x="5253611" y="72467"/>
                </a:cubicBezTo>
                <a:lnTo>
                  <a:pt x="5253611" y="643111"/>
                </a:lnTo>
                <a:cubicBezTo>
                  <a:pt x="5253611" y="683134"/>
                  <a:pt x="5221166" y="715578"/>
                  <a:pt x="5181144" y="715578"/>
                </a:cubicBezTo>
                <a:lnTo>
                  <a:pt x="72467" y="715578"/>
                </a:lnTo>
                <a:cubicBezTo>
                  <a:pt x="32444" y="715578"/>
                  <a:pt x="0" y="683134"/>
                  <a:pt x="0" y="643111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20000"/>
                </a:srgbClr>
              </a:gs>
              <a:gs pos="100000">
                <a:srgbClr val="00E5FF">
                  <a:alpha val="20000"/>
                </a:srgbClr>
              </a:gs>
            </a:gsLst>
            <a:lin ang="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29720" y="4972814"/>
            <a:ext cx="5018104" cy="416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addresses three primary startup barriers:</a:t>
            </a:r>
            <a:r>
              <a:rPr lang="en-US" sz="100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upfront cost (€0 setup), speed-to-market (2 weeks), revenue share sustainability (2.5-5% GGR, no MMG floor)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66847" y="5878609"/>
            <a:ext cx="11458306" cy="769926"/>
          </a:xfrm>
          <a:custGeom>
            <a:avLst/>
            <a:gdLst/>
            <a:ahLst/>
            <a:cxnLst/>
            <a:rect l="l" t="t" r="r" b="b"/>
            <a:pathLst>
              <a:path w="11458306" h="769926">
                <a:moveTo>
                  <a:pt x="108698" y="0"/>
                </a:moveTo>
                <a:lnTo>
                  <a:pt x="11349608" y="0"/>
                </a:lnTo>
                <a:cubicBezTo>
                  <a:pt x="11409640" y="0"/>
                  <a:pt x="11458306" y="48666"/>
                  <a:pt x="11458306" y="108698"/>
                </a:cubicBezTo>
                <a:lnTo>
                  <a:pt x="11458306" y="661228"/>
                </a:lnTo>
                <a:cubicBezTo>
                  <a:pt x="11458306" y="721260"/>
                  <a:pt x="11409640" y="769926"/>
                  <a:pt x="11349608" y="769926"/>
                </a:cubicBezTo>
                <a:lnTo>
                  <a:pt x="108698" y="769926"/>
                </a:lnTo>
                <a:cubicBezTo>
                  <a:pt x="48666" y="769926"/>
                  <a:pt x="0" y="721260"/>
                  <a:pt x="0" y="661228"/>
                </a:cubicBezTo>
                <a:lnTo>
                  <a:pt x="0" y="108698"/>
                </a:lnTo>
                <a:cubicBezTo>
                  <a:pt x="0" y="48706"/>
                  <a:pt x="48706" y="0"/>
                  <a:pt x="1086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3D5AFE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651" y="6154877"/>
            <a:ext cx="163043" cy="217391"/>
          </a:xfrm>
          <a:custGeom>
            <a:avLst/>
            <a:gdLst/>
            <a:ahLst/>
            <a:cxnLst/>
            <a:rect l="l" t="t" r="r" b="b"/>
            <a:pathLst>
              <a:path w="163043" h="217391">
                <a:moveTo>
                  <a:pt x="124363" y="163043"/>
                </a:moveTo>
                <a:cubicBezTo>
                  <a:pt x="127462" y="153575"/>
                  <a:pt x="133661" y="144998"/>
                  <a:pt x="140667" y="137610"/>
                </a:cubicBezTo>
                <a:cubicBezTo>
                  <a:pt x="154551" y="123004"/>
                  <a:pt x="163043" y="103261"/>
                  <a:pt x="163043" y="81522"/>
                </a:cubicBezTo>
                <a:cubicBezTo>
                  <a:pt x="163043" y="36515"/>
                  <a:pt x="126528" y="0"/>
                  <a:pt x="81522" y="0"/>
                </a:cubicBezTo>
                <a:cubicBezTo>
                  <a:pt x="36515" y="0"/>
                  <a:pt x="0" y="36515"/>
                  <a:pt x="0" y="81522"/>
                </a:cubicBezTo>
                <a:cubicBezTo>
                  <a:pt x="0" y="103261"/>
                  <a:pt x="8492" y="123004"/>
                  <a:pt x="22376" y="137610"/>
                </a:cubicBezTo>
                <a:cubicBezTo>
                  <a:pt x="29382" y="144998"/>
                  <a:pt x="35623" y="153575"/>
                  <a:pt x="38680" y="163043"/>
                </a:cubicBezTo>
                <a:lnTo>
                  <a:pt x="124320" y="163043"/>
                </a:lnTo>
                <a:close/>
                <a:moveTo>
                  <a:pt x="122282" y="183423"/>
                </a:moveTo>
                <a:lnTo>
                  <a:pt x="40761" y="183423"/>
                </a:lnTo>
                <a:lnTo>
                  <a:pt x="40761" y="190217"/>
                </a:lnTo>
                <a:cubicBezTo>
                  <a:pt x="40761" y="208984"/>
                  <a:pt x="55961" y="224184"/>
                  <a:pt x="74728" y="224184"/>
                </a:cubicBezTo>
                <a:lnTo>
                  <a:pt x="88315" y="224184"/>
                </a:lnTo>
                <a:cubicBezTo>
                  <a:pt x="107082" y="224184"/>
                  <a:pt x="122282" y="208984"/>
                  <a:pt x="122282" y="190217"/>
                </a:cubicBezTo>
                <a:lnTo>
                  <a:pt x="122282" y="183423"/>
                </a:lnTo>
                <a:close/>
                <a:moveTo>
                  <a:pt x="78125" y="47554"/>
                </a:moveTo>
                <a:cubicBezTo>
                  <a:pt x="61226" y="47554"/>
                  <a:pt x="47554" y="61226"/>
                  <a:pt x="47554" y="78125"/>
                </a:cubicBezTo>
                <a:cubicBezTo>
                  <a:pt x="47554" y="83772"/>
                  <a:pt x="43011" y="88315"/>
                  <a:pt x="37364" y="88315"/>
                </a:cubicBezTo>
                <a:cubicBezTo>
                  <a:pt x="31717" y="88315"/>
                  <a:pt x="27174" y="83772"/>
                  <a:pt x="27174" y="78125"/>
                </a:cubicBezTo>
                <a:cubicBezTo>
                  <a:pt x="27174" y="49974"/>
                  <a:pt x="49974" y="27174"/>
                  <a:pt x="78125" y="27174"/>
                </a:cubicBezTo>
                <a:cubicBezTo>
                  <a:pt x="83772" y="27174"/>
                  <a:pt x="88315" y="31717"/>
                  <a:pt x="88315" y="37364"/>
                </a:cubicBezTo>
                <a:cubicBezTo>
                  <a:pt x="88315" y="43011"/>
                  <a:pt x="83772" y="47554"/>
                  <a:pt x="78125" y="4755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8" name="Text 56"/>
          <p:cNvSpPr/>
          <p:nvPr/>
        </p:nvSpPr>
        <p:spPr>
          <a:xfrm>
            <a:off x="932969" y="6028065"/>
            <a:ext cx="10815192" cy="471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is the Modern Middleware Adapter</a:t>
            </a:r>
            <a:r>
              <a:rPr lang="en-US" sz="114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BYOC, 2-week launch, CRM on Day 1, </a:t>
            </a:r>
            <a:r>
              <a:rPr lang="en-US" sz="114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Agent-Ready on Day 1</a:t>
            </a:r>
            <a:r>
              <a:rPr lang="en-US" sz="114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Competitors are closed ecosystems with 6-12 week launches.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750fbf1ae6908175e7edde0c739f1b2b52d80ed.jp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17">
                  <a:alpha val="95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1A237E">
                  <a:alpha val="8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5" name="Text 2"/>
          <p:cNvSpPr/>
          <p:nvPr/>
        </p:nvSpPr>
        <p:spPr>
          <a:xfrm>
            <a:off x="533400" y="381000"/>
            <a:ext cx="3905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48-Hour Advantage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Integration Orchestrator for Fast Track casinos — Startups die in the integration phase. Your first month should be spent on marketing, not debugging API calls.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3695700" cy="4695825"/>
          </a:xfrm>
          <a:custGeom>
            <a:avLst/>
            <a:gdLst/>
            <a:ahLst/>
            <a:cxnLst/>
            <a:rect l="l" t="t" r="r" b="b"/>
            <a:pathLst>
              <a:path w="3695700" h="46958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581517"/>
                </a:lnTo>
                <a:cubicBezTo>
                  <a:pt x="3695700" y="4644648"/>
                  <a:pt x="3644523" y="4695825"/>
                  <a:pt x="3581392" y="4695825"/>
                </a:cubicBezTo>
                <a:lnTo>
                  <a:pt x="114308" y="4695825"/>
                </a:lnTo>
                <a:cubicBezTo>
                  <a:pt x="51177" y="4695825"/>
                  <a:pt x="0" y="4644648"/>
                  <a:pt x="0" y="45815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6281" y="155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152525" y="1514475"/>
            <a:ext cx="168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Pre-Built Adapters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5788" y="2033588"/>
            <a:ext cx="3295650" cy="657225"/>
          </a:xfrm>
          <a:custGeom>
            <a:avLst/>
            <a:gdLst/>
            <a:ahLst/>
            <a:cxnLst/>
            <a:rect l="l" t="t" r="r" b="b"/>
            <a:pathLst>
              <a:path w="3295650" h="6572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581026"/>
                </a:lnTo>
                <a:cubicBezTo>
                  <a:pt x="3295650" y="623110"/>
                  <a:pt x="3261535" y="657225"/>
                  <a:pt x="3219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850" y="2171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3" name="Text 10"/>
          <p:cNvSpPr/>
          <p:nvPr/>
        </p:nvSpPr>
        <p:spPr>
          <a:xfrm>
            <a:off x="971550" y="215265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 Providers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850" y="2419350"/>
            <a:ext cx="3114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Evolution, Pragmatic, NetEnt — Top 3 live casino &amp; slots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5788" y="2814638"/>
            <a:ext cx="3295650" cy="657225"/>
          </a:xfrm>
          <a:custGeom>
            <a:avLst/>
            <a:gdLst/>
            <a:ahLst/>
            <a:cxnLst/>
            <a:rect l="l" t="t" r="r" b="b"/>
            <a:pathLst>
              <a:path w="3295650" h="6572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581026"/>
                </a:lnTo>
                <a:cubicBezTo>
                  <a:pt x="3295650" y="623110"/>
                  <a:pt x="3261535" y="657225"/>
                  <a:pt x="3219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3900" y="2952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38100"/>
                </a:moveTo>
                <a:lnTo>
                  <a:pt x="0" y="47625"/>
                </a:lnTo>
                <a:lnTo>
                  <a:pt x="152400" y="47625"/>
                </a:ln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close/>
                <a:moveTo>
                  <a:pt x="0" y="61912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61912"/>
                </a:lnTo>
                <a:lnTo>
                  <a:pt x="0" y="61912"/>
                </a:lnTo>
                <a:close/>
                <a:moveTo>
                  <a:pt x="19050" y="107156"/>
                </a:moveTo>
                <a:cubicBezTo>
                  <a:pt x="19050" y="103197"/>
                  <a:pt x="22235" y="100013"/>
                  <a:pt x="26194" y="100013"/>
                </a:cubicBezTo>
                <a:lnTo>
                  <a:pt x="40481" y="100013"/>
                </a:lnTo>
                <a:cubicBezTo>
                  <a:pt x="44440" y="100013"/>
                  <a:pt x="47625" y="103197"/>
                  <a:pt x="47625" y="107156"/>
                </a:cubicBezTo>
                <a:cubicBezTo>
                  <a:pt x="47625" y="111115"/>
                  <a:pt x="44440" y="114300"/>
                  <a:pt x="40481" y="114300"/>
                </a:cubicBezTo>
                <a:lnTo>
                  <a:pt x="26194" y="114300"/>
                </a:lnTo>
                <a:cubicBezTo>
                  <a:pt x="22235" y="114300"/>
                  <a:pt x="19050" y="111115"/>
                  <a:pt x="19050" y="107156"/>
                </a:cubicBezTo>
                <a:close/>
                <a:moveTo>
                  <a:pt x="61912" y="107156"/>
                </a:moveTo>
                <a:cubicBezTo>
                  <a:pt x="61912" y="103197"/>
                  <a:pt x="65097" y="100013"/>
                  <a:pt x="69056" y="100013"/>
                </a:cubicBez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9056" y="114300"/>
                </a:lnTo>
                <a:cubicBezTo>
                  <a:pt x="65097" y="114300"/>
                  <a:pt x="61912" y="111115"/>
                  <a:pt x="61912" y="10715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4"/>
          <p:cNvSpPr/>
          <p:nvPr/>
        </p:nvSpPr>
        <p:spPr>
          <a:xfrm>
            <a:off x="971550" y="2933700"/>
            <a:ext cx="38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PSPs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850" y="3200400"/>
            <a:ext cx="3114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Adyen + Stripe (primary PSPs) with smart routing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5788" y="3595688"/>
            <a:ext cx="3295650" cy="657225"/>
          </a:xfrm>
          <a:custGeom>
            <a:avLst/>
            <a:gdLst/>
            <a:ahLst/>
            <a:cxnLst/>
            <a:rect l="l" t="t" r="r" b="b"/>
            <a:pathLst>
              <a:path w="3295650" h="6572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581026"/>
                </a:lnTo>
                <a:cubicBezTo>
                  <a:pt x="3295650" y="623110"/>
                  <a:pt x="3261535" y="657225"/>
                  <a:pt x="3219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4375" y="3733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0" y="28575"/>
                </a:lnTo>
                <a:close/>
                <a:moveTo>
                  <a:pt x="0" y="42863"/>
                </a:moveTo>
                <a:lnTo>
                  <a:pt x="171450" y="42863"/>
                </a:lnTo>
                <a:lnTo>
                  <a:pt x="171450" y="123825"/>
                </a:lnTo>
                <a:cubicBezTo>
                  <a:pt x="171450" y="134332"/>
                  <a:pt x="162907" y="142875"/>
                  <a:pt x="1524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2863"/>
                </a:lnTo>
                <a:close/>
                <a:moveTo>
                  <a:pt x="73610" y="123825"/>
                </a:moveTo>
                <a:cubicBezTo>
                  <a:pt x="79623" y="123825"/>
                  <a:pt x="84118" y="118050"/>
                  <a:pt x="80278" y="113407"/>
                </a:cubicBezTo>
                <a:cubicBezTo>
                  <a:pt x="75902" y="108139"/>
                  <a:pt x="69294" y="104775"/>
                  <a:pt x="61912" y="104775"/>
                </a:cubicBezTo>
                <a:lnTo>
                  <a:pt x="42863" y="104775"/>
                </a:lnTo>
                <a:cubicBezTo>
                  <a:pt x="35481" y="104775"/>
                  <a:pt x="28873" y="108139"/>
                  <a:pt x="24497" y="113407"/>
                </a:cubicBezTo>
                <a:cubicBezTo>
                  <a:pt x="20657" y="118050"/>
                  <a:pt x="25152" y="123825"/>
                  <a:pt x="31165" y="123825"/>
                </a:cubicBezTo>
                <a:lnTo>
                  <a:pt x="73581" y="123825"/>
                </a:lnTo>
                <a:close/>
                <a:moveTo>
                  <a:pt x="52388" y="92869"/>
                </a:moveTo>
                <a:cubicBezTo>
                  <a:pt x="61587" y="92869"/>
                  <a:pt x="69056" y="85400"/>
                  <a:pt x="69056" y="76200"/>
                </a:cubicBezTo>
                <a:cubicBezTo>
                  <a:pt x="69056" y="67000"/>
                  <a:pt x="61587" y="59531"/>
                  <a:pt x="52388" y="59531"/>
                </a:cubicBezTo>
                <a:cubicBezTo>
                  <a:pt x="43188" y="59531"/>
                  <a:pt x="35719" y="67000"/>
                  <a:pt x="35719" y="76200"/>
                </a:cubicBezTo>
                <a:cubicBezTo>
                  <a:pt x="35719" y="85400"/>
                  <a:pt x="43188" y="92869"/>
                  <a:pt x="52388" y="92869"/>
                </a:cubicBezTo>
                <a:close/>
                <a:moveTo>
                  <a:pt x="107156" y="61912"/>
                </a:moveTo>
                <a:cubicBezTo>
                  <a:pt x="103197" y="61912"/>
                  <a:pt x="100013" y="65097"/>
                  <a:pt x="100013" y="69056"/>
                </a:cubicBezTo>
                <a:cubicBezTo>
                  <a:pt x="100013" y="73015"/>
                  <a:pt x="103197" y="76200"/>
                  <a:pt x="107156" y="76200"/>
                </a:cubicBezTo>
                <a:lnTo>
                  <a:pt x="140494" y="76200"/>
                </a:lnTo>
                <a:cubicBezTo>
                  <a:pt x="144453" y="76200"/>
                  <a:pt x="147638" y="73015"/>
                  <a:pt x="147638" y="69056"/>
                </a:cubicBezTo>
                <a:cubicBezTo>
                  <a:pt x="147638" y="65097"/>
                  <a:pt x="144453" y="61912"/>
                  <a:pt x="140494" y="61912"/>
                </a:cubicBezTo>
                <a:lnTo>
                  <a:pt x="107156" y="61912"/>
                </a:lnTo>
                <a:close/>
                <a:moveTo>
                  <a:pt x="107156" y="90488"/>
                </a:moveTo>
                <a:cubicBezTo>
                  <a:pt x="103197" y="90488"/>
                  <a:pt x="100013" y="93672"/>
                  <a:pt x="100013" y="97631"/>
                </a:cubicBezTo>
                <a:cubicBezTo>
                  <a:pt x="100013" y="101590"/>
                  <a:pt x="103197" y="104775"/>
                  <a:pt x="107156" y="104775"/>
                </a:cubicBezTo>
                <a:lnTo>
                  <a:pt x="140494" y="104775"/>
                </a:lnTo>
                <a:cubicBezTo>
                  <a:pt x="144453" y="104775"/>
                  <a:pt x="147638" y="101590"/>
                  <a:pt x="147638" y="97631"/>
                </a:cubicBezTo>
                <a:cubicBezTo>
                  <a:pt x="147638" y="93672"/>
                  <a:pt x="144453" y="90488"/>
                  <a:pt x="140494" y="90488"/>
                </a:cubicBezTo>
                <a:lnTo>
                  <a:pt x="107156" y="90488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8"/>
          <p:cNvSpPr/>
          <p:nvPr/>
        </p:nvSpPr>
        <p:spPr>
          <a:xfrm>
            <a:off x="971550" y="3714750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 &amp; KYC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850" y="3981450"/>
            <a:ext cx="3114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Supabase Auth + Sumsub KYC connectors ready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5788" y="4376738"/>
            <a:ext cx="3295650" cy="657225"/>
          </a:xfrm>
          <a:custGeom>
            <a:avLst/>
            <a:gdLst/>
            <a:ahLst/>
            <a:cxnLst/>
            <a:rect l="l" t="t" r="r" b="b"/>
            <a:pathLst>
              <a:path w="3295650" h="657225">
                <a:moveTo>
                  <a:pt x="76199" y="0"/>
                </a:moveTo>
                <a:lnTo>
                  <a:pt x="3219451" y="0"/>
                </a:lnTo>
                <a:cubicBezTo>
                  <a:pt x="3261535" y="0"/>
                  <a:pt x="3295650" y="34115"/>
                  <a:pt x="3295650" y="76199"/>
                </a:cubicBezTo>
                <a:lnTo>
                  <a:pt x="3295650" y="581026"/>
                </a:lnTo>
                <a:cubicBezTo>
                  <a:pt x="3295650" y="623110"/>
                  <a:pt x="3261535" y="657225"/>
                  <a:pt x="3219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3900" y="4514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Text 22"/>
          <p:cNvSpPr/>
          <p:nvPr/>
        </p:nvSpPr>
        <p:spPr>
          <a:xfrm>
            <a:off x="971550" y="4495800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 Catalog API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850" y="4762500"/>
            <a:ext cx="3114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Single endpoint for 847+ games across providers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46513" y="1223963"/>
            <a:ext cx="3695700" cy="4695825"/>
          </a:xfrm>
          <a:custGeom>
            <a:avLst/>
            <a:gdLst/>
            <a:ahLst/>
            <a:cxnLst/>
            <a:rect l="l" t="t" r="r" b="b"/>
            <a:pathLst>
              <a:path w="3695700" h="46958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581517"/>
                </a:lnTo>
                <a:cubicBezTo>
                  <a:pt x="3695700" y="4644648"/>
                  <a:pt x="3644523" y="4695825"/>
                  <a:pt x="3581392" y="4695825"/>
                </a:cubicBezTo>
                <a:lnTo>
                  <a:pt x="114308" y="4695825"/>
                </a:lnTo>
                <a:cubicBezTo>
                  <a:pt x="51177" y="4695825"/>
                  <a:pt x="0" y="4644648"/>
                  <a:pt x="0" y="45815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4177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63219" y="1552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7"/>
          <p:cNvSpPr/>
          <p:nvPr/>
        </p:nvSpPr>
        <p:spPr>
          <a:xfrm>
            <a:off x="5013275" y="1514475"/>
            <a:ext cx="119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BYOC Model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46538" y="2343150"/>
            <a:ext cx="3295650" cy="914400"/>
          </a:xfrm>
          <a:custGeom>
            <a:avLst/>
            <a:gdLst/>
            <a:ahLst/>
            <a:cxnLst/>
            <a:rect l="l" t="t" r="r" b="b"/>
            <a:pathLst>
              <a:path w="3295650" h="914400">
                <a:moveTo>
                  <a:pt x="76197" y="0"/>
                </a:moveTo>
                <a:lnTo>
                  <a:pt x="3219453" y="0"/>
                </a:lnTo>
                <a:cubicBezTo>
                  <a:pt x="3261535" y="0"/>
                  <a:pt x="3295650" y="34115"/>
                  <a:pt x="3295650" y="76197"/>
                </a:cubicBezTo>
                <a:lnTo>
                  <a:pt x="3295650" y="838203"/>
                </a:lnTo>
                <a:cubicBezTo>
                  <a:pt x="3295650" y="880285"/>
                  <a:pt x="3261535" y="914400"/>
                  <a:pt x="3219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03700" y="25384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4708475" y="26241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22920" y="16669"/>
                </a:moveTo>
                <a:cubicBezTo>
                  <a:pt x="19456" y="16669"/>
                  <a:pt x="16669" y="19456"/>
                  <a:pt x="16669" y="22920"/>
                </a:cubicBezTo>
                <a:cubicBezTo>
                  <a:pt x="16669" y="26384"/>
                  <a:pt x="19456" y="29170"/>
                  <a:pt x="22920" y="29170"/>
                </a:cubicBezTo>
                <a:lnTo>
                  <a:pt x="35421" y="29170"/>
                </a:lnTo>
                <a:cubicBezTo>
                  <a:pt x="38885" y="29170"/>
                  <a:pt x="41672" y="26384"/>
                  <a:pt x="41672" y="22920"/>
                </a:cubicBezTo>
                <a:cubicBezTo>
                  <a:pt x="41672" y="19456"/>
                  <a:pt x="38885" y="16669"/>
                  <a:pt x="35421" y="16669"/>
                </a:cubicBezTo>
                <a:lnTo>
                  <a:pt x="22920" y="16669"/>
                </a:lnTo>
                <a:close/>
                <a:moveTo>
                  <a:pt x="22920" y="41672"/>
                </a:moveTo>
                <a:cubicBezTo>
                  <a:pt x="19456" y="41672"/>
                  <a:pt x="16669" y="44459"/>
                  <a:pt x="16669" y="47923"/>
                </a:cubicBezTo>
                <a:cubicBezTo>
                  <a:pt x="16669" y="51387"/>
                  <a:pt x="19456" y="54173"/>
                  <a:pt x="22920" y="54173"/>
                </a:cubicBezTo>
                <a:lnTo>
                  <a:pt x="35421" y="54173"/>
                </a:lnTo>
                <a:cubicBezTo>
                  <a:pt x="38885" y="54173"/>
                  <a:pt x="41672" y="51387"/>
                  <a:pt x="41672" y="47923"/>
                </a:cubicBezTo>
                <a:cubicBezTo>
                  <a:pt x="41672" y="44459"/>
                  <a:pt x="38885" y="41672"/>
                  <a:pt x="35421" y="41672"/>
                </a:cubicBezTo>
                <a:lnTo>
                  <a:pt x="22920" y="41672"/>
                </a:lnTo>
                <a:close/>
                <a:moveTo>
                  <a:pt x="41229" y="83344"/>
                </a:moveTo>
                <a:cubicBezTo>
                  <a:pt x="38286" y="83344"/>
                  <a:pt x="35525" y="84672"/>
                  <a:pt x="33702" y="86964"/>
                </a:cubicBezTo>
                <a:lnTo>
                  <a:pt x="18049" y="106524"/>
                </a:lnTo>
                <a:cubicBezTo>
                  <a:pt x="15887" y="109206"/>
                  <a:pt x="16330" y="113165"/>
                  <a:pt x="19013" y="115301"/>
                </a:cubicBezTo>
                <a:cubicBezTo>
                  <a:pt x="21695" y="117437"/>
                  <a:pt x="25654" y="117020"/>
                  <a:pt x="27790" y="114311"/>
                </a:cubicBezTo>
                <a:lnTo>
                  <a:pt x="40057" y="98997"/>
                </a:lnTo>
                <a:lnTo>
                  <a:pt x="44016" y="112202"/>
                </a:lnTo>
                <a:cubicBezTo>
                  <a:pt x="44797" y="114858"/>
                  <a:pt x="47245" y="116655"/>
                  <a:pt x="50006" y="116655"/>
                </a:cubicBezTo>
                <a:lnTo>
                  <a:pt x="77093" y="116655"/>
                </a:lnTo>
                <a:cubicBezTo>
                  <a:pt x="80557" y="116655"/>
                  <a:pt x="83344" y="113868"/>
                  <a:pt x="83344" y="110404"/>
                </a:cubicBezTo>
                <a:cubicBezTo>
                  <a:pt x="83344" y="106940"/>
                  <a:pt x="80557" y="104154"/>
                  <a:pt x="77093" y="104154"/>
                </a:cubicBezTo>
                <a:lnTo>
                  <a:pt x="54668" y="104154"/>
                </a:lnTo>
                <a:lnTo>
                  <a:pt x="50475" y="90194"/>
                </a:lnTo>
                <a:cubicBezTo>
                  <a:pt x="49251" y="86105"/>
                  <a:pt x="45500" y="83318"/>
                  <a:pt x="41229" y="8331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4" name="Text 31"/>
          <p:cNvSpPr/>
          <p:nvPr/>
        </p:nvSpPr>
        <p:spPr>
          <a:xfrm>
            <a:off x="5022800" y="2500313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Bring Your Own Contracts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022800" y="2728913"/>
            <a:ext cx="2619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 games, payments, identity, and KYC. You maintain direct provider relationships.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46538" y="3419475"/>
            <a:ext cx="3295650" cy="914400"/>
          </a:xfrm>
          <a:custGeom>
            <a:avLst/>
            <a:gdLst/>
            <a:ahLst/>
            <a:cxnLst/>
            <a:rect l="l" t="t" r="r" b="b"/>
            <a:pathLst>
              <a:path w="3295650" h="914400">
                <a:moveTo>
                  <a:pt x="76197" y="0"/>
                </a:moveTo>
                <a:lnTo>
                  <a:pt x="3219453" y="0"/>
                </a:lnTo>
                <a:cubicBezTo>
                  <a:pt x="3261535" y="0"/>
                  <a:pt x="3295650" y="34115"/>
                  <a:pt x="3295650" y="76197"/>
                </a:cubicBezTo>
                <a:lnTo>
                  <a:pt x="3295650" y="838203"/>
                </a:lnTo>
                <a:cubicBezTo>
                  <a:pt x="3295650" y="880285"/>
                  <a:pt x="3261535" y="914400"/>
                  <a:pt x="3219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03700" y="36147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4691807" y="37004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9" name="Text 36"/>
          <p:cNvSpPr/>
          <p:nvPr/>
        </p:nvSpPr>
        <p:spPr>
          <a:xfrm>
            <a:off x="5022800" y="3576638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Middleware Layer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022800" y="3805237"/>
            <a:ext cx="2619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sits between your contracts and operations — you own everything.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446538" y="4495800"/>
            <a:ext cx="3295650" cy="914400"/>
          </a:xfrm>
          <a:custGeom>
            <a:avLst/>
            <a:gdLst/>
            <a:ahLst/>
            <a:cxnLst/>
            <a:rect l="l" t="t" r="r" b="b"/>
            <a:pathLst>
              <a:path w="3295650" h="914400">
                <a:moveTo>
                  <a:pt x="76197" y="0"/>
                </a:moveTo>
                <a:lnTo>
                  <a:pt x="3219453" y="0"/>
                </a:lnTo>
                <a:cubicBezTo>
                  <a:pt x="3261535" y="0"/>
                  <a:pt x="3295650" y="34115"/>
                  <a:pt x="3295650" y="76197"/>
                </a:cubicBezTo>
                <a:lnTo>
                  <a:pt x="3295650" y="838203"/>
                </a:lnTo>
                <a:cubicBezTo>
                  <a:pt x="3295650" y="880285"/>
                  <a:pt x="3261535" y="914400"/>
                  <a:pt x="3219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03700" y="46910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4691807" y="47767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44" name="Text 41"/>
          <p:cNvSpPr/>
          <p:nvPr/>
        </p:nvSpPr>
        <p:spPr>
          <a:xfrm>
            <a:off x="5022800" y="4652963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Ownership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022800" y="4881563"/>
            <a:ext cx="2619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You are the GDPR Data Controller. NeoStrike operates as Data Processor only.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07338" y="1223963"/>
            <a:ext cx="3695700" cy="4695825"/>
          </a:xfrm>
          <a:custGeom>
            <a:avLst/>
            <a:gdLst/>
            <a:ahLst/>
            <a:cxnLst/>
            <a:rect l="l" t="t" r="r" b="b"/>
            <a:pathLst>
              <a:path w="3695700" h="46958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581517"/>
                </a:lnTo>
                <a:cubicBezTo>
                  <a:pt x="3695700" y="4644648"/>
                  <a:pt x="3644523" y="4695825"/>
                  <a:pt x="3581392" y="4695825"/>
                </a:cubicBezTo>
                <a:lnTo>
                  <a:pt x="114308" y="4695825"/>
                </a:lnTo>
                <a:cubicBezTo>
                  <a:pt x="51177" y="4695825"/>
                  <a:pt x="0" y="4644648"/>
                  <a:pt x="0" y="45815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302600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424044" y="1552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Text 46"/>
          <p:cNvSpPr/>
          <p:nvPr/>
        </p:nvSpPr>
        <p:spPr>
          <a:xfrm>
            <a:off x="8874100" y="1514475"/>
            <a:ext cx="1638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 Duty of Care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307363" y="2250281"/>
            <a:ext cx="3295650" cy="914400"/>
          </a:xfrm>
          <a:custGeom>
            <a:avLst/>
            <a:gdLst/>
            <a:ahLst/>
            <a:cxnLst/>
            <a:rect l="l" t="t" r="r" b="b"/>
            <a:pathLst>
              <a:path w="3295650" h="914400">
                <a:moveTo>
                  <a:pt x="76197" y="0"/>
                </a:moveTo>
                <a:lnTo>
                  <a:pt x="3219453" y="0"/>
                </a:lnTo>
                <a:cubicBezTo>
                  <a:pt x="3261535" y="0"/>
                  <a:pt x="3295650" y="34115"/>
                  <a:pt x="3295650" y="76197"/>
                </a:cubicBezTo>
                <a:lnTo>
                  <a:pt x="3295650" y="838203"/>
                </a:lnTo>
                <a:cubicBezTo>
                  <a:pt x="3295650" y="880285"/>
                  <a:pt x="3261535" y="914400"/>
                  <a:pt x="3219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464525" y="244554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52" name="Shape 49"/>
          <p:cNvSpPr/>
          <p:nvPr/>
        </p:nvSpPr>
        <p:spPr>
          <a:xfrm>
            <a:off x="8552631" y="2531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53" name="Text 50"/>
          <p:cNvSpPr/>
          <p:nvPr/>
        </p:nvSpPr>
        <p:spPr>
          <a:xfrm>
            <a:off x="8883625" y="2407444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Rule-Based Monitoring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883625" y="2636044"/>
            <a:ext cx="2619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Behavioral monitoring UKGC/MGA compliant. No AI/ML — fully explainable rules.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07363" y="3326606"/>
            <a:ext cx="3295650" cy="914400"/>
          </a:xfrm>
          <a:custGeom>
            <a:avLst/>
            <a:gdLst/>
            <a:ahLst/>
            <a:cxnLst/>
            <a:rect l="l" t="t" r="r" b="b"/>
            <a:pathLst>
              <a:path w="3295650" h="914400">
                <a:moveTo>
                  <a:pt x="76197" y="0"/>
                </a:moveTo>
                <a:lnTo>
                  <a:pt x="3219453" y="0"/>
                </a:lnTo>
                <a:cubicBezTo>
                  <a:pt x="3261535" y="0"/>
                  <a:pt x="3295650" y="34115"/>
                  <a:pt x="3295650" y="76197"/>
                </a:cubicBezTo>
                <a:lnTo>
                  <a:pt x="3295650" y="838203"/>
                </a:lnTo>
                <a:cubicBezTo>
                  <a:pt x="3295650" y="880285"/>
                  <a:pt x="3261535" y="914400"/>
                  <a:pt x="3219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64525" y="35218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57" name="Shape 54"/>
          <p:cNvSpPr/>
          <p:nvPr/>
        </p:nvSpPr>
        <p:spPr>
          <a:xfrm>
            <a:off x="8569300" y="3607594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58" name="Text 55"/>
          <p:cNvSpPr/>
          <p:nvPr/>
        </p:nvSpPr>
        <p:spPr>
          <a:xfrm>
            <a:off x="8883625" y="3483769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Automated Reporting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883625" y="3712369"/>
            <a:ext cx="2619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Regulatory reports auto-generated: UKGC monthly, MGA quarterly, Curaçao annual.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07363" y="4402931"/>
            <a:ext cx="3295650" cy="1104900"/>
          </a:xfrm>
          <a:custGeom>
            <a:avLst/>
            <a:gdLst/>
            <a:ahLst/>
            <a:cxnLst/>
            <a:rect l="l" t="t" r="r" b="b"/>
            <a:pathLst>
              <a:path w="3295650" h="1104900">
                <a:moveTo>
                  <a:pt x="76205" y="0"/>
                </a:moveTo>
                <a:lnTo>
                  <a:pt x="3219445" y="0"/>
                </a:lnTo>
                <a:cubicBezTo>
                  <a:pt x="3261532" y="0"/>
                  <a:pt x="3295650" y="34118"/>
                  <a:pt x="3295650" y="76205"/>
                </a:cubicBezTo>
                <a:lnTo>
                  <a:pt x="3295650" y="1028695"/>
                </a:lnTo>
                <a:cubicBezTo>
                  <a:pt x="3295650" y="1070782"/>
                  <a:pt x="3261532" y="1104900"/>
                  <a:pt x="32194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464525" y="45981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2" name="Shape 59"/>
          <p:cNvSpPr/>
          <p:nvPr/>
        </p:nvSpPr>
        <p:spPr>
          <a:xfrm>
            <a:off x="8560966" y="468391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0"/>
                </a:moveTo>
                <a:cubicBezTo>
                  <a:pt x="53731" y="0"/>
                  <a:pt x="50006" y="3724"/>
                  <a:pt x="50006" y="8334"/>
                </a:cubicBezTo>
                <a:lnTo>
                  <a:pt x="50006" y="9168"/>
                </a:lnTo>
                <a:cubicBezTo>
                  <a:pt x="30993" y="13022"/>
                  <a:pt x="16669" y="29847"/>
                  <a:pt x="16669" y="50006"/>
                </a:cubicBezTo>
                <a:lnTo>
                  <a:pt x="16669" y="55658"/>
                </a:lnTo>
                <a:cubicBezTo>
                  <a:pt x="16669" y="68186"/>
                  <a:pt x="12397" y="80349"/>
                  <a:pt x="4584" y="90141"/>
                </a:cubicBezTo>
                <a:lnTo>
                  <a:pt x="2032" y="93319"/>
                </a:lnTo>
                <a:cubicBezTo>
                  <a:pt x="703" y="94960"/>
                  <a:pt x="0" y="96991"/>
                  <a:pt x="0" y="99101"/>
                </a:cubicBezTo>
                <a:cubicBezTo>
                  <a:pt x="0" y="104206"/>
                  <a:pt x="4141" y="108347"/>
                  <a:pt x="9246" y="108347"/>
                </a:cubicBezTo>
                <a:lnTo>
                  <a:pt x="107409" y="108347"/>
                </a:lnTo>
                <a:cubicBezTo>
                  <a:pt x="112514" y="108347"/>
                  <a:pt x="116655" y="104206"/>
                  <a:pt x="116655" y="99101"/>
                </a:cubicBezTo>
                <a:cubicBezTo>
                  <a:pt x="116655" y="96991"/>
                  <a:pt x="115952" y="94960"/>
                  <a:pt x="114624" y="93319"/>
                </a:cubicBezTo>
                <a:lnTo>
                  <a:pt x="112071" y="90141"/>
                </a:lnTo>
                <a:cubicBezTo>
                  <a:pt x="104284" y="80349"/>
                  <a:pt x="100013" y="68186"/>
                  <a:pt x="100013" y="55658"/>
                </a:cubicBezTo>
                <a:lnTo>
                  <a:pt x="100013" y="50006"/>
                </a:lnTo>
                <a:cubicBezTo>
                  <a:pt x="100013" y="29847"/>
                  <a:pt x="85688" y="13022"/>
                  <a:pt x="66675" y="9168"/>
                </a:cubicBezTo>
                <a:lnTo>
                  <a:pt x="66675" y="8334"/>
                </a:lnTo>
                <a:cubicBezTo>
                  <a:pt x="66675" y="3724"/>
                  <a:pt x="62951" y="0"/>
                  <a:pt x="58341" y="0"/>
                </a:cubicBezTo>
                <a:close/>
                <a:moveTo>
                  <a:pt x="42193" y="120848"/>
                </a:moveTo>
                <a:cubicBezTo>
                  <a:pt x="44042" y="128037"/>
                  <a:pt x="50579" y="133350"/>
                  <a:pt x="58341" y="133350"/>
                </a:cubicBezTo>
                <a:cubicBezTo>
                  <a:pt x="66102" y="133350"/>
                  <a:pt x="72639" y="128037"/>
                  <a:pt x="74488" y="120848"/>
                </a:cubicBezTo>
                <a:lnTo>
                  <a:pt x="42193" y="120848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63" name="Text 60"/>
          <p:cNvSpPr/>
          <p:nvPr/>
        </p:nvSpPr>
        <p:spPr>
          <a:xfrm>
            <a:off x="8883625" y="4560094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Auto-Interventions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883625" y="4788694"/>
            <a:ext cx="26193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Reality checks, cooling-off periods, and affordability questionnaires triggered automatically.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85763" y="604361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444627" y="6162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7" name="Text 64"/>
          <p:cNvSpPr/>
          <p:nvPr/>
        </p:nvSpPr>
        <p:spPr>
          <a:xfrm>
            <a:off x="3773239" y="6162675"/>
            <a:ext cx="5067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48 hours</a:t>
            </a:r>
            <a:r>
              <a:rPr lang="en-US" sz="10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backend deployment. </a:t>
            </a: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branded casino live in 2 weeks</a:t>
            </a:r>
            <a:r>
              <a:rPr lang="en-US" sz="10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via the Starter Kit.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44291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Fast Track CRM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Event-driven architecture with guaranteed delivery and sub-10ms latency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71437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52525" y="1514475"/>
            <a:ext cx="2105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Async Event Streaming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0288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38100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00075" y="20288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Shape 9"/>
          <p:cNvSpPr/>
          <p:nvPr/>
        </p:nvSpPr>
        <p:spPr>
          <a:xfrm>
            <a:off x="760809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10"/>
          <p:cNvSpPr/>
          <p:nvPr/>
        </p:nvSpPr>
        <p:spPr>
          <a:xfrm>
            <a:off x="976312" y="2143125"/>
            <a:ext cx="590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&lt;10ms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425" y="24479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Latency to publish all events to RabbitMQ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28289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22709" y="2971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938213" y="2943225"/>
            <a:ext cx="123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RabbitMQ-Powered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325" y="31718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Durable queues with guaranteed delivery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5528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714375" y="3695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0" name="Text 18"/>
          <p:cNvSpPr/>
          <p:nvPr/>
        </p:nvSpPr>
        <p:spPr>
          <a:xfrm>
            <a:off x="938213" y="3667125"/>
            <a:ext cx="1600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325" y="38957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impact on API performance (async)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42767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714375" y="4419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4" name="Text 22"/>
          <p:cNvSpPr/>
          <p:nvPr/>
        </p:nvSpPr>
        <p:spPr>
          <a:xfrm>
            <a:off x="938213" y="4391025"/>
            <a:ext cx="152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Automatic Deduplication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5325" y="46196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Reliable event delivery to Fast Track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6513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4177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28" name="Shape 26"/>
          <p:cNvSpPr/>
          <p:nvPr/>
        </p:nvSpPr>
        <p:spPr>
          <a:xfrm>
            <a:off x="457512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013275" y="1514475"/>
            <a:ext cx="1838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 Core Event Types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6538" y="20335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8339" y="2152650"/>
            <a:ext cx="882923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38788" y="20335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1468" y="2152650"/>
            <a:ext cx="401241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6538" y="247173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930" y="2472055"/>
            <a:ext cx="100901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 CONSENT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38788" y="247173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0485" y="2471420"/>
            <a:ext cx="1064895" cy="34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 BLOCKS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46538" y="29098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1190" y="2918460"/>
            <a:ext cx="162179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 UPDATES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38788" y="29098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9695" y="2910205"/>
            <a:ext cx="106426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46538" y="334803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930" y="3323590"/>
            <a:ext cx="1057910" cy="380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BONUS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38788" y="334803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39180" y="3348990"/>
            <a:ext cx="1602740" cy="34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BALANCE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46538" y="37861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4764" y="3905250"/>
            <a:ext cx="470074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CASINO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38788" y="3786188"/>
            <a:ext cx="1609725" cy="352425"/>
          </a:xfrm>
          <a:custGeom>
            <a:avLst/>
            <a:gdLst/>
            <a:ahLst/>
            <a:cxnLst/>
            <a:rect l="l" t="t" r="r" b="b"/>
            <a:pathLst>
              <a:path w="1609725" h="352425">
                <a:moveTo>
                  <a:pt x="38101" y="0"/>
                </a:moveTo>
                <a:lnTo>
                  <a:pt x="1571624" y="0"/>
                </a:lnTo>
                <a:cubicBezTo>
                  <a:pt x="1592667" y="0"/>
                  <a:pt x="1609725" y="17058"/>
                  <a:pt x="1609725" y="38101"/>
                </a:cubicBezTo>
                <a:lnTo>
                  <a:pt x="1609725" y="314324"/>
                </a:lnTo>
                <a:cubicBezTo>
                  <a:pt x="1609725" y="335367"/>
                  <a:pt x="1592667" y="352425"/>
                  <a:pt x="15716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1285" y="3786505"/>
            <a:ext cx="944245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SPORTSBOOK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46538" y="4262438"/>
            <a:ext cx="3295650" cy="733425"/>
          </a:xfrm>
          <a:custGeom>
            <a:avLst/>
            <a:gdLst/>
            <a:ahLst/>
            <a:cxnLst/>
            <a:rect l="l" t="t" r="r" b="b"/>
            <a:pathLst>
              <a:path w="3295650" h="733425">
                <a:moveTo>
                  <a:pt x="76203" y="0"/>
                </a:moveTo>
                <a:lnTo>
                  <a:pt x="3219447" y="0"/>
                </a:lnTo>
                <a:cubicBezTo>
                  <a:pt x="3261505" y="0"/>
                  <a:pt x="3295650" y="34145"/>
                  <a:pt x="3295650" y="76203"/>
                </a:cubicBezTo>
                <a:lnTo>
                  <a:pt x="3295650" y="657222"/>
                </a:lnTo>
                <a:cubicBezTo>
                  <a:pt x="3295650" y="699280"/>
                  <a:pt x="3261505" y="733425"/>
                  <a:pt x="32194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84650" y="4400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696" y="20479"/>
                </a:moveTo>
                <a:cubicBezTo>
                  <a:pt x="97959" y="16639"/>
                  <a:pt x="102066" y="14288"/>
                  <a:pt x="106501" y="14288"/>
                </a:cubicBezTo>
                <a:lnTo>
                  <a:pt x="107156" y="14288"/>
                </a:lnTo>
                <a:cubicBezTo>
                  <a:pt x="113734" y="14288"/>
                  <a:pt x="119062" y="19616"/>
                  <a:pt x="119062" y="26194"/>
                </a:cubicBezTo>
                <a:cubicBezTo>
                  <a:pt x="119062" y="32772"/>
                  <a:pt x="113734" y="38100"/>
                  <a:pt x="107156" y="38100"/>
                </a:cubicBezTo>
                <a:lnTo>
                  <a:pt x="85338" y="38100"/>
                </a:lnTo>
                <a:lnTo>
                  <a:pt x="95696" y="20479"/>
                </a:lnTo>
                <a:close/>
                <a:moveTo>
                  <a:pt x="56704" y="20479"/>
                </a:moveTo>
                <a:lnTo>
                  <a:pt x="67062" y="38100"/>
                </a:lnTo>
                <a:lnTo>
                  <a:pt x="45244" y="38100"/>
                </a:lnTo>
                <a:cubicBezTo>
                  <a:pt x="38666" y="38100"/>
                  <a:pt x="33338" y="32772"/>
                  <a:pt x="33338" y="26194"/>
                </a:cubicBezTo>
                <a:cubicBezTo>
                  <a:pt x="33338" y="19616"/>
                  <a:pt x="38666" y="14288"/>
                  <a:pt x="45244" y="14288"/>
                </a:cubicBezTo>
                <a:lnTo>
                  <a:pt x="45899" y="14288"/>
                </a:lnTo>
                <a:cubicBezTo>
                  <a:pt x="50334" y="14288"/>
                  <a:pt x="54471" y="16639"/>
                  <a:pt x="56704" y="20479"/>
                </a:cubicBezTo>
                <a:close/>
                <a:moveTo>
                  <a:pt x="83374" y="13246"/>
                </a:moveTo>
                <a:lnTo>
                  <a:pt x="76200" y="25450"/>
                </a:lnTo>
                <a:lnTo>
                  <a:pt x="69026" y="13246"/>
                </a:lnTo>
                <a:cubicBezTo>
                  <a:pt x="64204" y="5030"/>
                  <a:pt x="55394" y="0"/>
                  <a:pt x="45899" y="0"/>
                </a:cubicBezTo>
                <a:lnTo>
                  <a:pt x="45244" y="0"/>
                </a:lnTo>
                <a:cubicBezTo>
                  <a:pt x="30778" y="0"/>
                  <a:pt x="19050" y="11728"/>
                  <a:pt x="19050" y="26194"/>
                </a:cubicBezTo>
                <a:cubicBezTo>
                  <a:pt x="19050" y="30480"/>
                  <a:pt x="20092" y="34528"/>
                  <a:pt x="21908" y="38100"/>
                </a:cubicBez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lnTo>
                  <a:pt x="0" y="57150"/>
                </a:lnTo>
                <a:cubicBezTo>
                  <a:pt x="0" y="62419"/>
                  <a:pt x="4256" y="66675"/>
                  <a:pt x="9525" y="66675"/>
                </a:cubicBez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lnTo>
                  <a:pt x="152400" y="47625"/>
                </a:lnTo>
                <a:cubicBezTo>
                  <a:pt x="152400" y="42356"/>
                  <a:pt x="148144" y="38100"/>
                  <a:pt x="142875" y="38100"/>
                </a:cubicBezTo>
                <a:lnTo>
                  <a:pt x="130493" y="38100"/>
                </a:lnTo>
                <a:cubicBezTo>
                  <a:pt x="132308" y="34528"/>
                  <a:pt x="133350" y="3048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106501" y="0"/>
                </a:lnTo>
                <a:cubicBezTo>
                  <a:pt x="97006" y="0"/>
                  <a:pt x="88196" y="5030"/>
                  <a:pt x="83374" y="13216"/>
                </a:cubicBezTo>
                <a:close/>
                <a:moveTo>
                  <a:pt x="142875" y="80962"/>
                </a:moveTo>
                <a:lnTo>
                  <a:pt x="83344" y="80962"/>
                </a:lnTo>
                <a:lnTo>
                  <a:pt x="83344" y="142875"/>
                </a:lnTo>
                <a:lnTo>
                  <a:pt x="123825" y="142875"/>
                </a:lnTo>
                <a:cubicBezTo>
                  <a:pt x="134332" y="142875"/>
                  <a:pt x="142875" y="134332"/>
                  <a:pt x="142875" y="123825"/>
                </a:cubicBezTo>
                <a:lnTo>
                  <a:pt x="142875" y="80962"/>
                </a:lnTo>
                <a:close/>
                <a:moveTo>
                  <a:pt x="69056" y="80962"/>
                </a:moveTo>
                <a:lnTo>
                  <a:pt x="9525" y="80962"/>
                </a:lnTo>
                <a:lnTo>
                  <a:pt x="9525" y="123825"/>
                </a:lnTo>
                <a:cubicBezTo>
                  <a:pt x="9525" y="134332"/>
                  <a:pt x="18068" y="142875"/>
                  <a:pt x="28575" y="142875"/>
                </a:cubicBezTo>
                <a:lnTo>
                  <a:pt x="69056" y="142875"/>
                </a:lnTo>
                <a:lnTo>
                  <a:pt x="69056" y="80962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2" name="Text 50"/>
          <p:cNvSpPr/>
          <p:nvPr/>
        </p:nvSpPr>
        <p:spPr>
          <a:xfrm>
            <a:off x="4832300" y="4381500"/>
            <a:ext cx="1590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Bonus Lifecycle Coverage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65600" y="46482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4565600" y="4648200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Issued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92837" y="4705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372249" y="46482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5372249" y="4648200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999485" y="4705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6178897" y="4648200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190499"/>
                </a:lnTo>
                <a:cubicBezTo>
                  <a:pt x="771525" y="211542"/>
                  <a:pt x="754467" y="228600"/>
                  <a:pt x="733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6178897" y="4648200"/>
            <a:ext cx="82867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88746" y="4648200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190499"/>
                </a:lnTo>
                <a:cubicBezTo>
                  <a:pt x="771525" y="211542"/>
                  <a:pt x="754467" y="228600"/>
                  <a:pt x="733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6988746" y="4648200"/>
            <a:ext cx="82867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46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Forfeited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798594" y="4648200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7798594" y="4648200"/>
            <a:ext cx="6953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Expired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07338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02600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</p:spPr>
      </p:sp>
      <p:sp>
        <p:nvSpPr>
          <p:cNvPr id="67" name="Shape 65"/>
          <p:cNvSpPr/>
          <p:nvPr/>
        </p:nvSpPr>
        <p:spPr>
          <a:xfrm>
            <a:off x="8412138" y="15525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8874100" y="1514475"/>
            <a:ext cx="2133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No-Code Configuration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302600" y="20288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8444285" y="2171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-8334"/>
                </a:moveTo>
                <a:cubicBezTo>
                  <a:pt x="37947" y="-8334"/>
                  <a:pt x="41672" y="-4610"/>
                  <a:pt x="41672" y="0"/>
                </a:cubicBezTo>
                <a:lnTo>
                  <a:pt x="41672" y="25003"/>
                </a:lnTo>
                <a:lnTo>
                  <a:pt x="75009" y="25003"/>
                </a:lnTo>
                <a:lnTo>
                  <a:pt x="75009" y="0"/>
                </a:lnTo>
                <a:cubicBezTo>
                  <a:pt x="75009" y="-4610"/>
                  <a:pt x="78734" y="-8334"/>
                  <a:pt x="83344" y="-8334"/>
                </a:cubicBezTo>
                <a:cubicBezTo>
                  <a:pt x="87954" y="-8334"/>
                  <a:pt x="91678" y="-4610"/>
                  <a:pt x="91678" y="0"/>
                </a:cubicBezTo>
                <a:lnTo>
                  <a:pt x="91678" y="25003"/>
                </a:ln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cubicBezTo>
                  <a:pt x="116681" y="37947"/>
                  <a:pt x="112957" y="41672"/>
                  <a:pt x="108347" y="41672"/>
                </a:cubicBezTo>
                <a:lnTo>
                  <a:pt x="108347" y="58341"/>
                </a:lnTo>
                <a:cubicBezTo>
                  <a:pt x="108347" y="83109"/>
                  <a:pt x="90324" y="103685"/>
                  <a:pt x="66675" y="107644"/>
                </a:cubicBezTo>
                <a:lnTo>
                  <a:pt x="66675" y="125016"/>
                </a:lnTo>
                <a:cubicBezTo>
                  <a:pt x="66675" y="129626"/>
                  <a:pt x="62951" y="133350"/>
                  <a:pt x="58341" y="133350"/>
                </a:cubicBezTo>
                <a:cubicBezTo>
                  <a:pt x="53731" y="133350"/>
                  <a:pt x="50006" y="129626"/>
                  <a:pt x="50006" y="125016"/>
                </a:cubicBezTo>
                <a:lnTo>
                  <a:pt x="50006" y="107644"/>
                </a:lnTo>
                <a:cubicBezTo>
                  <a:pt x="26357" y="103685"/>
                  <a:pt x="8334" y="83109"/>
                  <a:pt x="8334" y="58341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lnTo>
                  <a:pt x="25003" y="0"/>
                </a:lnTo>
                <a:cubicBezTo>
                  <a:pt x="25003" y="-4610"/>
                  <a:pt x="28728" y="-8334"/>
                  <a:pt x="33337" y="-8334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71" name="Text 69"/>
          <p:cNvSpPr/>
          <p:nvPr/>
        </p:nvSpPr>
        <p:spPr>
          <a:xfrm>
            <a:off x="8659788" y="2143125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Connect CRM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416900" y="23717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Visual webhook configuration via Tenant Portal UI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02600" y="27527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8435950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9230" y="2448"/>
                </a:moveTo>
                <a:cubicBezTo>
                  <a:pt x="85974" y="-807"/>
                  <a:pt x="80687" y="-807"/>
                  <a:pt x="77432" y="2448"/>
                </a:cubicBezTo>
                <a:cubicBezTo>
                  <a:pt x="74176" y="5704"/>
                  <a:pt x="74176" y="10991"/>
                  <a:pt x="77432" y="14247"/>
                </a:cubicBezTo>
                <a:lnTo>
                  <a:pt x="79880" y="16669"/>
                </a:lnTo>
                <a:lnTo>
                  <a:pt x="7319" y="89230"/>
                </a:lnTo>
                <a:cubicBezTo>
                  <a:pt x="2631" y="93918"/>
                  <a:pt x="0" y="100273"/>
                  <a:pt x="0" y="106914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26436" y="133350"/>
                </a:lnTo>
                <a:cubicBezTo>
                  <a:pt x="33077" y="133350"/>
                  <a:pt x="39432" y="130719"/>
                  <a:pt x="44120" y="126031"/>
                </a:cubicBezTo>
                <a:lnTo>
                  <a:pt x="116681" y="53470"/>
                </a:lnTo>
                <a:lnTo>
                  <a:pt x="119129" y="55918"/>
                </a:lnTo>
                <a:cubicBezTo>
                  <a:pt x="122385" y="59174"/>
                  <a:pt x="127672" y="59174"/>
                  <a:pt x="130928" y="55918"/>
                </a:cubicBezTo>
                <a:cubicBezTo>
                  <a:pt x="134183" y="52663"/>
                  <a:pt x="134183" y="47376"/>
                  <a:pt x="130928" y="44120"/>
                </a:cubicBezTo>
                <a:lnTo>
                  <a:pt x="89256" y="2448"/>
                </a:lnTo>
                <a:close/>
                <a:moveTo>
                  <a:pt x="53470" y="66675"/>
                </a:moveTo>
                <a:lnTo>
                  <a:pt x="91678" y="28467"/>
                </a:lnTo>
                <a:lnTo>
                  <a:pt x="104883" y="41672"/>
                </a:lnTo>
                <a:lnTo>
                  <a:pt x="79880" y="66675"/>
                </a:lnTo>
                <a:lnTo>
                  <a:pt x="53444" y="66675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75" name="Text 73"/>
          <p:cNvSpPr/>
          <p:nvPr/>
        </p:nvSpPr>
        <p:spPr>
          <a:xfrm>
            <a:off x="8659788" y="2867025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Webhooks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16900" y="30956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Built-in webhook testing with request/response logs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02600" y="34766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8435950" y="3619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12502"/>
                </a:moveTo>
                <a:cubicBezTo>
                  <a:pt x="133350" y="9611"/>
                  <a:pt x="131865" y="6928"/>
                  <a:pt x="129391" y="5417"/>
                </a:cubicBezTo>
                <a:cubicBezTo>
                  <a:pt x="126917" y="3907"/>
                  <a:pt x="123870" y="3750"/>
                  <a:pt x="121291" y="5053"/>
                </a:cubicBezTo>
                <a:lnTo>
                  <a:pt x="91027" y="20185"/>
                </a:lnTo>
                <a:lnTo>
                  <a:pt x="44302" y="4584"/>
                </a:lnTo>
                <a:cubicBezTo>
                  <a:pt x="42193" y="3881"/>
                  <a:pt x="39927" y="4037"/>
                  <a:pt x="37947" y="5027"/>
                </a:cubicBezTo>
                <a:lnTo>
                  <a:pt x="4610" y="21695"/>
                </a:lnTo>
                <a:cubicBezTo>
                  <a:pt x="1771" y="23128"/>
                  <a:pt x="0" y="26019"/>
                  <a:pt x="0" y="29170"/>
                </a:cubicBezTo>
                <a:lnTo>
                  <a:pt x="0" y="120848"/>
                </a:lnTo>
                <a:cubicBezTo>
                  <a:pt x="0" y="123739"/>
                  <a:pt x="1485" y="126422"/>
                  <a:pt x="3959" y="127933"/>
                </a:cubicBezTo>
                <a:cubicBezTo>
                  <a:pt x="6433" y="129443"/>
                  <a:pt x="9480" y="129600"/>
                  <a:pt x="12059" y="128297"/>
                </a:cubicBezTo>
                <a:lnTo>
                  <a:pt x="42297" y="113165"/>
                </a:lnTo>
                <a:lnTo>
                  <a:pt x="89022" y="128740"/>
                </a:lnTo>
                <a:cubicBezTo>
                  <a:pt x="91131" y="129443"/>
                  <a:pt x="93397" y="129287"/>
                  <a:pt x="95377" y="128297"/>
                </a:cubicBezTo>
                <a:lnTo>
                  <a:pt x="128714" y="111629"/>
                </a:lnTo>
                <a:cubicBezTo>
                  <a:pt x="131527" y="110222"/>
                  <a:pt x="133324" y="107331"/>
                  <a:pt x="133324" y="104180"/>
                </a:cubicBezTo>
                <a:lnTo>
                  <a:pt x="133324" y="12502"/>
                </a:lnTo>
                <a:close/>
                <a:moveTo>
                  <a:pt x="50006" y="98163"/>
                </a:moveTo>
                <a:lnTo>
                  <a:pt x="50006" y="24066"/>
                </a:lnTo>
                <a:lnTo>
                  <a:pt x="83344" y="35187"/>
                </a:lnTo>
                <a:lnTo>
                  <a:pt x="83344" y="109284"/>
                </a:lnTo>
                <a:lnTo>
                  <a:pt x="50006" y="98163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79" name="Text 77"/>
          <p:cNvSpPr/>
          <p:nvPr/>
        </p:nvSpPr>
        <p:spPr>
          <a:xfrm>
            <a:off x="8659788" y="3590925"/>
            <a:ext cx="1009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Map Event Logs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416900" y="38195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Visual workflow builder for event routing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302600" y="4200525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8435950" y="4343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83" name="Text 81"/>
          <p:cNvSpPr/>
          <p:nvPr/>
        </p:nvSpPr>
        <p:spPr>
          <a:xfrm>
            <a:off x="8659788" y="4314825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Instant Deployment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416900" y="4543425"/>
            <a:ext cx="3133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code changes required — configure and go live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85763" y="570071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79837" y="5972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87" name="Text 85"/>
          <p:cNvSpPr/>
          <p:nvPr/>
        </p:nvSpPr>
        <p:spPr>
          <a:xfrm>
            <a:off x="3317974" y="5819775"/>
            <a:ext cx="59912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&lt;10ms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3356074" y="6162675"/>
            <a:ext cx="5915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 publish latency to RabbitMQ — Fast Track consumes asynchronously with guaranteed delivery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4886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Maximizing Payment Approval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Smart payment orchestration boosting approval rates by up to 15%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10225" cy="4695825"/>
          </a:xfrm>
          <a:custGeom>
            <a:avLst/>
            <a:gdLst/>
            <a:ahLst/>
            <a:cxnLst/>
            <a:rect l="l" t="t" r="r" b="b"/>
            <a:pathLst>
              <a:path w="5610225" h="46958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4581529"/>
                </a:lnTo>
                <a:cubicBezTo>
                  <a:pt x="5610225" y="4644653"/>
                  <a:pt x="5559053" y="4695825"/>
                  <a:pt x="5495929" y="4695825"/>
                </a:cubicBezTo>
                <a:lnTo>
                  <a:pt x="114296" y="4695825"/>
                </a:lnTo>
                <a:cubicBezTo>
                  <a:pt x="51172" y="4695825"/>
                  <a:pt x="0" y="4644653"/>
                  <a:pt x="0" y="45815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8181" y="152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8" name="Text 6"/>
          <p:cNvSpPr/>
          <p:nvPr/>
        </p:nvSpPr>
        <p:spPr>
          <a:xfrm>
            <a:off x="1076325" y="1476375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Approval Rate Comparison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1957388"/>
            <a:ext cx="5210175" cy="847725"/>
          </a:xfrm>
          <a:custGeom>
            <a:avLst/>
            <a:gdLst/>
            <a:ahLst/>
            <a:cxnLst/>
            <a:rect l="l" t="t" r="r" b="b"/>
            <a:pathLst>
              <a:path w="5210175" h="847725">
                <a:moveTo>
                  <a:pt x="76202" y="0"/>
                </a:moveTo>
                <a:lnTo>
                  <a:pt x="5133973" y="0"/>
                </a:lnTo>
                <a:cubicBezTo>
                  <a:pt x="5176030" y="0"/>
                  <a:pt x="5210175" y="34145"/>
                  <a:pt x="5210175" y="76202"/>
                </a:cubicBezTo>
                <a:lnTo>
                  <a:pt x="5210175" y="771523"/>
                </a:lnTo>
                <a:cubicBezTo>
                  <a:pt x="5210175" y="813580"/>
                  <a:pt x="5176030" y="847725"/>
                  <a:pt x="5133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E0E0E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" y="2114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857101" y="2190750"/>
            <a:ext cx="133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3950" y="215265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Adyen (Raw)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7214" y="2114550"/>
            <a:ext cx="657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>
                    <a:alpha val="6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~91%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2950" y="2495550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Industry average benchmark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2967038"/>
            <a:ext cx="5210175" cy="847725"/>
          </a:xfrm>
          <a:custGeom>
            <a:avLst/>
            <a:gdLst/>
            <a:ahLst/>
            <a:cxnLst/>
            <a:rect l="l" t="t" r="r" b="b"/>
            <a:pathLst>
              <a:path w="5210175" h="847725">
                <a:moveTo>
                  <a:pt x="76202" y="0"/>
                </a:moveTo>
                <a:lnTo>
                  <a:pt x="5133973" y="0"/>
                </a:lnTo>
                <a:cubicBezTo>
                  <a:pt x="5176030" y="0"/>
                  <a:pt x="5210175" y="34145"/>
                  <a:pt x="5210175" y="76202"/>
                </a:cubicBezTo>
                <a:lnTo>
                  <a:pt x="5210175" y="771523"/>
                </a:lnTo>
                <a:cubicBezTo>
                  <a:pt x="5210175" y="813580"/>
                  <a:pt x="5176030" y="847725"/>
                  <a:pt x="5133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E0E0E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9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860227" y="32004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3950" y="31623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Stripe (Raw)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7214" y="3124200"/>
            <a:ext cx="657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>
                    <a:alpha val="6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~91%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2950" y="3505200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Industry average benchmark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0550" y="3981450"/>
            <a:ext cx="5200650" cy="895350"/>
          </a:xfrm>
          <a:custGeom>
            <a:avLst/>
            <a:gdLst/>
            <a:ahLst/>
            <a:cxnLst/>
            <a:rect l="l" t="t" r="r" b="b"/>
            <a:pathLst>
              <a:path w="5200650" h="895350">
                <a:moveTo>
                  <a:pt x="76203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19147"/>
                </a:lnTo>
                <a:cubicBezTo>
                  <a:pt x="5200650" y="861233"/>
                  <a:pt x="5166533" y="895350"/>
                  <a:pt x="51244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254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475" y="4162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3" name="Shape 21"/>
          <p:cNvSpPr/>
          <p:nvPr/>
        </p:nvSpPr>
        <p:spPr>
          <a:xfrm>
            <a:off x="848916" y="4248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0A0E17"/>
          </a:solidFill>
        </p:spPr>
      </p:sp>
      <p:sp>
        <p:nvSpPr>
          <p:cNvPr id="24" name="Text 22"/>
          <p:cNvSpPr/>
          <p:nvPr/>
        </p:nvSpPr>
        <p:spPr>
          <a:xfrm>
            <a:off x="1133475" y="4200525"/>
            <a:ext cx="1285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+ Nuvei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3165" y="4143375"/>
            <a:ext cx="933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99.2%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2475" y="4562475"/>
            <a:ext cx="4933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Orchestrated with smart routing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5313" y="55864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E0E0E0">
              <a:alpha val="5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752475" y="5572125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Raw PSP approval rates based on published industry benchmarks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6013" y="1223963"/>
            <a:ext cx="5610225" cy="4695825"/>
          </a:xfrm>
          <a:custGeom>
            <a:avLst/>
            <a:gdLst/>
            <a:ahLst/>
            <a:cxnLst/>
            <a:rect l="l" t="t" r="r" b="b"/>
            <a:pathLst>
              <a:path w="5610225" h="46958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4581529"/>
                </a:lnTo>
                <a:cubicBezTo>
                  <a:pt x="5610225" y="4644653"/>
                  <a:pt x="5559053" y="4695825"/>
                  <a:pt x="5495929" y="4695825"/>
                </a:cubicBezTo>
                <a:lnTo>
                  <a:pt x="114296" y="4695825"/>
                </a:lnTo>
                <a:cubicBezTo>
                  <a:pt x="51172" y="4695825"/>
                  <a:pt x="0" y="4644653"/>
                  <a:pt x="0" y="45815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27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98431" y="152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2" name="Text 30"/>
          <p:cNvSpPr/>
          <p:nvPr/>
        </p:nvSpPr>
        <p:spPr>
          <a:xfrm>
            <a:off x="6886575" y="1476375"/>
            <a:ext cx="2419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Routing Intelligence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1957388"/>
            <a:ext cx="2543175" cy="1819275"/>
          </a:xfrm>
          <a:custGeom>
            <a:avLst/>
            <a:gdLst/>
            <a:ahLst/>
            <a:cxnLst/>
            <a:rect l="l" t="t" r="r" b="b"/>
            <a:pathLst>
              <a:path w="2543175" h="1819275">
                <a:moveTo>
                  <a:pt x="76191" y="0"/>
                </a:moveTo>
                <a:lnTo>
                  <a:pt x="2466984" y="0"/>
                </a:lnTo>
                <a:cubicBezTo>
                  <a:pt x="2509063" y="0"/>
                  <a:pt x="2543175" y="34112"/>
                  <a:pt x="2543175" y="76191"/>
                </a:cubicBezTo>
                <a:lnTo>
                  <a:pt x="2543175" y="1743084"/>
                </a:lnTo>
                <a:cubicBezTo>
                  <a:pt x="2543175" y="1785163"/>
                  <a:pt x="2509063" y="1819275"/>
                  <a:pt x="2466984" y="1819275"/>
                </a:cubicBezTo>
                <a:lnTo>
                  <a:pt x="76191" y="1819275"/>
                </a:lnTo>
                <a:cubicBezTo>
                  <a:pt x="34112" y="1819275"/>
                  <a:pt x="0" y="1785163"/>
                  <a:pt x="0" y="17430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7013" y="2124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35" name="Text 33"/>
          <p:cNvSpPr/>
          <p:nvPr/>
        </p:nvSpPr>
        <p:spPr>
          <a:xfrm>
            <a:off x="6843713" y="211455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Geography-Based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3200" y="2381250"/>
            <a:ext cx="22860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Smart routing by region — optimal PSP selection per geography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63038" y="1957388"/>
            <a:ext cx="2543175" cy="1819275"/>
          </a:xfrm>
          <a:custGeom>
            <a:avLst/>
            <a:gdLst/>
            <a:ahLst/>
            <a:cxnLst/>
            <a:rect l="l" t="t" r="r" b="b"/>
            <a:pathLst>
              <a:path w="2543175" h="1819275">
                <a:moveTo>
                  <a:pt x="76191" y="0"/>
                </a:moveTo>
                <a:lnTo>
                  <a:pt x="2466984" y="0"/>
                </a:lnTo>
                <a:cubicBezTo>
                  <a:pt x="2509063" y="0"/>
                  <a:pt x="2543175" y="34112"/>
                  <a:pt x="2543175" y="76191"/>
                </a:cubicBezTo>
                <a:lnTo>
                  <a:pt x="2543175" y="1743084"/>
                </a:lnTo>
                <a:cubicBezTo>
                  <a:pt x="2543175" y="1785163"/>
                  <a:pt x="2509063" y="1819275"/>
                  <a:pt x="2466984" y="1819275"/>
                </a:cubicBezTo>
                <a:lnTo>
                  <a:pt x="76191" y="1819275"/>
                </a:lnTo>
                <a:cubicBezTo>
                  <a:pt x="34112" y="1819275"/>
                  <a:pt x="0" y="1785163"/>
                  <a:pt x="0" y="17430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3297" y="2124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39" name="Text 37"/>
          <p:cNvSpPr/>
          <p:nvPr/>
        </p:nvSpPr>
        <p:spPr>
          <a:xfrm>
            <a:off x="9510713" y="2114550"/>
            <a:ext cx="676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VIP Status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20200" y="2381250"/>
            <a:ext cx="22860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Priority processing for high-value players with dedicated routing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6038" y="3900488"/>
            <a:ext cx="2543175" cy="1819275"/>
          </a:xfrm>
          <a:custGeom>
            <a:avLst/>
            <a:gdLst/>
            <a:ahLst/>
            <a:cxnLst/>
            <a:rect l="l" t="t" r="r" b="b"/>
            <a:pathLst>
              <a:path w="2543175" h="1819275">
                <a:moveTo>
                  <a:pt x="76191" y="0"/>
                </a:moveTo>
                <a:lnTo>
                  <a:pt x="2466984" y="0"/>
                </a:lnTo>
                <a:cubicBezTo>
                  <a:pt x="2509063" y="0"/>
                  <a:pt x="2543175" y="34112"/>
                  <a:pt x="2543175" y="76191"/>
                </a:cubicBezTo>
                <a:lnTo>
                  <a:pt x="2543175" y="1743084"/>
                </a:lnTo>
                <a:cubicBezTo>
                  <a:pt x="2543175" y="1785163"/>
                  <a:pt x="2509063" y="1819275"/>
                  <a:pt x="2466984" y="1819275"/>
                </a:cubicBezTo>
                <a:lnTo>
                  <a:pt x="76191" y="1819275"/>
                </a:lnTo>
                <a:cubicBezTo>
                  <a:pt x="34112" y="1819275"/>
                  <a:pt x="0" y="1785163"/>
                  <a:pt x="0" y="17430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66297" y="40671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21431"/>
                </a:moveTo>
                <a:cubicBezTo>
                  <a:pt x="131936" y="21431"/>
                  <a:pt x="160734" y="50229"/>
                  <a:pt x="160734" y="85725"/>
                </a:cubicBezTo>
                <a:cubicBezTo>
                  <a:pt x="160734" y="121221"/>
                  <a:pt x="131936" y="150019"/>
                  <a:pt x="96441" y="150019"/>
                </a:cubicBezTo>
                <a:cubicBezTo>
                  <a:pt x="74608" y="150019"/>
                  <a:pt x="55286" y="139136"/>
                  <a:pt x="43666" y="122460"/>
                </a:cubicBezTo>
                <a:cubicBezTo>
                  <a:pt x="40284" y="117604"/>
                  <a:pt x="33587" y="116432"/>
                  <a:pt x="28731" y="119814"/>
                </a:cubicBezTo>
                <a:cubicBezTo>
                  <a:pt x="23876" y="123196"/>
                  <a:pt x="22704" y="129893"/>
                  <a:pt x="26086" y="134749"/>
                </a:cubicBezTo>
                <a:cubicBezTo>
                  <a:pt x="41557" y="156917"/>
                  <a:pt x="67308" y="171450"/>
                  <a:pt x="96441" y="171450"/>
                </a:cubicBezTo>
                <a:cubicBezTo>
                  <a:pt x="143790" y="171450"/>
                  <a:pt x="182166" y="133075"/>
                  <a:pt x="182166" y="85725"/>
                </a:cubicBezTo>
                <a:cubicBezTo>
                  <a:pt x="182166" y="38375"/>
                  <a:pt x="143790" y="0"/>
                  <a:pt x="96441" y="0"/>
                </a:cubicBezTo>
                <a:cubicBezTo>
                  <a:pt x="67743" y="0"/>
                  <a:pt x="42360" y="14098"/>
                  <a:pt x="26789" y="35730"/>
                </a:cubicBezTo>
                <a:lnTo>
                  <a:pt x="26789" y="26789"/>
                </a:lnTo>
                <a:cubicBezTo>
                  <a:pt x="26789" y="20862"/>
                  <a:pt x="22001" y="16073"/>
                  <a:pt x="16073" y="16073"/>
                </a:cubicBezTo>
                <a:cubicBezTo>
                  <a:pt x="10146" y="16073"/>
                  <a:pt x="5358" y="20862"/>
                  <a:pt x="5358" y="26789"/>
                </a:cubicBezTo>
                <a:lnTo>
                  <a:pt x="5358" y="64294"/>
                </a:lnTo>
                <a:cubicBezTo>
                  <a:pt x="5358" y="70221"/>
                  <a:pt x="10146" y="75009"/>
                  <a:pt x="16073" y="75009"/>
                </a:cubicBezTo>
                <a:lnTo>
                  <a:pt x="24311" y="75009"/>
                </a:lnTo>
                <a:cubicBezTo>
                  <a:pt x="24479" y="75009"/>
                  <a:pt x="24646" y="75009"/>
                  <a:pt x="24813" y="75009"/>
                </a:cubicBezTo>
                <a:lnTo>
                  <a:pt x="53612" y="75009"/>
                </a:lnTo>
                <a:cubicBezTo>
                  <a:pt x="59539" y="75009"/>
                  <a:pt x="64327" y="70221"/>
                  <a:pt x="64327" y="64294"/>
                </a:cubicBezTo>
                <a:cubicBezTo>
                  <a:pt x="64327" y="58367"/>
                  <a:pt x="59539" y="53578"/>
                  <a:pt x="53612" y="53578"/>
                </a:cubicBezTo>
                <a:lnTo>
                  <a:pt x="40786" y="53578"/>
                </a:lnTo>
                <a:cubicBezTo>
                  <a:pt x="51870" y="34357"/>
                  <a:pt x="72665" y="21431"/>
                  <a:pt x="96441" y="21431"/>
                </a:cubicBezTo>
                <a:close/>
                <a:moveTo>
                  <a:pt x="104477" y="50899"/>
                </a:moveTo>
                <a:cubicBezTo>
                  <a:pt x="104477" y="46446"/>
                  <a:pt x="100894" y="42863"/>
                  <a:pt x="96441" y="42863"/>
                </a:cubicBezTo>
                <a:cubicBezTo>
                  <a:pt x="91987" y="42863"/>
                  <a:pt x="88404" y="46446"/>
                  <a:pt x="88404" y="50899"/>
                </a:cubicBezTo>
                <a:lnTo>
                  <a:pt x="88404" y="85725"/>
                </a:lnTo>
                <a:cubicBezTo>
                  <a:pt x="88404" y="87868"/>
                  <a:pt x="89241" y="89911"/>
                  <a:pt x="90748" y="91418"/>
                </a:cubicBezTo>
                <a:lnTo>
                  <a:pt x="114858" y="115528"/>
                </a:lnTo>
                <a:cubicBezTo>
                  <a:pt x="118006" y="118676"/>
                  <a:pt x="123096" y="118676"/>
                  <a:pt x="126210" y="115528"/>
                </a:cubicBezTo>
                <a:cubicBezTo>
                  <a:pt x="129324" y="112380"/>
                  <a:pt x="129358" y="107290"/>
                  <a:pt x="126210" y="104176"/>
                </a:cubicBezTo>
                <a:lnTo>
                  <a:pt x="104444" y="82410"/>
                </a:lnTo>
                <a:lnTo>
                  <a:pt x="104444" y="50899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43" name="Text 41"/>
          <p:cNvSpPr/>
          <p:nvPr/>
        </p:nvSpPr>
        <p:spPr>
          <a:xfrm>
            <a:off x="6843713" y="4057650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Historical Patterns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53200" y="4324350"/>
            <a:ext cx="22860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ML-optimized routing based on player payment history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63038" y="3900488"/>
            <a:ext cx="2543175" cy="1819275"/>
          </a:xfrm>
          <a:custGeom>
            <a:avLst/>
            <a:gdLst/>
            <a:ahLst/>
            <a:cxnLst/>
            <a:rect l="l" t="t" r="r" b="b"/>
            <a:pathLst>
              <a:path w="2543175" h="1819275">
                <a:moveTo>
                  <a:pt x="76191" y="0"/>
                </a:moveTo>
                <a:lnTo>
                  <a:pt x="2466984" y="0"/>
                </a:lnTo>
                <a:cubicBezTo>
                  <a:pt x="2509063" y="0"/>
                  <a:pt x="2543175" y="34112"/>
                  <a:pt x="2543175" y="76191"/>
                </a:cubicBezTo>
                <a:lnTo>
                  <a:pt x="2543175" y="1743084"/>
                </a:lnTo>
                <a:cubicBezTo>
                  <a:pt x="2543175" y="1785163"/>
                  <a:pt x="2509063" y="1819275"/>
                  <a:pt x="2466984" y="1819275"/>
                </a:cubicBezTo>
                <a:lnTo>
                  <a:pt x="76191" y="1819275"/>
                </a:lnTo>
                <a:cubicBezTo>
                  <a:pt x="34112" y="1819275"/>
                  <a:pt x="0" y="1785163"/>
                  <a:pt x="0" y="17430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44013" y="4067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7" name="Text 45"/>
          <p:cNvSpPr/>
          <p:nvPr/>
        </p:nvSpPr>
        <p:spPr>
          <a:xfrm>
            <a:off x="9510713" y="4057650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20200" y="4324350"/>
            <a:ext cx="22860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approval rate tracked in Tenant Portal dashboard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604361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70870" y="6162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1" name="Text 49"/>
          <p:cNvSpPr/>
          <p:nvPr/>
        </p:nvSpPr>
        <p:spPr>
          <a:xfrm>
            <a:off x="3575670" y="6162675"/>
            <a:ext cx="545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Payment orchestration can boost approval rates by up to 15%</a:t>
            </a:r>
            <a:r>
              <a:rPr lang="en-US" sz="10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and reduce declines below 15%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b6e8d82305a41927df915379da06bb46a7eafb6.jpg"/>
          <p:cNvPicPr>
            <a:picLocks noChangeAspect="1"/>
          </p:cNvPicPr>
          <p:nvPr/>
        </p:nvPicPr>
        <p:blipFill>
          <a:blip r:embed="rId1">
            <a:alphaModFix amt="15000"/>
          </a:blip>
          <a:srcRect t="7786" b="778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17">
                  <a:alpha val="95000"/>
                </a:srgbClr>
              </a:gs>
              <a:gs pos="50000">
                <a:srgbClr val="0A0E17">
                  <a:alpha val="95000"/>
                </a:srgbClr>
              </a:gs>
              <a:gs pos="100000">
                <a:srgbClr val="1A237E">
                  <a:alpha val="8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5" name="Text 2"/>
          <p:cNvSpPr/>
          <p:nvPr/>
        </p:nvSpPr>
        <p:spPr>
          <a:xfrm>
            <a:off x="533400" y="381000"/>
            <a:ext cx="4619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Pure Serverless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Fully serverless with no containers or WebSocket servers — everything scales automatically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2762250" cy="1885950"/>
          </a:xfrm>
          <a:custGeom>
            <a:avLst/>
            <a:gdLst/>
            <a:ahLst/>
            <a:cxnLst/>
            <a:rect l="l" t="t" r="r" b="b"/>
            <a:pathLst>
              <a:path w="2762250" h="1885950">
                <a:moveTo>
                  <a:pt x="114307" y="0"/>
                </a:moveTo>
                <a:lnTo>
                  <a:pt x="2647943" y="0"/>
                </a:lnTo>
                <a:cubicBezTo>
                  <a:pt x="2711073" y="0"/>
                  <a:pt x="2762250" y="51177"/>
                  <a:pt x="2762250" y="114307"/>
                </a:cubicBezTo>
                <a:lnTo>
                  <a:pt x="2762250" y="1771643"/>
                </a:lnTo>
                <a:cubicBezTo>
                  <a:pt x="2762250" y="1834773"/>
                  <a:pt x="2711073" y="1885950"/>
                  <a:pt x="264794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38288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9" name="Shape 6"/>
          <p:cNvSpPr/>
          <p:nvPr/>
        </p:nvSpPr>
        <p:spPr>
          <a:xfrm>
            <a:off x="1659731" y="1514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474663" y="1952625"/>
            <a:ext cx="581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Vercel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22474" y="2257425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Global edge network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71838" y="1223963"/>
            <a:ext cx="2762250" cy="1885950"/>
          </a:xfrm>
          <a:custGeom>
            <a:avLst/>
            <a:gdLst/>
            <a:ahLst/>
            <a:cxnLst/>
            <a:rect l="l" t="t" r="r" b="b"/>
            <a:pathLst>
              <a:path w="2762250" h="1885950">
                <a:moveTo>
                  <a:pt x="114307" y="0"/>
                </a:moveTo>
                <a:lnTo>
                  <a:pt x="2647943" y="0"/>
                </a:lnTo>
                <a:cubicBezTo>
                  <a:pt x="2711073" y="0"/>
                  <a:pt x="2762250" y="51177"/>
                  <a:pt x="2762250" y="114307"/>
                </a:cubicBezTo>
                <a:lnTo>
                  <a:pt x="2762250" y="1771643"/>
                </a:lnTo>
                <a:cubicBezTo>
                  <a:pt x="2762250" y="1834773"/>
                  <a:pt x="2711073" y="1885950"/>
                  <a:pt x="264794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24363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14" name="Shape 11"/>
          <p:cNvSpPr/>
          <p:nvPr/>
        </p:nvSpPr>
        <p:spPr>
          <a:xfrm>
            <a:off x="4557713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0"/>
                </a:moveTo>
                <a:cubicBezTo>
                  <a:pt x="107156" y="-6586"/>
                  <a:pt x="101836" y="-11906"/>
                  <a:pt x="95250" y="-11906"/>
                </a:cubicBezTo>
                <a:cubicBezTo>
                  <a:pt x="88664" y="-11906"/>
                  <a:pt x="83344" y="-6586"/>
                  <a:pt x="83344" y="0"/>
                </a:cubicBezTo>
                <a:lnTo>
                  <a:pt x="83344" y="95250"/>
                </a:lnTo>
                <a:cubicBezTo>
                  <a:pt x="83344" y="101836"/>
                  <a:pt x="88664" y="107156"/>
                  <a:pt x="95250" y="107156"/>
                </a:cubicBezTo>
                <a:cubicBezTo>
                  <a:pt x="101836" y="107156"/>
                  <a:pt x="107156" y="101836"/>
                  <a:pt x="107156" y="95250"/>
                </a:cubicBezTo>
                <a:lnTo>
                  <a:pt x="107156" y="0"/>
                </a:lnTo>
                <a:close/>
                <a:moveTo>
                  <a:pt x="54434" y="36612"/>
                </a:moveTo>
                <a:cubicBezTo>
                  <a:pt x="59829" y="32854"/>
                  <a:pt x="61131" y="25412"/>
                  <a:pt x="57373" y="20017"/>
                </a:cubicBezTo>
                <a:cubicBezTo>
                  <a:pt x="53615" y="14622"/>
                  <a:pt x="46174" y="13320"/>
                  <a:pt x="40779" y="17078"/>
                </a:cubicBezTo>
                <a:cubicBezTo>
                  <a:pt x="16148" y="34268"/>
                  <a:pt x="0" y="62880"/>
                  <a:pt x="0" y="95250"/>
                </a:cubicBezTo>
                <a:cubicBezTo>
                  <a:pt x="0" y="147861"/>
                  <a:pt x="42639" y="190500"/>
                  <a:pt x="95250" y="190500"/>
                </a:cubicBezTo>
                <a:cubicBezTo>
                  <a:pt x="147861" y="190500"/>
                  <a:pt x="190500" y="147861"/>
                  <a:pt x="190500" y="95250"/>
                </a:cubicBezTo>
                <a:cubicBezTo>
                  <a:pt x="190500" y="62880"/>
                  <a:pt x="174352" y="34268"/>
                  <a:pt x="149684" y="17078"/>
                </a:cubicBezTo>
                <a:cubicBezTo>
                  <a:pt x="144289" y="13320"/>
                  <a:pt x="136885" y="14622"/>
                  <a:pt x="133090" y="20017"/>
                </a:cubicBezTo>
                <a:cubicBezTo>
                  <a:pt x="129294" y="25412"/>
                  <a:pt x="130634" y="32817"/>
                  <a:pt x="136029" y="36612"/>
                </a:cubicBezTo>
                <a:cubicBezTo>
                  <a:pt x="154558" y="49560"/>
                  <a:pt x="166650" y="70991"/>
                  <a:pt x="166650" y="95250"/>
                </a:cubicBezTo>
                <a:cubicBezTo>
                  <a:pt x="166650" y="134689"/>
                  <a:pt x="134652" y="166688"/>
                  <a:pt x="95213" y="166688"/>
                </a:cubicBezTo>
                <a:cubicBezTo>
                  <a:pt x="55773" y="166688"/>
                  <a:pt x="23812" y="134689"/>
                  <a:pt x="23812" y="95250"/>
                </a:cubicBezTo>
                <a:cubicBezTo>
                  <a:pt x="23812" y="70991"/>
                  <a:pt x="35905" y="49523"/>
                  <a:pt x="54434" y="3661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>
            <a:off x="4063305" y="1952625"/>
            <a:ext cx="1181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Scales to Zero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34768" y="2257425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Pay per use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57913" y="1223963"/>
            <a:ext cx="2762250" cy="1885950"/>
          </a:xfrm>
          <a:custGeom>
            <a:avLst/>
            <a:gdLst/>
            <a:ahLst/>
            <a:cxnLst/>
            <a:rect l="l" t="t" r="r" b="b"/>
            <a:pathLst>
              <a:path w="2762250" h="1885950">
                <a:moveTo>
                  <a:pt x="114307" y="0"/>
                </a:moveTo>
                <a:lnTo>
                  <a:pt x="2647943" y="0"/>
                </a:lnTo>
                <a:cubicBezTo>
                  <a:pt x="2711073" y="0"/>
                  <a:pt x="2762250" y="51177"/>
                  <a:pt x="2762250" y="114307"/>
                </a:cubicBezTo>
                <a:lnTo>
                  <a:pt x="2762250" y="1771643"/>
                </a:lnTo>
                <a:cubicBezTo>
                  <a:pt x="2762250" y="1834773"/>
                  <a:pt x="2711073" y="1885950"/>
                  <a:pt x="264794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0438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</p:spPr>
      </p:sp>
      <p:sp>
        <p:nvSpPr>
          <p:cNvPr id="19" name="Shape 16"/>
          <p:cNvSpPr/>
          <p:nvPr/>
        </p:nvSpPr>
        <p:spPr>
          <a:xfrm>
            <a:off x="7455694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>
            <a:off x="6987629" y="1952625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85273" y="2257425"/>
            <a:ext cx="704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10-10K users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043988" y="1223963"/>
            <a:ext cx="2762250" cy="1885950"/>
          </a:xfrm>
          <a:custGeom>
            <a:avLst/>
            <a:gdLst/>
            <a:ahLst/>
            <a:cxnLst/>
            <a:rect l="l" t="t" r="r" b="b"/>
            <a:pathLst>
              <a:path w="2762250" h="1885950">
                <a:moveTo>
                  <a:pt x="114307" y="0"/>
                </a:moveTo>
                <a:lnTo>
                  <a:pt x="2647943" y="0"/>
                </a:lnTo>
                <a:cubicBezTo>
                  <a:pt x="2711073" y="0"/>
                  <a:pt x="2762250" y="51177"/>
                  <a:pt x="2762250" y="114307"/>
                </a:cubicBezTo>
                <a:lnTo>
                  <a:pt x="2762250" y="1771643"/>
                </a:lnTo>
                <a:cubicBezTo>
                  <a:pt x="2762250" y="1834773"/>
                  <a:pt x="2711073" y="1885950"/>
                  <a:pt x="264794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196513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24" name="Shape 21"/>
          <p:cNvSpPr/>
          <p:nvPr/>
        </p:nvSpPr>
        <p:spPr>
          <a:xfrm>
            <a:off x="10341769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>
            <a:off x="9772501" y="1952625"/>
            <a:ext cx="1304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Edge Functions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049842" y="2257425"/>
            <a:ext cx="752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Lightning fast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3233738"/>
            <a:ext cx="2762250" cy="2190750"/>
          </a:xfrm>
          <a:custGeom>
            <a:avLst/>
            <a:gdLst/>
            <a:ahLst/>
            <a:cxnLst/>
            <a:rect l="l" t="t" r="r" b="b"/>
            <a:pathLst>
              <a:path w="2762250" h="2190750">
                <a:moveTo>
                  <a:pt x="114291" y="0"/>
                </a:moveTo>
                <a:lnTo>
                  <a:pt x="2647959" y="0"/>
                </a:lnTo>
                <a:cubicBezTo>
                  <a:pt x="2711080" y="0"/>
                  <a:pt x="2762250" y="51170"/>
                  <a:pt x="2762250" y="114291"/>
                </a:cubicBezTo>
                <a:lnTo>
                  <a:pt x="2762250" y="2076459"/>
                </a:lnTo>
                <a:cubicBezTo>
                  <a:pt x="2762250" y="2139580"/>
                  <a:pt x="2711080" y="2190750"/>
                  <a:pt x="264795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38288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29" name="Shape 26"/>
          <p:cNvSpPr/>
          <p:nvPr/>
        </p:nvSpPr>
        <p:spPr>
          <a:xfrm>
            <a:off x="1671638" y="3524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7"/>
          <p:cNvSpPr/>
          <p:nvPr/>
        </p:nvSpPr>
        <p:spPr>
          <a:xfrm>
            <a:off x="1124396" y="396240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Single Platform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00745" y="4267200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Unified infrastructure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71838" y="3233738"/>
            <a:ext cx="2762250" cy="2190750"/>
          </a:xfrm>
          <a:custGeom>
            <a:avLst/>
            <a:gdLst/>
            <a:ahLst/>
            <a:cxnLst/>
            <a:rect l="l" t="t" r="r" b="b"/>
            <a:pathLst>
              <a:path w="2762250" h="2190750">
                <a:moveTo>
                  <a:pt x="114291" y="0"/>
                </a:moveTo>
                <a:lnTo>
                  <a:pt x="2647959" y="0"/>
                </a:lnTo>
                <a:cubicBezTo>
                  <a:pt x="2711080" y="0"/>
                  <a:pt x="2762250" y="51170"/>
                  <a:pt x="2762250" y="114291"/>
                </a:cubicBezTo>
                <a:lnTo>
                  <a:pt x="2762250" y="2076459"/>
                </a:lnTo>
                <a:cubicBezTo>
                  <a:pt x="2762250" y="2139580"/>
                  <a:pt x="2711080" y="2190750"/>
                  <a:pt x="264795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24363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34" name="Shape 31"/>
          <p:cNvSpPr/>
          <p:nvPr/>
        </p:nvSpPr>
        <p:spPr>
          <a:xfrm>
            <a:off x="4557713" y="3524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32"/>
          <p:cNvSpPr/>
          <p:nvPr/>
        </p:nvSpPr>
        <p:spPr>
          <a:xfrm>
            <a:off x="4213175" y="3962400"/>
            <a:ext cx="876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RabbitMQ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049985" y="4267200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event streaming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57913" y="3233738"/>
            <a:ext cx="2762250" cy="2190750"/>
          </a:xfrm>
          <a:custGeom>
            <a:avLst/>
            <a:gdLst/>
            <a:ahLst/>
            <a:cxnLst/>
            <a:rect l="l" t="t" r="r" b="b"/>
            <a:pathLst>
              <a:path w="2762250" h="2190750">
                <a:moveTo>
                  <a:pt x="114291" y="0"/>
                </a:moveTo>
                <a:lnTo>
                  <a:pt x="2647959" y="0"/>
                </a:lnTo>
                <a:cubicBezTo>
                  <a:pt x="2711080" y="0"/>
                  <a:pt x="2762250" y="51170"/>
                  <a:pt x="2762250" y="114291"/>
                </a:cubicBezTo>
                <a:lnTo>
                  <a:pt x="2762250" y="2076459"/>
                </a:lnTo>
                <a:cubicBezTo>
                  <a:pt x="2762250" y="2139580"/>
                  <a:pt x="2711080" y="2190750"/>
                  <a:pt x="264795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0438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</p:spPr>
      </p:sp>
      <p:sp>
        <p:nvSpPr>
          <p:cNvPr id="39" name="Shape 36"/>
          <p:cNvSpPr/>
          <p:nvPr/>
        </p:nvSpPr>
        <p:spPr>
          <a:xfrm>
            <a:off x="7455694" y="3524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7"/>
          <p:cNvSpPr/>
          <p:nvPr/>
        </p:nvSpPr>
        <p:spPr>
          <a:xfrm>
            <a:off x="6628805" y="3962400"/>
            <a:ext cx="1819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Supabase PostgreSQL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110785" y="4267200"/>
            <a:ext cx="857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Multi-tenant DB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257604" y="44958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7229029" y="4495800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€25/mo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043988" y="3233738"/>
            <a:ext cx="2762250" cy="2190750"/>
          </a:xfrm>
          <a:custGeom>
            <a:avLst/>
            <a:gdLst/>
            <a:ahLst/>
            <a:cxnLst/>
            <a:rect l="l" t="t" r="r" b="b"/>
            <a:pathLst>
              <a:path w="2762250" h="2190750">
                <a:moveTo>
                  <a:pt x="114291" y="0"/>
                </a:moveTo>
                <a:lnTo>
                  <a:pt x="2647959" y="0"/>
                </a:lnTo>
                <a:cubicBezTo>
                  <a:pt x="2711080" y="0"/>
                  <a:pt x="2762250" y="51170"/>
                  <a:pt x="2762250" y="114291"/>
                </a:cubicBezTo>
                <a:lnTo>
                  <a:pt x="2762250" y="2076459"/>
                </a:lnTo>
                <a:cubicBezTo>
                  <a:pt x="2762250" y="2139580"/>
                  <a:pt x="2711080" y="2190750"/>
                  <a:pt x="264795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196513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46" name="Shape 43"/>
          <p:cNvSpPr/>
          <p:nvPr/>
        </p:nvSpPr>
        <p:spPr>
          <a:xfrm>
            <a:off x="10329863" y="3524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4"/>
          <p:cNvSpPr/>
          <p:nvPr/>
        </p:nvSpPr>
        <p:spPr>
          <a:xfrm>
            <a:off x="9825707" y="3962400"/>
            <a:ext cx="1200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Upstash Redis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969103" y="4267200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Serverless cache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50450" y="44958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10121875" y="4495800"/>
            <a:ext cx="6096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€10/mo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85763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771527"/>
                </a:lnTo>
                <a:cubicBezTo>
                  <a:pt x="3695700" y="834610"/>
                  <a:pt x="3644485" y="885825"/>
                  <a:pt x="35814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1488" y="5743575"/>
            <a:ext cx="3524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€54-79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509587" y="6124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infrastructure /month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4246513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771527"/>
                </a:lnTo>
                <a:cubicBezTo>
                  <a:pt x="3695700" y="834610"/>
                  <a:pt x="3644485" y="885825"/>
                  <a:pt x="35814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332238" y="5743575"/>
            <a:ext cx="3524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 → 10K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4370338" y="6124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Auto-scales users with zero ops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107338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771527"/>
                </a:lnTo>
                <a:cubicBezTo>
                  <a:pt x="3695700" y="834610"/>
                  <a:pt x="3644485" y="885825"/>
                  <a:pt x="35814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193063" y="5743575"/>
            <a:ext cx="3524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231163" y="6124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Serverless — no containers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5267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Premier Game Provider Adapters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Current 3 providers are ideal for soft launch. Q3 2026 roadmap adds Play'n GO, Red Tiger, Microgaming.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771525" y="160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3133" y="1027"/>
                </a:moveTo>
                <a:cubicBezTo>
                  <a:pt x="45988" y="-3572"/>
                  <a:pt x="28352" y="6608"/>
                  <a:pt x="23798" y="23753"/>
                </a:cubicBezTo>
                <a:lnTo>
                  <a:pt x="1116" y="108362"/>
                </a:lnTo>
                <a:cubicBezTo>
                  <a:pt x="-3483" y="125507"/>
                  <a:pt x="6697" y="143143"/>
                  <a:pt x="23842" y="147742"/>
                </a:cubicBezTo>
                <a:lnTo>
                  <a:pt x="108451" y="170423"/>
                </a:lnTo>
                <a:cubicBezTo>
                  <a:pt x="125596" y="175022"/>
                  <a:pt x="143232" y="164842"/>
                  <a:pt x="147831" y="147697"/>
                </a:cubicBezTo>
                <a:lnTo>
                  <a:pt x="170512" y="63088"/>
                </a:lnTo>
                <a:cubicBezTo>
                  <a:pt x="175111" y="45943"/>
                  <a:pt x="164931" y="28307"/>
                  <a:pt x="147786" y="23708"/>
                </a:cubicBezTo>
                <a:lnTo>
                  <a:pt x="63133" y="1027"/>
                </a:lnTo>
                <a:close/>
                <a:moveTo>
                  <a:pt x="73402" y="92869"/>
                </a:moveTo>
                <a:cubicBezTo>
                  <a:pt x="70687" y="88441"/>
                  <a:pt x="70588" y="82888"/>
                  <a:pt x="73144" y="78367"/>
                </a:cubicBezTo>
                <a:cubicBezTo>
                  <a:pt x="75701" y="73845"/>
                  <a:pt x="80510" y="71068"/>
                  <a:pt x="85704" y="71112"/>
                </a:cubicBezTo>
                <a:cubicBezTo>
                  <a:pt x="90898" y="71157"/>
                  <a:pt x="95659" y="74017"/>
                  <a:pt x="98137" y="78581"/>
                </a:cubicBezTo>
                <a:cubicBezTo>
                  <a:pt x="100853" y="83009"/>
                  <a:pt x="100951" y="88562"/>
                  <a:pt x="98395" y="93083"/>
                </a:cubicBezTo>
                <a:cubicBezTo>
                  <a:pt x="95838" y="97605"/>
                  <a:pt x="91029" y="100382"/>
                  <a:pt x="85835" y="100338"/>
                </a:cubicBezTo>
                <a:cubicBezTo>
                  <a:pt x="80641" y="100293"/>
                  <a:pt x="75881" y="97433"/>
                  <a:pt x="73402" y="92869"/>
                </a:cubicBezTo>
                <a:close/>
                <a:moveTo>
                  <a:pt x="35362" y="98361"/>
                </a:moveTo>
                <a:cubicBezTo>
                  <a:pt x="39789" y="95645"/>
                  <a:pt x="45342" y="95546"/>
                  <a:pt x="49863" y="98103"/>
                </a:cubicBezTo>
                <a:cubicBezTo>
                  <a:pt x="54385" y="100660"/>
                  <a:pt x="57163" y="105469"/>
                  <a:pt x="57118" y="110663"/>
                </a:cubicBezTo>
                <a:cubicBezTo>
                  <a:pt x="57074" y="115856"/>
                  <a:pt x="54214" y="120617"/>
                  <a:pt x="49649" y="123096"/>
                </a:cubicBezTo>
                <a:cubicBezTo>
                  <a:pt x="45221" y="125811"/>
                  <a:pt x="39669" y="125910"/>
                  <a:pt x="35147" y="123353"/>
                </a:cubicBezTo>
                <a:cubicBezTo>
                  <a:pt x="30626" y="120797"/>
                  <a:pt x="27848" y="115988"/>
                  <a:pt x="27893" y="110794"/>
                </a:cubicBezTo>
                <a:cubicBezTo>
                  <a:pt x="27937" y="105600"/>
                  <a:pt x="30797" y="100839"/>
                  <a:pt x="35362" y="98361"/>
                </a:cubicBezTo>
                <a:close/>
                <a:moveTo>
                  <a:pt x="117961" y="141402"/>
                </a:moveTo>
                <a:cubicBezTo>
                  <a:pt x="113533" y="144117"/>
                  <a:pt x="107981" y="144216"/>
                  <a:pt x="103459" y="141659"/>
                </a:cubicBezTo>
                <a:cubicBezTo>
                  <a:pt x="98938" y="139103"/>
                  <a:pt x="96160" y="134294"/>
                  <a:pt x="96205" y="129100"/>
                </a:cubicBezTo>
                <a:cubicBezTo>
                  <a:pt x="96249" y="123906"/>
                  <a:pt x="99109" y="119145"/>
                  <a:pt x="103674" y="116666"/>
                </a:cubicBezTo>
                <a:cubicBezTo>
                  <a:pt x="108101" y="113951"/>
                  <a:pt x="113654" y="113852"/>
                  <a:pt x="118176" y="116409"/>
                </a:cubicBezTo>
                <a:cubicBezTo>
                  <a:pt x="122697" y="118965"/>
                  <a:pt x="125475" y="123774"/>
                  <a:pt x="125430" y="128968"/>
                </a:cubicBezTo>
                <a:cubicBezTo>
                  <a:pt x="125386" y="134162"/>
                  <a:pt x="122526" y="138923"/>
                  <a:pt x="117961" y="141402"/>
                </a:cubicBezTo>
                <a:close/>
                <a:moveTo>
                  <a:pt x="121980" y="48354"/>
                </a:moveTo>
                <a:cubicBezTo>
                  <a:pt x="126407" y="45639"/>
                  <a:pt x="131960" y="45540"/>
                  <a:pt x="136481" y="48097"/>
                </a:cubicBezTo>
                <a:cubicBezTo>
                  <a:pt x="141003" y="50653"/>
                  <a:pt x="143781" y="55462"/>
                  <a:pt x="143736" y="60656"/>
                </a:cubicBezTo>
                <a:cubicBezTo>
                  <a:pt x="143691" y="65850"/>
                  <a:pt x="140832" y="70611"/>
                  <a:pt x="136267" y="73089"/>
                </a:cubicBezTo>
                <a:cubicBezTo>
                  <a:pt x="131839" y="75805"/>
                  <a:pt x="126287" y="75904"/>
                  <a:pt x="121765" y="73347"/>
                </a:cubicBezTo>
                <a:cubicBezTo>
                  <a:pt x="117244" y="70790"/>
                  <a:pt x="114466" y="65981"/>
                  <a:pt x="114511" y="60787"/>
                </a:cubicBezTo>
                <a:cubicBezTo>
                  <a:pt x="114555" y="55594"/>
                  <a:pt x="117415" y="50833"/>
                  <a:pt x="121980" y="48354"/>
                </a:cubicBezTo>
                <a:close/>
                <a:moveTo>
                  <a:pt x="67955" y="54784"/>
                </a:moveTo>
                <a:cubicBezTo>
                  <a:pt x="63527" y="57499"/>
                  <a:pt x="57974" y="57598"/>
                  <a:pt x="53453" y="55041"/>
                </a:cubicBezTo>
                <a:cubicBezTo>
                  <a:pt x="48932" y="52485"/>
                  <a:pt x="46154" y="47676"/>
                  <a:pt x="46198" y="42482"/>
                </a:cubicBezTo>
                <a:cubicBezTo>
                  <a:pt x="46243" y="37288"/>
                  <a:pt x="49103" y="32527"/>
                  <a:pt x="53667" y="30048"/>
                </a:cubicBezTo>
                <a:cubicBezTo>
                  <a:pt x="58095" y="27333"/>
                  <a:pt x="63648" y="27234"/>
                  <a:pt x="68169" y="29791"/>
                </a:cubicBezTo>
                <a:cubicBezTo>
                  <a:pt x="72691" y="32347"/>
                  <a:pt x="75468" y="37156"/>
                  <a:pt x="75424" y="42350"/>
                </a:cubicBezTo>
                <a:cubicBezTo>
                  <a:pt x="75379" y="47544"/>
                  <a:pt x="72520" y="52305"/>
                  <a:pt x="67955" y="54784"/>
                </a:cubicBezTo>
                <a:close/>
                <a:moveTo>
                  <a:pt x="186630" y="85725"/>
                </a:moveTo>
                <a:lnTo>
                  <a:pt x="168503" y="153233"/>
                </a:lnTo>
                <a:cubicBezTo>
                  <a:pt x="160824" y="181808"/>
                  <a:pt x="131445" y="198775"/>
                  <a:pt x="102870" y="191140"/>
                </a:cubicBezTo>
                <a:lnTo>
                  <a:pt x="85770" y="186541"/>
                </a:lnTo>
                <a:lnTo>
                  <a:pt x="85770" y="200025"/>
                </a:lnTo>
                <a:cubicBezTo>
                  <a:pt x="85770" y="215786"/>
                  <a:pt x="98584" y="228600"/>
                  <a:pt x="114345" y="228600"/>
                </a:cubicBezTo>
                <a:lnTo>
                  <a:pt x="200070" y="228600"/>
                </a:lnTo>
                <a:cubicBezTo>
                  <a:pt x="215831" y="228600"/>
                  <a:pt x="228645" y="215786"/>
                  <a:pt x="228645" y="200025"/>
                </a:cubicBezTo>
                <a:lnTo>
                  <a:pt x="228645" y="114300"/>
                </a:lnTo>
                <a:cubicBezTo>
                  <a:pt x="228645" y="98539"/>
                  <a:pt x="215831" y="85725"/>
                  <a:pt x="200070" y="85725"/>
                </a:cubicBezTo>
                <a:lnTo>
                  <a:pt x="186630" y="857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343025" y="1476375"/>
            <a:ext cx="1228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3025" y="1781175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Casino Leader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181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00075" y="21812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2" name="Shape 10"/>
          <p:cNvSpPr/>
          <p:nvPr/>
        </p:nvSpPr>
        <p:spPr>
          <a:xfrm>
            <a:off x="752475" y="2324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0006"/>
                </a:lnTo>
                <a:cubicBezTo>
                  <a:pt x="133350" y="40812"/>
                  <a:pt x="125875" y="33337"/>
                  <a:pt x="116681" y="33337"/>
                </a:cubicBezTo>
                <a:lnTo>
                  <a:pt x="18752" y="33337"/>
                </a:lnTo>
                <a:cubicBezTo>
                  <a:pt x="15288" y="33337"/>
                  <a:pt x="12502" y="30551"/>
                  <a:pt x="12502" y="27087"/>
                </a:cubicBezTo>
                <a:cubicBezTo>
                  <a:pt x="12502" y="23623"/>
                  <a:pt x="15288" y="20836"/>
                  <a:pt x="18752" y="20836"/>
                </a:cubicBezTo>
                <a:lnTo>
                  <a:pt x="118765" y="20836"/>
                </a:lnTo>
                <a:cubicBezTo>
                  <a:pt x="122229" y="20836"/>
                  <a:pt x="125016" y="18049"/>
                  <a:pt x="125016" y="14585"/>
                </a:cubicBezTo>
                <a:cubicBezTo>
                  <a:pt x="125016" y="11121"/>
                  <a:pt x="122229" y="8334"/>
                  <a:pt x="118765" y="8334"/>
                </a:cubicBezTo>
                <a:lnTo>
                  <a:pt x="16669" y="8334"/>
                </a:lnTo>
                <a:close/>
                <a:moveTo>
                  <a:pt x="108347" y="66675"/>
                </a:moveTo>
                <a:cubicBezTo>
                  <a:pt x="112947" y="66675"/>
                  <a:pt x="116681" y="70410"/>
                  <a:pt x="116681" y="75009"/>
                </a:cubicBezTo>
                <a:cubicBezTo>
                  <a:pt x="116681" y="79609"/>
                  <a:pt x="112947" y="83344"/>
                  <a:pt x="108347" y="83344"/>
                </a:cubicBezTo>
                <a:cubicBezTo>
                  <a:pt x="103747" y="83344"/>
                  <a:pt x="100013" y="79609"/>
                  <a:pt x="100013" y="75009"/>
                </a:cubicBezTo>
                <a:cubicBezTo>
                  <a:pt x="100013" y="70410"/>
                  <a:pt x="103747" y="66675"/>
                  <a:pt x="108347" y="66675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3" name="Text 11"/>
          <p:cNvSpPr/>
          <p:nvPr/>
        </p:nvSpPr>
        <p:spPr>
          <a:xfrm>
            <a:off x="976312" y="2295525"/>
            <a:ext cx="1704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Seamless Wallet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25241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Single wallet API for all Evolution games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2905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00075" y="29051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7" name="Shape 15"/>
          <p:cNvSpPr/>
          <p:nvPr/>
        </p:nvSpPr>
        <p:spPr>
          <a:xfrm>
            <a:off x="735806" y="30480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16681" y="16669"/>
                </a:moveTo>
                <a:cubicBezTo>
                  <a:pt x="144289" y="16669"/>
                  <a:pt x="166688" y="39067"/>
                  <a:pt x="166688" y="66675"/>
                </a:cubicBezTo>
                <a:cubicBezTo>
                  <a:pt x="166688" y="94283"/>
                  <a:pt x="144289" y="116681"/>
                  <a:pt x="116681" y="116681"/>
                </a:cubicBezTo>
                <a:lnTo>
                  <a:pt x="50006" y="116681"/>
                </a:lnTo>
                <a:cubicBezTo>
                  <a:pt x="22399" y="116681"/>
                  <a:pt x="0" y="94283"/>
                  <a:pt x="0" y="66675"/>
                </a:cubicBezTo>
                <a:cubicBezTo>
                  <a:pt x="0" y="39067"/>
                  <a:pt x="22399" y="16669"/>
                  <a:pt x="50006" y="16669"/>
                </a:cubicBezTo>
                <a:lnTo>
                  <a:pt x="116681" y="16669"/>
                </a:lnTo>
                <a:close/>
                <a:moveTo>
                  <a:pt x="50006" y="45839"/>
                </a:moveTo>
                <a:cubicBezTo>
                  <a:pt x="46542" y="45839"/>
                  <a:pt x="43755" y="48626"/>
                  <a:pt x="43755" y="52090"/>
                </a:cubicBezTo>
                <a:lnTo>
                  <a:pt x="43755" y="60424"/>
                </a:lnTo>
                <a:lnTo>
                  <a:pt x="35421" y="60424"/>
                </a:lnTo>
                <a:cubicBezTo>
                  <a:pt x="31957" y="60424"/>
                  <a:pt x="29170" y="63211"/>
                  <a:pt x="29170" y="66675"/>
                </a:cubicBezTo>
                <a:cubicBezTo>
                  <a:pt x="29170" y="70139"/>
                  <a:pt x="31957" y="72926"/>
                  <a:pt x="35421" y="72926"/>
                </a:cubicBezTo>
                <a:lnTo>
                  <a:pt x="43755" y="72926"/>
                </a:lnTo>
                <a:lnTo>
                  <a:pt x="43755" y="81260"/>
                </a:lnTo>
                <a:cubicBezTo>
                  <a:pt x="43755" y="84724"/>
                  <a:pt x="46542" y="87511"/>
                  <a:pt x="50006" y="87511"/>
                </a:cubicBezTo>
                <a:cubicBezTo>
                  <a:pt x="53470" y="87511"/>
                  <a:pt x="56257" y="84724"/>
                  <a:pt x="56257" y="81260"/>
                </a:cubicBezTo>
                <a:lnTo>
                  <a:pt x="56257" y="72926"/>
                </a:lnTo>
                <a:lnTo>
                  <a:pt x="64591" y="72926"/>
                </a:lnTo>
                <a:cubicBezTo>
                  <a:pt x="68055" y="72926"/>
                  <a:pt x="70842" y="70139"/>
                  <a:pt x="70842" y="66675"/>
                </a:cubicBezTo>
                <a:cubicBezTo>
                  <a:pt x="70842" y="63211"/>
                  <a:pt x="68055" y="60424"/>
                  <a:pt x="64591" y="60424"/>
                </a:cubicBezTo>
                <a:lnTo>
                  <a:pt x="56257" y="60424"/>
                </a:lnTo>
                <a:lnTo>
                  <a:pt x="56257" y="52090"/>
                </a:lnTo>
                <a:cubicBezTo>
                  <a:pt x="56257" y="48626"/>
                  <a:pt x="53470" y="45839"/>
                  <a:pt x="50006" y="45839"/>
                </a:cubicBezTo>
                <a:close/>
                <a:moveTo>
                  <a:pt x="112514" y="70842"/>
                </a:moveTo>
                <a:cubicBezTo>
                  <a:pt x="107914" y="70842"/>
                  <a:pt x="104180" y="74577"/>
                  <a:pt x="104180" y="79177"/>
                </a:cubicBezTo>
                <a:cubicBezTo>
                  <a:pt x="104180" y="83776"/>
                  <a:pt x="107914" y="87511"/>
                  <a:pt x="112514" y="87511"/>
                </a:cubicBezTo>
                <a:cubicBezTo>
                  <a:pt x="117114" y="87511"/>
                  <a:pt x="120848" y="83776"/>
                  <a:pt x="120848" y="79177"/>
                </a:cubicBezTo>
                <a:cubicBezTo>
                  <a:pt x="120848" y="74577"/>
                  <a:pt x="117114" y="70842"/>
                  <a:pt x="112514" y="70842"/>
                </a:cubicBezTo>
                <a:close/>
                <a:moveTo>
                  <a:pt x="129183" y="45839"/>
                </a:moveTo>
                <a:cubicBezTo>
                  <a:pt x="124583" y="45839"/>
                  <a:pt x="120848" y="49574"/>
                  <a:pt x="120848" y="54173"/>
                </a:cubicBezTo>
                <a:cubicBezTo>
                  <a:pt x="120848" y="58773"/>
                  <a:pt x="124583" y="62508"/>
                  <a:pt x="129183" y="62508"/>
                </a:cubicBezTo>
                <a:cubicBezTo>
                  <a:pt x="133783" y="62508"/>
                  <a:pt x="137517" y="58773"/>
                  <a:pt x="137517" y="54173"/>
                </a:cubicBezTo>
                <a:cubicBezTo>
                  <a:pt x="137517" y="49574"/>
                  <a:pt x="133783" y="45839"/>
                  <a:pt x="129183" y="45839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8" name="Text 16"/>
          <p:cNvSpPr/>
          <p:nvPr/>
        </p:nvSpPr>
        <p:spPr>
          <a:xfrm>
            <a:off x="976312" y="3019425"/>
            <a:ext cx="160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Casino &amp; RNG Games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425" y="32480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portfolio including Lightning series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4948238"/>
            <a:ext cx="3295650" cy="428625"/>
          </a:xfrm>
          <a:custGeom>
            <a:avLst/>
            <a:gdLst/>
            <a:ahLst/>
            <a:cxnLst/>
            <a:rect l="l" t="t" r="r" b="b"/>
            <a:pathLst>
              <a:path w="3295650" h="4286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352424"/>
                </a:lnTo>
                <a:cubicBezTo>
                  <a:pt x="3295650" y="394509"/>
                  <a:pt x="3261534" y="428625"/>
                  <a:pt x="32194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>
                  <a:alpha val="20000"/>
                </a:srgbClr>
              </a:gs>
              <a:gs pos="100000">
                <a:srgbClr val="3D5AFE">
                  <a:alpha val="20000"/>
                </a:srgbClr>
              </a:gs>
            </a:gsLst>
            <a:lin ang="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5086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2" name="Text 20"/>
          <p:cNvSpPr/>
          <p:nvPr/>
        </p:nvSpPr>
        <p:spPr>
          <a:xfrm>
            <a:off x="971550" y="5067300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2-minute configuration via Tenant Portal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1775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25" name="Shape 23"/>
          <p:cNvSpPr/>
          <p:nvPr/>
        </p:nvSpPr>
        <p:spPr>
          <a:xfrm>
            <a:off x="4632275" y="160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203775" y="1476375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Pragmatic Play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03775" y="1781175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Slots &amp; Live Games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0825" y="2181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4460825" y="21812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0" name="Shape 28"/>
          <p:cNvSpPr/>
          <p:nvPr/>
        </p:nvSpPr>
        <p:spPr>
          <a:xfrm>
            <a:off x="4613225" y="2324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1" name="Text 29"/>
          <p:cNvSpPr/>
          <p:nvPr/>
        </p:nvSpPr>
        <p:spPr>
          <a:xfrm>
            <a:off x="4837063" y="2295525"/>
            <a:ext cx="1200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250+ Slots &amp; Bingo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4175" y="25241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Massive portfolio with Drops &amp; Wins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60825" y="2905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4460825" y="29051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5" name="Shape 33"/>
          <p:cNvSpPr/>
          <p:nvPr/>
        </p:nvSpPr>
        <p:spPr>
          <a:xfrm>
            <a:off x="4604891" y="30480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16669"/>
                </a:moveTo>
                <a:cubicBezTo>
                  <a:pt x="15809" y="16669"/>
                  <a:pt x="8334" y="24144"/>
                  <a:pt x="8334" y="33337"/>
                </a:cubicBezTo>
                <a:lnTo>
                  <a:pt x="8334" y="100013"/>
                </a:lnTo>
                <a:cubicBezTo>
                  <a:pt x="8334" y="109206"/>
                  <a:pt x="15809" y="116681"/>
                  <a:pt x="25003" y="116681"/>
                </a:cubicBezTo>
                <a:lnTo>
                  <a:pt x="91678" y="116681"/>
                </a:lnTo>
                <a:cubicBezTo>
                  <a:pt x="100872" y="116681"/>
                  <a:pt x="108347" y="109206"/>
                  <a:pt x="108347" y="100013"/>
                </a:cubicBezTo>
                <a:lnTo>
                  <a:pt x="108347" y="33337"/>
                </a:lnTo>
                <a:cubicBezTo>
                  <a:pt x="108347" y="24144"/>
                  <a:pt x="100872" y="16669"/>
                  <a:pt x="91678" y="16669"/>
                </a:cubicBezTo>
                <a:lnTo>
                  <a:pt x="25003" y="16669"/>
                </a:lnTo>
                <a:close/>
                <a:moveTo>
                  <a:pt x="120848" y="87511"/>
                </a:moveTo>
                <a:lnTo>
                  <a:pt x="139991" y="102825"/>
                </a:lnTo>
                <a:cubicBezTo>
                  <a:pt x="141085" y="103711"/>
                  <a:pt x="142440" y="104180"/>
                  <a:pt x="143846" y="104180"/>
                </a:cubicBezTo>
                <a:cubicBezTo>
                  <a:pt x="147258" y="104180"/>
                  <a:pt x="150019" y="101419"/>
                  <a:pt x="150019" y="98007"/>
                </a:cubicBezTo>
                <a:lnTo>
                  <a:pt x="150019" y="35343"/>
                </a:lnTo>
                <a:cubicBezTo>
                  <a:pt x="150019" y="31931"/>
                  <a:pt x="147258" y="29170"/>
                  <a:pt x="143846" y="29170"/>
                </a:cubicBezTo>
                <a:cubicBezTo>
                  <a:pt x="142440" y="29170"/>
                  <a:pt x="141085" y="29639"/>
                  <a:pt x="139991" y="30525"/>
                </a:cubicBezTo>
                <a:lnTo>
                  <a:pt x="120848" y="45839"/>
                </a:lnTo>
                <a:lnTo>
                  <a:pt x="120848" y="87511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36" name="Text 34"/>
          <p:cNvSpPr/>
          <p:nvPr/>
        </p:nvSpPr>
        <p:spPr>
          <a:xfrm>
            <a:off x="4837063" y="3019425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Games Portfolio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94175" y="32480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Including Mega Wheel and Sweet Bonanza CandyLand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46538" y="4948238"/>
            <a:ext cx="3295650" cy="428625"/>
          </a:xfrm>
          <a:custGeom>
            <a:avLst/>
            <a:gdLst/>
            <a:ahLst/>
            <a:cxnLst/>
            <a:rect l="l" t="t" r="r" b="b"/>
            <a:pathLst>
              <a:path w="3295650" h="4286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352424"/>
                </a:lnTo>
                <a:cubicBezTo>
                  <a:pt x="3295650" y="394509"/>
                  <a:pt x="3261534" y="428625"/>
                  <a:pt x="32194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>
                  <a:alpha val="20000"/>
                </a:srgbClr>
              </a:gs>
              <a:gs pos="100000">
                <a:srgbClr val="3D5AFE">
                  <a:alpha val="20000"/>
                </a:srgbClr>
              </a:gs>
            </a:gsLst>
            <a:lin ang="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84650" y="5086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19050" y="76200"/>
                </a:moveTo>
                <a:cubicBezTo>
                  <a:pt x="19050" y="70931"/>
                  <a:pt x="23306" y="66675"/>
                  <a:pt x="2857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28575" y="85725"/>
                </a:lnTo>
                <a:cubicBezTo>
                  <a:pt x="23306" y="85725"/>
                  <a:pt x="19050" y="81469"/>
                  <a:pt x="1905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0" name="Text 38"/>
          <p:cNvSpPr/>
          <p:nvPr/>
        </p:nvSpPr>
        <p:spPr>
          <a:xfrm>
            <a:off x="4832300" y="5067300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Event Streaming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7338" y="1223963"/>
            <a:ext cx="3695700" cy="4352925"/>
          </a:xfrm>
          <a:custGeom>
            <a:avLst/>
            <a:gdLst/>
            <a:ahLst/>
            <a:cxnLst/>
            <a:rect l="l" t="t" r="r" b="b"/>
            <a:pathLst>
              <a:path w="3695700" h="43529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38617"/>
                </a:lnTo>
                <a:cubicBezTo>
                  <a:pt x="3695700" y="4301748"/>
                  <a:pt x="3644523" y="4352925"/>
                  <a:pt x="3581392" y="4352925"/>
                </a:cubicBezTo>
                <a:lnTo>
                  <a:pt x="114308" y="4352925"/>
                </a:lnTo>
                <a:cubicBezTo>
                  <a:pt x="51177" y="4352925"/>
                  <a:pt x="0" y="4301748"/>
                  <a:pt x="0" y="42386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600" y="1419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</p:spPr>
      </p:sp>
      <p:sp>
        <p:nvSpPr>
          <p:cNvPr id="43" name="Shape 41"/>
          <p:cNvSpPr/>
          <p:nvPr/>
        </p:nvSpPr>
        <p:spPr>
          <a:xfrm>
            <a:off x="8478813" y="16097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9064600" y="1476375"/>
            <a:ext cx="971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64600" y="1781175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Premium Slots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1650" y="2181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8321650" y="21812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8" name="Shape 46"/>
          <p:cNvSpPr/>
          <p:nvPr/>
        </p:nvSpPr>
        <p:spPr>
          <a:xfrm>
            <a:off x="8482385" y="2324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-8334"/>
                </a:moveTo>
                <a:cubicBezTo>
                  <a:pt x="37947" y="-8334"/>
                  <a:pt x="41672" y="-4610"/>
                  <a:pt x="41672" y="0"/>
                </a:cubicBezTo>
                <a:lnTo>
                  <a:pt x="41672" y="25003"/>
                </a:lnTo>
                <a:lnTo>
                  <a:pt x="75009" y="25003"/>
                </a:lnTo>
                <a:lnTo>
                  <a:pt x="75009" y="0"/>
                </a:lnTo>
                <a:cubicBezTo>
                  <a:pt x="75009" y="-4610"/>
                  <a:pt x="78734" y="-8334"/>
                  <a:pt x="83344" y="-8334"/>
                </a:cubicBezTo>
                <a:cubicBezTo>
                  <a:pt x="87954" y="-8334"/>
                  <a:pt x="91678" y="-4610"/>
                  <a:pt x="91678" y="0"/>
                </a:cubicBezTo>
                <a:lnTo>
                  <a:pt x="91678" y="25003"/>
                </a:ln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cubicBezTo>
                  <a:pt x="116681" y="37947"/>
                  <a:pt x="112957" y="41672"/>
                  <a:pt x="108347" y="41672"/>
                </a:cubicBezTo>
                <a:lnTo>
                  <a:pt x="108347" y="58341"/>
                </a:lnTo>
                <a:cubicBezTo>
                  <a:pt x="108347" y="83109"/>
                  <a:pt x="90324" y="103685"/>
                  <a:pt x="66675" y="107644"/>
                </a:cubicBezTo>
                <a:lnTo>
                  <a:pt x="66675" y="125016"/>
                </a:lnTo>
                <a:cubicBezTo>
                  <a:pt x="66675" y="129626"/>
                  <a:pt x="62951" y="133350"/>
                  <a:pt x="58341" y="133350"/>
                </a:cubicBezTo>
                <a:cubicBezTo>
                  <a:pt x="53731" y="133350"/>
                  <a:pt x="50006" y="129626"/>
                  <a:pt x="50006" y="125016"/>
                </a:cubicBezTo>
                <a:lnTo>
                  <a:pt x="50006" y="107644"/>
                </a:lnTo>
                <a:cubicBezTo>
                  <a:pt x="26357" y="103685"/>
                  <a:pt x="8334" y="83109"/>
                  <a:pt x="8334" y="58341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lnTo>
                  <a:pt x="25003" y="0"/>
                </a:lnTo>
                <a:cubicBezTo>
                  <a:pt x="25003" y="-4610"/>
                  <a:pt x="28728" y="-8334"/>
                  <a:pt x="33337" y="-8334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9" name="Text 47"/>
          <p:cNvSpPr/>
          <p:nvPr/>
        </p:nvSpPr>
        <p:spPr>
          <a:xfrm>
            <a:off x="8697888" y="2295525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Casino API Integration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55000" y="25241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Robust API with comprehensive game data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1650" y="2905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381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321650" y="29051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53" name="Shape 51"/>
          <p:cNvSpPr/>
          <p:nvPr/>
        </p:nvSpPr>
        <p:spPr>
          <a:xfrm>
            <a:off x="8474050" y="3048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54" name="Text 52"/>
          <p:cNvSpPr/>
          <p:nvPr/>
        </p:nvSpPr>
        <p:spPr>
          <a:xfrm>
            <a:off x="8697888" y="3019425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High-Retention Slots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55000" y="3248025"/>
            <a:ext cx="3095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Starburst, Gonzo's Quest, Dead or Alive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07363" y="4948238"/>
            <a:ext cx="3295650" cy="428625"/>
          </a:xfrm>
          <a:custGeom>
            <a:avLst/>
            <a:gdLst/>
            <a:ahLst/>
            <a:cxnLst/>
            <a:rect l="l" t="t" r="r" b="b"/>
            <a:pathLst>
              <a:path w="3295650" h="428625">
                <a:moveTo>
                  <a:pt x="76201" y="0"/>
                </a:moveTo>
                <a:lnTo>
                  <a:pt x="3219449" y="0"/>
                </a:lnTo>
                <a:cubicBezTo>
                  <a:pt x="3261534" y="0"/>
                  <a:pt x="3295650" y="34116"/>
                  <a:pt x="3295650" y="76201"/>
                </a:cubicBezTo>
                <a:lnTo>
                  <a:pt x="3295650" y="352424"/>
                </a:lnTo>
                <a:cubicBezTo>
                  <a:pt x="3295650" y="394509"/>
                  <a:pt x="3261534" y="428625"/>
                  <a:pt x="32194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>
                  <a:alpha val="20000"/>
                </a:srgbClr>
              </a:gs>
              <a:gs pos="100000">
                <a:srgbClr val="3D5AFE">
                  <a:alpha val="20000"/>
                </a:srgbClr>
              </a:gs>
            </a:gsLst>
            <a:lin ang="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26425" y="50863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3168" y="32802"/>
                </a:moveTo>
                <a:cubicBezTo>
                  <a:pt x="100846" y="29319"/>
                  <a:pt x="96500" y="27742"/>
                  <a:pt x="92482" y="28962"/>
                </a:cubicBezTo>
                <a:cubicBezTo>
                  <a:pt x="88463" y="30182"/>
                  <a:pt x="85725" y="33903"/>
                  <a:pt x="85725" y="38100"/>
                </a:cubicBezTo>
                <a:lnTo>
                  <a:pt x="85725" y="114300"/>
                </a:lnTo>
                <a:cubicBezTo>
                  <a:pt x="85725" y="119569"/>
                  <a:pt x="89981" y="123825"/>
                  <a:pt x="95250" y="123825"/>
                </a:cubicBezTo>
                <a:cubicBezTo>
                  <a:pt x="100519" y="123825"/>
                  <a:pt x="104775" y="119569"/>
                  <a:pt x="104775" y="114300"/>
                </a:cubicBezTo>
                <a:lnTo>
                  <a:pt x="104775" y="69562"/>
                </a:lnTo>
                <a:lnTo>
                  <a:pt x="125432" y="100548"/>
                </a:lnTo>
                <a:cubicBezTo>
                  <a:pt x="127189" y="103197"/>
                  <a:pt x="130165" y="104775"/>
                  <a:pt x="133350" y="104775"/>
                </a:cubicBezTo>
                <a:cubicBezTo>
                  <a:pt x="136535" y="104775"/>
                  <a:pt x="139511" y="103197"/>
                  <a:pt x="141268" y="100548"/>
                </a:cubicBezTo>
                <a:lnTo>
                  <a:pt x="161925" y="69562"/>
                </a:lnTo>
                <a:lnTo>
                  <a:pt x="161925" y="114300"/>
                </a:lnTo>
                <a:cubicBezTo>
                  <a:pt x="161925" y="119569"/>
                  <a:pt x="166181" y="123825"/>
                  <a:pt x="171450" y="123825"/>
                </a:cubicBezTo>
                <a:cubicBezTo>
                  <a:pt x="176719" y="123825"/>
                  <a:pt x="180975" y="119569"/>
                  <a:pt x="180975" y="114300"/>
                </a:cubicBezTo>
                <a:lnTo>
                  <a:pt x="180975" y="38100"/>
                </a:lnTo>
                <a:cubicBezTo>
                  <a:pt x="180975" y="33903"/>
                  <a:pt x="178237" y="30212"/>
                  <a:pt x="174218" y="28992"/>
                </a:cubicBezTo>
                <a:cubicBezTo>
                  <a:pt x="170200" y="27771"/>
                  <a:pt x="165854" y="29319"/>
                  <a:pt x="163532" y="32831"/>
                </a:cubicBezTo>
                <a:lnTo>
                  <a:pt x="133350" y="78075"/>
                </a:lnTo>
                <a:lnTo>
                  <a:pt x="103168" y="32802"/>
                </a:lnTo>
                <a:close/>
                <a:moveTo>
                  <a:pt x="9525" y="28575"/>
                </a:moveTo>
                <a:cubicBezTo>
                  <a:pt x="4256" y="28575"/>
                  <a:pt x="0" y="32831"/>
                  <a:pt x="0" y="38100"/>
                </a:cubicBezTo>
                <a:cubicBezTo>
                  <a:pt x="0" y="43369"/>
                  <a:pt x="4256" y="47625"/>
                  <a:pt x="9525" y="47625"/>
                </a:cubicBezTo>
                <a:lnTo>
                  <a:pt x="28575" y="47625"/>
                </a:lnTo>
                <a:lnTo>
                  <a:pt x="28575" y="114300"/>
                </a:lnTo>
                <a:cubicBezTo>
                  <a:pt x="28575" y="119569"/>
                  <a:pt x="32831" y="123825"/>
                  <a:pt x="38100" y="123825"/>
                </a:cubicBezTo>
                <a:cubicBezTo>
                  <a:pt x="43369" y="123825"/>
                  <a:pt x="47625" y="119569"/>
                  <a:pt x="47625" y="114300"/>
                </a:cubicBezTo>
                <a:lnTo>
                  <a:pt x="47625" y="47625"/>
                </a:lnTo>
                <a:lnTo>
                  <a:pt x="66675" y="47625"/>
                </a:lnTo>
                <a:cubicBezTo>
                  <a:pt x="71944" y="47625"/>
                  <a:pt x="76200" y="43369"/>
                  <a:pt x="76200" y="38100"/>
                </a:cubicBezTo>
                <a:cubicBezTo>
                  <a:pt x="76200" y="32831"/>
                  <a:pt x="71944" y="28575"/>
                  <a:pt x="66675" y="28575"/>
                </a:cubicBezTo>
                <a:lnTo>
                  <a:pt x="9525" y="28575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8" name="Text 56"/>
          <p:cNvSpPr/>
          <p:nvPr/>
        </p:nvSpPr>
        <p:spPr>
          <a:xfrm>
            <a:off x="8693125" y="5067300"/>
            <a:ext cx="1562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Branded Games Available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5763" y="5757863"/>
            <a:ext cx="2486025" cy="695325"/>
          </a:xfrm>
          <a:custGeom>
            <a:avLst/>
            <a:gdLst/>
            <a:ahLst/>
            <a:cxnLst/>
            <a:rect l="l" t="t" r="r" b="b"/>
            <a:pathLst>
              <a:path w="2486025" h="695325">
                <a:moveTo>
                  <a:pt x="76201" y="0"/>
                </a:moveTo>
                <a:lnTo>
                  <a:pt x="2409824" y="0"/>
                </a:lnTo>
                <a:cubicBezTo>
                  <a:pt x="2451909" y="0"/>
                  <a:pt x="2486025" y="34116"/>
                  <a:pt x="2486025" y="76201"/>
                </a:cubicBezTo>
                <a:lnTo>
                  <a:pt x="2486025" y="619124"/>
                </a:lnTo>
                <a:cubicBezTo>
                  <a:pt x="2486025" y="661209"/>
                  <a:pt x="2451909" y="695325"/>
                  <a:pt x="24098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875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45" y="9525"/>
                </a:moveTo>
                <a:lnTo>
                  <a:pt x="43964" y="9525"/>
                </a:lnTo>
                <a:cubicBezTo>
                  <a:pt x="35213" y="9525"/>
                  <a:pt x="27563" y="15508"/>
                  <a:pt x="25479" y="23991"/>
                </a:cubicBezTo>
                <a:lnTo>
                  <a:pt x="417" y="125164"/>
                </a:lnTo>
                <a:cubicBezTo>
                  <a:pt x="-1816" y="134154"/>
                  <a:pt x="5001" y="142875"/>
                  <a:pt x="14288" y="142875"/>
                </a:cubicBezTo>
                <a:lnTo>
                  <a:pt x="66645" y="142875"/>
                </a:lnTo>
                <a:lnTo>
                  <a:pt x="66645" y="123825"/>
                </a:lnTo>
                <a:cubicBezTo>
                  <a:pt x="66645" y="118556"/>
                  <a:pt x="70902" y="114300"/>
                  <a:pt x="76170" y="114300"/>
                </a:cubicBezTo>
                <a:cubicBezTo>
                  <a:pt x="81439" y="114300"/>
                  <a:pt x="85695" y="118556"/>
                  <a:pt x="85695" y="123825"/>
                </a:cubicBezTo>
                <a:lnTo>
                  <a:pt x="85695" y="142875"/>
                </a:lnTo>
                <a:lnTo>
                  <a:pt x="138113" y="142875"/>
                </a:lnTo>
                <a:cubicBezTo>
                  <a:pt x="147399" y="142875"/>
                  <a:pt x="154216" y="134154"/>
                  <a:pt x="151983" y="125164"/>
                </a:cubicBezTo>
                <a:lnTo>
                  <a:pt x="126950" y="23991"/>
                </a:lnTo>
                <a:cubicBezTo>
                  <a:pt x="124837" y="15508"/>
                  <a:pt x="117217" y="9525"/>
                  <a:pt x="108436" y="9525"/>
                </a:cubicBezTo>
                <a:lnTo>
                  <a:pt x="85695" y="9525"/>
                </a:lnTo>
                <a:lnTo>
                  <a:pt x="85695" y="28575"/>
                </a:lnTo>
                <a:cubicBezTo>
                  <a:pt x="85695" y="33844"/>
                  <a:pt x="81439" y="38100"/>
                  <a:pt x="76170" y="38100"/>
                </a:cubicBezTo>
                <a:cubicBezTo>
                  <a:pt x="70902" y="38100"/>
                  <a:pt x="66645" y="33844"/>
                  <a:pt x="66645" y="28575"/>
                </a:cubicBezTo>
                <a:lnTo>
                  <a:pt x="66645" y="9525"/>
                </a:lnTo>
                <a:close/>
                <a:moveTo>
                  <a:pt x="85695" y="66675"/>
                </a:moveTo>
                <a:lnTo>
                  <a:pt x="85695" y="85725"/>
                </a:lnTo>
                <a:cubicBezTo>
                  <a:pt x="85695" y="90994"/>
                  <a:pt x="81439" y="95250"/>
                  <a:pt x="76170" y="95250"/>
                </a:cubicBezTo>
                <a:cubicBezTo>
                  <a:pt x="70902" y="95250"/>
                  <a:pt x="66645" y="90994"/>
                  <a:pt x="66645" y="85725"/>
                </a:cubicBezTo>
                <a:lnTo>
                  <a:pt x="66645" y="66675"/>
                </a:lnTo>
                <a:cubicBezTo>
                  <a:pt x="66645" y="61406"/>
                  <a:pt x="70902" y="57150"/>
                  <a:pt x="76170" y="57150"/>
                </a:cubicBezTo>
                <a:cubicBezTo>
                  <a:pt x="81439" y="57150"/>
                  <a:pt x="85695" y="61406"/>
                  <a:pt x="85695" y="66675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61" name="Text 59"/>
          <p:cNvSpPr/>
          <p:nvPr/>
        </p:nvSpPr>
        <p:spPr>
          <a:xfrm>
            <a:off x="771525" y="5876925"/>
            <a:ext cx="117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Q3 2026 Roadmap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4825" y="6105525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504825" y="6105525"/>
            <a:ext cx="6953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Play'n GO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19944" y="6105525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1219944" y="6105525"/>
            <a:ext cx="6953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 Tiger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931268" y="6105525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190499"/>
                </a:lnTo>
                <a:cubicBezTo>
                  <a:pt x="819150" y="211542"/>
                  <a:pt x="802092" y="228600"/>
                  <a:pt x="781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1931268" y="6105525"/>
            <a:ext cx="8763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Microgaming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939159" y="5738813"/>
            <a:ext cx="2828925" cy="733425"/>
          </a:xfrm>
          <a:custGeom>
            <a:avLst/>
            <a:gdLst/>
            <a:ahLst/>
            <a:cxnLst/>
            <a:rect l="l" t="t" r="r" b="b"/>
            <a:pathLst>
              <a:path w="2828925" h="733425">
                <a:moveTo>
                  <a:pt x="76203" y="0"/>
                </a:moveTo>
                <a:lnTo>
                  <a:pt x="2752722" y="0"/>
                </a:lnTo>
                <a:cubicBezTo>
                  <a:pt x="2794780" y="0"/>
                  <a:pt x="2828925" y="34145"/>
                  <a:pt x="2828925" y="76203"/>
                </a:cubicBezTo>
                <a:lnTo>
                  <a:pt x="2828925" y="657222"/>
                </a:lnTo>
                <a:cubicBezTo>
                  <a:pt x="2828925" y="699280"/>
                  <a:pt x="2794780" y="733425"/>
                  <a:pt x="27527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58221" y="60102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70" name="Text 68"/>
          <p:cNvSpPr/>
          <p:nvPr/>
        </p:nvSpPr>
        <p:spPr>
          <a:xfrm>
            <a:off x="5410646" y="5857875"/>
            <a:ext cx="2352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847+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410646" y="6162675"/>
            <a:ext cx="2305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Games available via Game Catalog API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831139" y="5891213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76201" y="0"/>
                </a:moveTo>
                <a:lnTo>
                  <a:pt x="1895474" y="0"/>
                </a:lnTo>
                <a:cubicBezTo>
                  <a:pt x="1937559" y="0"/>
                  <a:pt x="1971675" y="34116"/>
                  <a:pt x="1971675" y="76201"/>
                </a:cubicBezTo>
                <a:lnTo>
                  <a:pt x="1971675" y="352424"/>
                </a:lnTo>
                <a:cubicBezTo>
                  <a:pt x="1971675" y="394509"/>
                  <a:pt x="1937559" y="428625"/>
                  <a:pt x="18954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50202" y="6010275"/>
            <a:ext cx="1562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Explore sandbox demo →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539538" y="6038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5634" y="5157"/>
                </a:moveTo>
                <a:cubicBezTo>
                  <a:pt x="76937" y="2032"/>
                  <a:pt x="79984" y="0"/>
                  <a:pt x="83344" y="0"/>
                </a:cubicBezTo>
                <a:lnTo>
                  <a:pt x="125016" y="0"/>
                </a:lnTo>
                <a:cubicBezTo>
                  <a:pt x="129626" y="0"/>
                  <a:pt x="133350" y="3724"/>
                  <a:pt x="133350" y="8334"/>
                </a:cubicBezTo>
                <a:lnTo>
                  <a:pt x="133350" y="50006"/>
                </a:lnTo>
                <a:cubicBezTo>
                  <a:pt x="133350" y="53366"/>
                  <a:pt x="131318" y="56413"/>
                  <a:pt x="128193" y="57716"/>
                </a:cubicBezTo>
                <a:cubicBezTo>
                  <a:pt x="125068" y="59018"/>
                  <a:pt x="121500" y="58289"/>
                  <a:pt x="119103" y="55918"/>
                </a:cubicBezTo>
                <a:lnTo>
                  <a:pt x="104180" y="40969"/>
                </a:lnTo>
                <a:lnTo>
                  <a:pt x="64227" y="80896"/>
                </a:lnTo>
                <a:cubicBezTo>
                  <a:pt x="60971" y="84151"/>
                  <a:pt x="55684" y="84151"/>
                  <a:pt x="52428" y="80896"/>
                </a:cubicBezTo>
                <a:cubicBezTo>
                  <a:pt x="49173" y="77640"/>
                  <a:pt x="49173" y="72353"/>
                  <a:pt x="52428" y="69097"/>
                </a:cubicBezTo>
                <a:lnTo>
                  <a:pt x="92381" y="29170"/>
                </a:lnTo>
                <a:lnTo>
                  <a:pt x="77458" y="14221"/>
                </a:lnTo>
                <a:cubicBezTo>
                  <a:pt x="75061" y="11824"/>
                  <a:pt x="74358" y="8256"/>
                  <a:pt x="75660" y="5131"/>
                </a:cubicBezTo>
                <a:close/>
                <a:moveTo>
                  <a:pt x="0" y="45839"/>
                </a:moveTo>
                <a:cubicBezTo>
                  <a:pt x="0" y="34327"/>
                  <a:pt x="9324" y="25003"/>
                  <a:pt x="20836" y="25003"/>
                </a:cubicBezTo>
                <a:lnTo>
                  <a:pt x="41672" y="25003"/>
                </a:lnTo>
                <a:cubicBezTo>
                  <a:pt x="46282" y="25003"/>
                  <a:pt x="50006" y="28728"/>
                  <a:pt x="50006" y="33337"/>
                </a:cubicBezTo>
                <a:cubicBezTo>
                  <a:pt x="50006" y="37947"/>
                  <a:pt x="46282" y="41672"/>
                  <a:pt x="41672" y="41672"/>
                </a:cubicBezTo>
                <a:lnTo>
                  <a:pt x="20836" y="41672"/>
                </a:lnTo>
                <a:cubicBezTo>
                  <a:pt x="18544" y="41672"/>
                  <a:pt x="16669" y="43547"/>
                  <a:pt x="16669" y="45839"/>
                </a:cubicBezTo>
                <a:lnTo>
                  <a:pt x="16669" y="112514"/>
                </a:lnTo>
                <a:cubicBezTo>
                  <a:pt x="16669" y="114806"/>
                  <a:pt x="18544" y="116681"/>
                  <a:pt x="20836" y="116681"/>
                </a:cubicBezTo>
                <a:lnTo>
                  <a:pt x="87511" y="116681"/>
                </a:lnTo>
                <a:cubicBezTo>
                  <a:pt x="89803" y="116681"/>
                  <a:pt x="91678" y="114806"/>
                  <a:pt x="91678" y="112514"/>
                </a:cubicBezTo>
                <a:lnTo>
                  <a:pt x="91678" y="91678"/>
                </a:lnTo>
                <a:cubicBezTo>
                  <a:pt x="91678" y="87068"/>
                  <a:pt x="95403" y="83344"/>
                  <a:pt x="100013" y="83344"/>
                </a:cubicBezTo>
                <a:cubicBezTo>
                  <a:pt x="104622" y="83344"/>
                  <a:pt x="108347" y="87068"/>
                  <a:pt x="108347" y="91678"/>
                </a:cubicBezTo>
                <a:lnTo>
                  <a:pt x="108347" y="112514"/>
                </a:lnTo>
                <a:cubicBezTo>
                  <a:pt x="108347" y="124026"/>
                  <a:pt x="99023" y="133350"/>
                  <a:pt x="87511" y="133350"/>
                </a:cubicBezTo>
                <a:lnTo>
                  <a:pt x="20836" y="133350"/>
                </a:lnTo>
                <a:cubicBezTo>
                  <a:pt x="9324" y="133350"/>
                  <a:pt x="0" y="124026"/>
                  <a:pt x="0" y="112514"/>
                </a:cubicBezTo>
                <a:lnTo>
                  <a:pt x="0" y="45839"/>
                </a:lnTo>
                <a:close/>
              </a:path>
            </a:pathLst>
          </a:custGeom>
          <a:solidFill>
            <a:srgbClr val="00E5FF"/>
          </a:solid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410128"/>
            <a:ext cx="37284" cy="298275"/>
          </a:xfrm>
          <a:custGeom>
            <a:avLst/>
            <a:gdLst/>
            <a:ahLst/>
            <a:cxnLst/>
            <a:rect l="l" t="t" r="r" b="b"/>
            <a:pathLst>
              <a:path w="37284" h="298275">
                <a:moveTo>
                  <a:pt x="0" y="0"/>
                </a:moveTo>
                <a:lnTo>
                  <a:pt x="37284" y="0"/>
                </a:lnTo>
                <a:lnTo>
                  <a:pt x="37284" y="298275"/>
                </a:lnTo>
                <a:lnTo>
                  <a:pt x="0" y="298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21982" y="372844"/>
            <a:ext cx="3308991" cy="372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NeoStrike Starter Kit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1982" y="820257"/>
            <a:ext cx="1137174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 tools. One command. Production-ready in days.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505" y="1197761"/>
            <a:ext cx="3709798" cy="4036037"/>
          </a:xfrm>
          <a:custGeom>
            <a:avLst/>
            <a:gdLst/>
            <a:ahLst/>
            <a:cxnLst/>
            <a:rect l="l" t="t" r="r" b="b"/>
            <a:pathLst>
              <a:path w="3709798" h="4036037">
                <a:moveTo>
                  <a:pt x="111850" y="0"/>
                </a:moveTo>
                <a:lnTo>
                  <a:pt x="3597948" y="0"/>
                </a:lnTo>
                <a:cubicBezTo>
                  <a:pt x="3659721" y="0"/>
                  <a:pt x="3709798" y="50077"/>
                  <a:pt x="3709798" y="111850"/>
                </a:cubicBezTo>
                <a:lnTo>
                  <a:pt x="3709798" y="3924186"/>
                </a:lnTo>
                <a:cubicBezTo>
                  <a:pt x="3709798" y="3985960"/>
                  <a:pt x="3659721" y="4036037"/>
                  <a:pt x="3597948" y="4036037"/>
                </a:cubicBezTo>
                <a:lnTo>
                  <a:pt x="111850" y="4036037"/>
                </a:lnTo>
                <a:cubicBezTo>
                  <a:pt x="50077" y="4036037"/>
                  <a:pt x="0" y="3985960"/>
                  <a:pt x="0" y="3924186"/>
                </a:cubicBezTo>
                <a:lnTo>
                  <a:pt x="0" y="111850"/>
                </a:lnTo>
                <a:cubicBezTo>
                  <a:pt x="0" y="50118"/>
                  <a:pt x="50118" y="0"/>
                  <a:pt x="1118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587" y="1388844"/>
            <a:ext cx="447413" cy="447413"/>
          </a:xfrm>
          <a:custGeom>
            <a:avLst/>
            <a:gdLst/>
            <a:ahLst/>
            <a:cxnLst/>
            <a:rect l="l" t="t" r="r" b="b"/>
            <a:pathLst>
              <a:path w="447413" h="447413">
                <a:moveTo>
                  <a:pt x="111853" y="0"/>
                </a:moveTo>
                <a:lnTo>
                  <a:pt x="335560" y="0"/>
                </a:lnTo>
                <a:cubicBezTo>
                  <a:pt x="397293" y="0"/>
                  <a:pt x="447413" y="50120"/>
                  <a:pt x="447413" y="111853"/>
                </a:cubicBezTo>
                <a:lnTo>
                  <a:pt x="447413" y="335560"/>
                </a:lnTo>
                <a:cubicBezTo>
                  <a:pt x="447413" y="397293"/>
                  <a:pt x="397293" y="447413"/>
                  <a:pt x="335560" y="447413"/>
                </a:cubicBezTo>
                <a:lnTo>
                  <a:pt x="111853" y="447413"/>
                </a:lnTo>
                <a:cubicBezTo>
                  <a:pt x="50120" y="447413"/>
                  <a:pt x="0" y="397293"/>
                  <a:pt x="0" y="335560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710734" y="1519339"/>
            <a:ext cx="163119" cy="186422"/>
          </a:xfrm>
          <a:custGeom>
            <a:avLst/>
            <a:gdLst/>
            <a:ahLst/>
            <a:cxnLst/>
            <a:rect l="l" t="t" r="r" b="b"/>
            <a:pathLst>
              <a:path w="163119" h="186422">
                <a:moveTo>
                  <a:pt x="163119" y="74933"/>
                </a:moveTo>
                <a:cubicBezTo>
                  <a:pt x="157731" y="78501"/>
                  <a:pt x="151541" y="81378"/>
                  <a:pt x="145096" y="83671"/>
                </a:cubicBezTo>
                <a:cubicBezTo>
                  <a:pt x="127983" y="89788"/>
                  <a:pt x="105518" y="93211"/>
                  <a:pt x="81560" y="93211"/>
                </a:cubicBezTo>
                <a:cubicBezTo>
                  <a:pt x="57601" y="93211"/>
                  <a:pt x="35100" y="89752"/>
                  <a:pt x="18023" y="83671"/>
                </a:cubicBezTo>
                <a:cubicBezTo>
                  <a:pt x="11615" y="81378"/>
                  <a:pt x="5389" y="78501"/>
                  <a:pt x="0" y="74933"/>
                </a:cubicBezTo>
                <a:lnTo>
                  <a:pt x="0" y="104862"/>
                </a:lnTo>
                <a:cubicBezTo>
                  <a:pt x="0" y="120956"/>
                  <a:pt x="36520" y="133991"/>
                  <a:pt x="81560" y="133991"/>
                </a:cubicBezTo>
                <a:cubicBezTo>
                  <a:pt x="126599" y="133991"/>
                  <a:pt x="163119" y="120956"/>
                  <a:pt x="163119" y="104862"/>
                </a:cubicBezTo>
                <a:lnTo>
                  <a:pt x="163119" y="74933"/>
                </a:lnTo>
                <a:close/>
                <a:moveTo>
                  <a:pt x="163119" y="46606"/>
                </a:moveTo>
                <a:lnTo>
                  <a:pt x="163119" y="29128"/>
                </a:lnTo>
                <a:cubicBezTo>
                  <a:pt x="163119" y="13035"/>
                  <a:pt x="126599" y="0"/>
                  <a:pt x="81560" y="0"/>
                </a:cubicBezTo>
                <a:cubicBezTo>
                  <a:pt x="36520" y="0"/>
                  <a:pt x="0" y="13035"/>
                  <a:pt x="0" y="29128"/>
                </a:cubicBezTo>
                <a:lnTo>
                  <a:pt x="0" y="46606"/>
                </a:lnTo>
                <a:cubicBezTo>
                  <a:pt x="0" y="62699"/>
                  <a:pt x="36520" y="75734"/>
                  <a:pt x="81560" y="75734"/>
                </a:cubicBezTo>
                <a:cubicBezTo>
                  <a:pt x="126599" y="75734"/>
                  <a:pt x="163119" y="62699"/>
                  <a:pt x="163119" y="46606"/>
                </a:cubicBezTo>
                <a:close/>
                <a:moveTo>
                  <a:pt x="145096" y="141928"/>
                </a:moveTo>
                <a:cubicBezTo>
                  <a:pt x="128019" y="148009"/>
                  <a:pt x="105554" y="151468"/>
                  <a:pt x="81560" y="151468"/>
                </a:cubicBezTo>
                <a:cubicBezTo>
                  <a:pt x="57565" y="151468"/>
                  <a:pt x="35100" y="148009"/>
                  <a:pt x="18023" y="141928"/>
                </a:cubicBezTo>
                <a:cubicBezTo>
                  <a:pt x="11615" y="139634"/>
                  <a:pt x="5389" y="136758"/>
                  <a:pt x="0" y="133190"/>
                </a:cubicBezTo>
                <a:lnTo>
                  <a:pt x="0" y="157294"/>
                </a:lnTo>
                <a:cubicBezTo>
                  <a:pt x="0" y="173387"/>
                  <a:pt x="36520" y="186422"/>
                  <a:pt x="81560" y="186422"/>
                </a:cubicBezTo>
                <a:cubicBezTo>
                  <a:pt x="126599" y="186422"/>
                  <a:pt x="163119" y="173387"/>
                  <a:pt x="163119" y="157294"/>
                </a:cubicBezTo>
                <a:lnTo>
                  <a:pt x="163119" y="133190"/>
                </a:lnTo>
                <a:cubicBezTo>
                  <a:pt x="157731" y="136758"/>
                  <a:pt x="151541" y="139634"/>
                  <a:pt x="145096" y="1419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27853" y="1482055"/>
            <a:ext cx="1621872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Game Catalog 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7229" y="1985394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87229" y="1985394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1" name="Shape 9"/>
          <p:cNvSpPr/>
          <p:nvPr/>
        </p:nvSpPr>
        <p:spPr>
          <a:xfrm>
            <a:off x="736367" y="2125211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59258" y="1325"/>
                </a:moveTo>
                <a:cubicBezTo>
                  <a:pt x="63056" y="-433"/>
                  <a:pt x="67440" y="-433"/>
                  <a:pt x="71237" y="1325"/>
                </a:cubicBezTo>
                <a:lnTo>
                  <a:pt x="126953" y="27068"/>
                </a:lnTo>
                <a:cubicBezTo>
                  <a:pt x="129119" y="28062"/>
                  <a:pt x="130495" y="30228"/>
                  <a:pt x="130495" y="32624"/>
                </a:cubicBezTo>
                <a:cubicBezTo>
                  <a:pt x="130495" y="35020"/>
                  <a:pt x="129119" y="37186"/>
                  <a:pt x="126953" y="38180"/>
                </a:cubicBezTo>
                <a:lnTo>
                  <a:pt x="71237" y="63922"/>
                </a:lnTo>
                <a:cubicBezTo>
                  <a:pt x="67440" y="65681"/>
                  <a:pt x="63056" y="65681"/>
                  <a:pt x="59258" y="63922"/>
                </a:cubicBezTo>
                <a:lnTo>
                  <a:pt x="3543" y="38180"/>
                </a:lnTo>
                <a:cubicBezTo>
                  <a:pt x="1376" y="37161"/>
                  <a:pt x="0" y="34994"/>
                  <a:pt x="0" y="32624"/>
                </a:cubicBezTo>
                <a:cubicBezTo>
                  <a:pt x="0" y="30254"/>
                  <a:pt x="1376" y="28062"/>
                  <a:pt x="3543" y="27068"/>
                </a:cubicBezTo>
                <a:lnTo>
                  <a:pt x="59258" y="1325"/>
                </a:lnTo>
                <a:close/>
                <a:moveTo>
                  <a:pt x="12259" y="55664"/>
                </a:moveTo>
                <a:lnTo>
                  <a:pt x="54135" y="75009"/>
                </a:lnTo>
                <a:cubicBezTo>
                  <a:pt x="61195" y="78272"/>
                  <a:pt x="69326" y="78272"/>
                  <a:pt x="76386" y="75009"/>
                </a:cubicBezTo>
                <a:lnTo>
                  <a:pt x="118261" y="55664"/>
                </a:lnTo>
                <a:lnTo>
                  <a:pt x="126953" y="59691"/>
                </a:lnTo>
                <a:cubicBezTo>
                  <a:pt x="129119" y="60685"/>
                  <a:pt x="130495" y="62852"/>
                  <a:pt x="130495" y="65248"/>
                </a:cubicBezTo>
                <a:cubicBezTo>
                  <a:pt x="130495" y="67644"/>
                  <a:pt x="129119" y="69810"/>
                  <a:pt x="126953" y="70804"/>
                </a:cubicBezTo>
                <a:lnTo>
                  <a:pt x="71237" y="96546"/>
                </a:lnTo>
                <a:cubicBezTo>
                  <a:pt x="67440" y="98305"/>
                  <a:pt x="63056" y="98305"/>
                  <a:pt x="59258" y="96546"/>
                </a:cubicBezTo>
                <a:lnTo>
                  <a:pt x="3543" y="70804"/>
                </a:lnTo>
                <a:cubicBezTo>
                  <a:pt x="1376" y="69784"/>
                  <a:pt x="0" y="67618"/>
                  <a:pt x="0" y="65248"/>
                </a:cubicBezTo>
                <a:cubicBezTo>
                  <a:pt x="0" y="62877"/>
                  <a:pt x="1376" y="60685"/>
                  <a:pt x="3543" y="59691"/>
                </a:cubicBezTo>
                <a:lnTo>
                  <a:pt x="12234" y="55664"/>
                </a:lnTo>
                <a:close/>
                <a:moveTo>
                  <a:pt x="3543" y="92315"/>
                </a:moveTo>
                <a:lnTo>
                  <a:pt x="12234" y="88288"/>
                </a:lnTo>
                <a:lnTo>
                  <a:pt x="54110" y="107633"/>
                </a:lnTo>
                <a:cubicBezTo>
                  <a:pt x="61170" y="110896"/>
                  <a:pt x="69300" y="110896"/>
                  <a:pt x="76360" y="107633"/>
                </a:cubicBezTo>
                <a:lnTo>
                  <a:pt x="118236" y="88288"/>
                </a:lnTo>
                <a:lnTo>
                  <a:pt x="126927" y="92315"/>
                </a:lnTo>
                <a:cubicBezTo>
                  <a:pt x="129094" y="93309"/>
                  <a:pt x="130470" y="95476"/>
                  <a:pt x="130470" y="97872"/>
                </a:cubicBezTo>
                <a:cubicBezTo>
                  <a:pt x="130470" y="100267"/>
                  <a:pt x="129094" y="102434"/>
                  <a:pt x="126927" y="103428"/>
                </a:cubicBezTo>
                <a:lnTo>
                  <a:pt x="71212" y="129170"/>
                </a:lnTo>
                <a:cubicBezTo>
                  <a:pt x="67414" y="130929"/>
                  <a:pt x="63030" y="130929"/>
                  <a:pt x="59233" y="129170"/>
                </a:cubicBezTo>
                <a:lnTo>
                  <a:pt x="3543" y="103428"/>
                </a:lnTo>
                <a:cubicBezTo>
                  <a:pt x="1376" y="102408"/>
                  <a:pt x="0" y="100242"/>
                  <a:pt x="0" y="97872"/>
                </a:cubicBezTo>
                <a:cubicBezTo>
                  <a:pt x="0" y="95501"/>
                  <a:pt x="1376" y="93309"/>
                  <a:pt x="3543" y="92315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2" name="Text 10"/>
          <p:cNvSpPr/>
          <p:nvPr/>
        </p:nvSpPr>
        <p:spPr>
          <a:xfrm>
            <a:off x="955413" y="2097248"/>
            <a:ext cx="969394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Single Endpoint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725" y="2320954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847+ games across all providers in one API call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229" y="2693798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87229" y="2693798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6" name="Shape 14"/>
          <p:cNvSpPr/>
          <p:nvPr/>
        </p:nvSpPr>
        <p:spPr>
          <a:xfrm>
            <a:off x="736367" y="2833615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106028" y="53014"/>
                </a:moveTo>
                <a:cubicBezTo>
                  <a:pt x="106028" y="64712"/>
                  <a:pt x="102230" y="75519"/>
                  <a:pt x="95833" y="84287"/>
                </a:cubicBezTo>
                <a:lnTo>
                  <a:pt x="128100" y="116579"/>
                </a:lnTo>
                <a:cubicBezTo>
                  <a:pt x="131286" y="119765"/>
                  <a:pt x="131286" y="124939"/>
                  <a:pt x="128100" y="128125"/>
                </a:cubicBezTo>
                <a:cubicBezTo>
                  <a:pt x="124914" y="131311"/>
                  <a:pt x="119740" y="131311"/>
                  <a:pt x="116554" y="128125"/>
                </a:cubicBezTo>
                <a:lnTo>
                  <a:pt x="84287" y="95833"/>
                </a:lnTo>
                <a:cubicBezTo>
                  <a:pt x="75519" y="102230"/>
                  <a:pt x="64712" y="106028"/>
                  <a:pt x="53014" y="106028"/>
                </a:cubicBezTo>
                <a:cubicBezTo>
                  <a:pt x="23729" y="106028"/>
                  <a:pt x="0" y="82299"/>
                  <a:pt x="0" y="53014"/>
                </a:cubicBezTo>
                <a:cubicBezTo>
                  <a:pt x="0" y="23729"/>
                  <a:pt x="23729" y="0"/>
                  <a:pt x="53014" y="0"/>
                </a:cubicBezTo>
                <a:cubicBezTo>
                  <a:pt x="82299" y="0"/>
                  <a:pt x="106028" y="23729"/>
                  <a:pt x="106028" y="53014"/>
                </a:cubicBezTo>
                <a:close/>
                <a:moveTo>
                  <a:pt x="53014" y="89716"/>
                </a:moveTo>
                <a:cubicBezTo>
                  <a:pt x="73270" y="89716"/>
                  <a:pt x="89716" y="73270"/>
                  <a:pt x="89716" y="53014"/>
                </a:cubicBezTo>
                <a:cubicBezTo>
                  <a:pt x="89716" y="32757"/>
                  <a:pt x="73270" y="16312"/>
                  <a:pt x="53014" y="16312"/>
                </a:cubicBezTo>
                <a:cubicBezTo>
                  <a:pt x="32757" y="16312"/>
                  <a:pt x="16312" y="32757"/>
                  <a:pt x="16312" y="53014"/>
                </a:cubicBezTo>
                <a:cubicBezTo>
                  <a:pt x="16312" y="73270"/>
                  <a:pt x="32757" y="89716"/>
                  <a:pt x="53014" y="89716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7" name="Text 15"/>
          <p:cNvSpPr/>
          <p:nvPr/>
        </p:nvSpPr>
        <p:spPr>
          <a:xfrm>
            <a:off x="955413" y="2805651"/>
            <a:ext cx="913468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Search &amp; Filter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725" y="3029358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By provider, category, RTP, volatility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7229" y="3402202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87229" y="3402202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21" name="Shape 19"/>
          <p:cNvSpPr/>
          <p:nvPr/>
        </p:nvSpPr>
        <p:spPr>
          <a:xfrm>
            <a:off x="736367" y="3542018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32624" y="81560"/>
                </a:moveTo>
                <a:lnTo>
                  <a:pt x="6244" y="81560"/>
                </a:lnTo>
                <a:cubicBezTo>
                  <a:pt x="-102" y="81560"/>
                  <a:pt x="-4002" y="74653"/>
                  <a:pt x="-739" y="69198"/>
                </a:cubicBezTo>
                <a:lnTo>
                  <a:pt x="12744" y="46718"/>
                </a:lnTo>
                <a:cubicBezTo>
                  <a:pt x="14961" y="43023"/>
                  <a:pt x="18937" y="40780"/>
                  <a:pt x="23244" y="40780"/>
                </a:cubicBezTo>
                <a:lnTo>
                  <a:pt x="47458" y="40780"/>
                </a:lnTo>
                <a:cubicBezTo>
                  <a:pt x="66853" y="7927"/>
                  <a:pt x="95782" y="6270"/>
                  <a:pt x="115127" y="9099"/>
                </a:cubicBezTo>
                <a:cubicBezTo>
                  <a:pt x="118389" y="9583"/>
                  <a:pt x="120938" y="12132"/>
                  <a:pt x="121396" y="15369"/>
                </a:cubicBezTo>
                <a:cubicBezTo>
                  <a:pt x="124226" y="34714"/>
                  <a:pt x="122569" y="63642"/>
                  <a:pt x="89716" y="83038"/>
                </a:cubicBezTo>
                <a:lnTo>
                  <a:pt x="89716" y="107251"/>
                </a:lnTo>
                <a:cubicBezTo>
                  <a:pt x="89716" y="111558"/>
                  <a:pt x="87473" y="115534"/>
                  <a:pt x="83777" y="117752"/>
                </a:cubicBezTo>
                <a:lnTo>
                  <a:pt x="61297" y="131235"/>
                </a:lnTo>
                <a:cubicBezTo>
                  <a:pt x="55868" y="134497"/>
                  <a:pt x="48936" y="130572"/>
                  <a:pt x="48936" y="124251"/>
                </a:cubicBezTo>
                <a:lnTo>
                  <a:pt x="48936" y="97872"/>
                </a:lnTo>
                <a:cubicBezTo>
                  <a:pt x="48936" y="88875"/>
                  <a:pt x="41621" y="81560"/>
                  <a:pt x="32624" y="81560"/>
                </a:cubicBezTo>
                <a:lnTo>
                  <a:pt x="32598" y="81560"/>
                </a:lnTo>
                <a:close/>
                <a:moveTo>
                  <a:pt x="101950" y="40780"/>
                </a:moveTo>
                <a:cubicBezTo>
                  <a:pt x="101950" y="34028"/>
                  <a:pt x="96468" y="28546"/>
                  <a:pt x="89716" y="28546"/>
                </a:cubicBezTo>
                <a:cubicBezTo>
                  <a:pt x="82963" y="28546"/>
                  <a:pt x="77482" y="34028"/>
                  <a:pt x="77482" y="40780"/>
                </a:cubicBezTo>
                <a:cubicBezTo>
                  <a:pt x="77482" y="47532"/>
                  <a:pt x="82963" y="53014"/>
                  <a:pt x="89716" y="53014"/>
                </a:cubicBezTo>
                <a:cubicBezTo>
                  <a:pt x="96468" y="53014"/>
                  <a:pt x="101950" y="47532"/>
                  <a:pt x="101950" y="4078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22" name="Text 20"/>
          <p:cNvSpPr/>
          <p:nvPr/>
        </p:nvSpPr>
        <p:spPr>
          <a:xfrm>
            <a:off x="955413" y="3514055"/>
            <a:ext cx="1127853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Launch in One Call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725" y="3737761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Instant game session creation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8587" y="4819009"/>
            <a:ext cx="1491376" cy="223706"/>
          </a:xfrm>
          <a:custGeom>
            <a:avLst/>
            <a:gdLst/>
            <a:ahLst/>
            <a:cxnLst/>
            <a:rect l="l" t="t" r="r" b="b"/>
            <a:pathLst>
              <a:path w="1491376" h="223706">
                <a:moveTo>
                  <a:pt x="37285" y="0"/>
                </a:moveTo>
                <a:lnTo>
                  <a:pt x="1454091" y="0"/>
                </a:lnTo>
                <a:cubicBezTo>
                  <a:pt x="1474683" y="0"/>
                  <a:pt x="1491376" y="16693"/>
                  <a:pt x="1491376" y="37285"/>
                </a:cubicBezTo>
                <a:lnTo>
                  <a:pt x="1491376" y="186421"/>
                </a:lnTo>
                <a:cubicBezTo>
                  <a:pt x="1491376" y="207013"/>
                  <a:pt x="1474683" y="223706"/>
                  <a:pt x="1454091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68587" y="4819009"/>
            <a:ext cx="1547303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One-command scaffold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39120" y="4819009"/>
            <a:ext cx="1360881" cy="223706"/>
          </a:xfrm>
          <a:custGeom>
            <a:avLst/>
            <a:gdLst/>
            <a:ahLst/>
            <a:cxnLst/>
            <a:rect l="l" t="t" r="r" b="b"/>
            <a:pathLst>
              <a:path w="1360881" h="223706">
                <a:moveTo>
                  <a:pt x="37285" y="0"/>
                </a:moveTo>
                <a:lnTo>
                  <a:pt x="1323596" y="0"/>
                </a:lnTo>
                <a:cubicBezTo>
                  <a:pt x="1344188" y="0"/>
                  <a:pt x="1360881" y="16693"/>
                  <a:pt x="1360881" y="37285"/>
                </a:cubicBezTo>
                <a:lnTo>
                  <a:pt x="1360881" y="186421"/>
                </a:lnTo>
                <a:cubicBezTo>
                  <a:pt x="1360881" y="207013"/>
                  <a:pt x="1344188" y="223706"/>
                  <a:pt x="1323596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2139120" y="4819009"/>
            <a:ext cx="1416807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TypeScript support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4014" y="1197761"/>
            <a:ext cx="3709798" cy="4036037"/>
          </a:xfrm>
          <a:custGeom>
            <a:avLst/>
            <a:gdLst/>
            <a:ahLst/>
            <a:cxnLst/>
            <a:rect l="l" t="t" r="r" b="b"/>
            <a:pathLst>
              <a:path w="3709798" h="4036037">
                <a:moveTo>
                  <a:pt x="111850" y="0"/>
                </a:moveTo>
                <a:lnTo>
                  <a:pt x="3597948" y="0"/>
                </a:lnTo>
                <a:cubicBezTo>
                  <a:pt x="3659721" y="0"/>
                  <a:pt x="3709798" y="50077"/>
                  <a:pt x="3709798" y="111850"/>
                </a:cubicBezTo>
                <a:lnTo>
                  <a:pt x="3709798" y="3924186"/>
                </a:lnTo>
                <a:cubicBezTo>
                  <a:pt x="3709798" y="3985960"/>
                  <a:pt x="3659721" y="4036037"/>
                  <a:pt x="3597948" y="4036037"/>
                </a:cubicBezTo>
                <a:lnTo>
                  <a:pt x="111850" y="4036037"/>
                </a:lnTo>
                <a:cubicBezTo>
                  <a:pt x="50077" y="4036037"/>
                  <a:pt x="0" y="3985960"/>
                  <a:pt x="0" y="3924186"/>
                </a:cubicBezTo>
                <a:lnTo>
                  <a:pt x="0" y="111850"/>
                </a:lnTo>
                <a:cubicBezTo>
                  <a:pt x="0" y="50118"/>
                  <a:pt x="50118" y="0"/>
                  <a:pt x="1118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5096" y="1388844"/>
            <a:ext cx="447413" cy="447413"/>
          </a:xfrm>
          <a:custGeom>
            <a:avLst/>
            <a:gdLst/>
            <a:ahLst/>
            <a:cxnLst/>
            <a:rect l="l" t="t" r="r" b="b"/>
            <a:pathLst>
              <a:path w="447413" h="447413">
                <a:moveTo>
                  <a:pt x="111853" y="0"/>
                </a:moveTo>
                <a:lnTo>
                  <a:pt x="335560" y="0"/>
                </a:lnTo>
                <a:cubicBezTo>
                  <a:pt x="397293" y="0"/>
                  <a:pt x="447413" y="50120"/>
                  <a:pt x="447413" y="111853"/>
                </a:cubicBezTo>
                <a:lnTo>
                  <a:pt x="447413" y="335560"/>
                </a:lnTo>
                <a:cubicBezTo>
                  <a:pt x="447413" y="397293"/>
                  <a:pt x="397293" y="447413"/>
                  <a:pt x="335560" y="447413"/>
                </a:cubicBezTo>
                <a:lnTo>
                  <a:pt x="111853" y="447413"/>
                </a:lnTo>
                <a:cubicBezTo>
                  <a:pt x="50120" y="447413"/>
                  <a:pt x="0" y="397293"/>
                  <a:pt x="0" y="335560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30" name="Shape 28"/>
          <p:cNvSpPr/>
          <p:nvPr/>
        </p:nvSpPr>
        <p:spPr>
          <a:xfrm>
            <a:off x="4565592" y="1519339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23303" y="11651"/>
                </a:moveTo>
                <a:cubicBezTo>
                  <a:pt x="10450" y="11651"/>
                  <a:pt x="0" y="22101"/>
                  <a:pt x="0" y="34954"/>
                </a:cubicBezTo>
                <a:lnTo>
                  <a:pt x="0" y="128165"/>
                </a:lnTo>
                <a:cubicBezTo>
                  <a:pt x="0" y="141018"/>
                  <a:pt x="10450" y="151468"/>
                  <a:pt x="23303" y="151468"/>
                </a:cubicBezTo>
                <a:lnTo>
                  <a:pt x="75734" y="151468"/>
                </a:lnTo>
                <a:lnTo>
                  <a:pt x="69908" y="168945"/>
                </a:lnTo>
                <a:lnTo>
                  <a:pt x="43693" y="168945"/>
                </a:lnTo>
                <a:cubicBezTo>
                  <a:pt x="38850" y="168945"/>
                  <a:pt x="34954" y="172841"/>
                  <a:pt x="34954" y="177683"/>
                </a:cubicBezTo>
                <a:cubicBezTo>
                  <a:pt x="34954" y="182526"/>
                  <a:pt x="38850" y="186422"/>
                  <a:pt x="43693" y="186422"/>
                </a:cubicBezTo>
                <a:lnTo>
                  <a:pt x="142729" y="186422"/>
                </a:lnTo>
                <a:cubicBezTo>
                  <a:pt x="147572" y="186422"/>
                  <a:pt x="151468" y="182526"/>
                  <a:pt x="151468" y="177683"/>
                </a:cubicBezTo>
                <a:cubicBezTo>
                  <a:pt x="151468" y="172841"/>
                  <a:pt x="147572" y="168945"/>
                  <a:pt x="142729" y="168945"/>
                </a:cubicBezTo>
                <a:lnTo>
                  <a:pt x="116514" y="168945"/>
                </a:lnTo>
                <a:lnTo>
                  <a:pt x="110688" y="151468"/>
                </a:lnTo>
                <a:lnTo>
                  <a:pt x="163119" y="151468"/>
                </a:lnTo>
                <a:cubicBezTo>
                  <a:pt x="175972" y="151468"/>
                  <a:pt x="186422" y="141018"/>
                  <a:pt x="186422" y="128165"/>
                </a:cubicBezTo>
                <a:lnTo>
                  <a:pt x="186422" y="34954"/>
                </a:lnTo>
                <a:cubicBezTo>
                  <a:pt x="186422" y="22101"/>
                  <a:pt x="175972" y="11651"/>
                  <a:pt x="163119" y="11651"/>
                </a:cubicBezTo>
                <a:lnTo>
                  <a:pt x="23303" y="11651"/>
                </a:lnTo>
                <a:close/>
                <a:moveTo>
                  <a:pt x="34954" y="34954"/>
                </a:moveTo>
                <a:lnTo>
                  <a:pt x="151468" y="34954"/>
                </a:lnTo>
                <a:cubicBezTo>
                  <a:pt x="157913" y="34954"/>
                  <a:pt x="163119" y="40161"/>
                  <a:pt x="163119" y="46606"/>
                </a:cubicBezTo>
                <a:lnTo>
                  <a:pt x="163119" y="104862"/>
                </a:lnTo>
                <a:cubicBezTo>
                  <a:pt x="163119" y="111307"/>
                  <a:pt x="157913" y="116514"/>
                  <a:pt x="151468" y="116514"/>
                </a:cubicBezTo>
                <a:lnTo>
                  <a:pt x="34954" y="116514"/>
                </a:lnTo>
                <a:cubicBezTo>
                  <a:pt x="28509" y="116514"/>
                  <a:pt x="23303" y="111307"/>
                  <a:pt x="23303" y="104862"/>
                </a:cubicBezTo>
                <a:lnTo>
                  <a:pt x="23303" y="46606"/>
                </a:lnTo>
                <a:cubicBezTo>
                  <a:pt x="23303" y="40161"/>
                  <a:pt x="28509" y="34954"/>
                  <a:pt x="34954" y="3495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4994362" y="1482055"/>
            <a:ext cx="1798972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Reference Frontend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3739" y="1985394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453739" y="1985394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4" name="Shape 32"/>
          <p:cNvSpPr/>
          <p:nvPr/>
        </p:nvSpPr>
        <p:spPr>
          <a:xfrm>
            <a:off x="4602876" y="2125211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106588" y="45164"/>
                </a:moveTo>
                <a:cubicBezTo>
                  <a:pt x="105212" y="44705"/>
                  <a:pt x="103836" y="44272"/>
                  <a:pt x="102459" y="43864"/>
                </a:cubicBezTo>
                <a:cubicBezTo>
                  <a:pt x="102689" y="42921"/>
                  <a:pt x="102893" y="41978"/>
                  <a:pt x="103096" y="41035"/>
                </a:cubicBezTo>
                <a:cubicBezTo>
                  <a:pt x="106231" y="25844"/>
                  <a:pt x="104167" y="13636"/>
                  <a:pt x="97209" y="9609"/>
                </a:cubicBezTo>
                <a:cubicBezTo>
                  <a:pt x="90506" y="5760"/>
                  <a:pt x="79572" y="9762"/>
                  <a:pt x="68510" y="19396"/>
                </a:cubicBezTo>
                <a:cubicBezTo>
                  <a:pt x="67414" y="20339"/>
                  <a:pt x="66344" y="21333"/>
                  <a:pt x="65324" y="22327"/>
                </a:cubicBezTo>
                <a:cubicBezTo>
                  <a:pt x="64636" y="21664"/>
                  <a:pt x="63922" y="21002"/>
                  <a:pt x="63209" y="20364"/>
                </a:cubicBezTo>
                <a:cubicBezTo>
                  <a:pt x="51612" y="10068"/>
                  <a:pt x="39990" y="5735"/>
                  <a:pt x="33032" y="9787"/>
                </a:cubicBezTo>
                <a:cubicBezTo>
                  <a:pt x="26354" y="13661"/>
                  <a:pt x="24366" y="25156"/>
                  <a:pt x="27170" y="39531"/>
                </a:cubicBezTo>
                <a:cubicBezTo>
                  <a:pt x="27450" y="40958"/>
                  <a:pt x="27756" y="42360"/>
                  <a:pt x="28113" y="43787"/>
                </a:cubicBezTo>
                <a:cubicBezTo>
                  <a:pt x="26481" y="44246"/>
                  <a:pt x="24876" y="44756"/>
                  <a:pt x="23372" y="45291"/>
                </a:cubicBezTo>
                <a:cubicBezTo>
                  <a:pt x="9762" y="50006"/>
                  <a:pt x="0" y="57449"/>
                  <a:pt x="0" y="65146"/>
                </a:cubicBezTo>
                <a:cubicBezTo>
                  <a:pt x="0" y="73098"/>
                  <a:pt x="10399" y="81075"/>
                  <a:pt x="24544" y="85918"/>
                </a:cubicBezTo>
                <a:cubicBezTo>
                  <a:pt x="25691" y="86300"/>
                  <a:pt x="26838" y="86683"/>
                  <a:pt x="28011" y="87014"/>
                </a:cubicBezTo>
                <a:cubicBezTo>
                  <a:pt x="27628" y="88543"/>
                  <a:pt x="27297" y="90047"/>
                  <a:pt x="26991" y="91602"/>
                </a:cubicBezTo>
                <a:cubicBezTo>
                  <a:pt x="24315" y="105747"/>
                  <a:pt x="26405" y="116962"/>
                  <a:pt x="33083" y="120810"/>
                </a:cubicBezTo>
                <a:cubicBezTo>
                  <a:pt x="39964" y="124786"/>
                  <a:pt x="51535" y="120708"/>
                  <a:pt x="62801" y="110845"/>
                </a:cubicBezTo>
                <a:cubicBezTo>
                  <a:pt x="63693" y="110055"/>
                  <a:pt x="64585" y="109239"/>
                  <a:pt x="65477" y="108372"/>
                </a:cubicBezTo>
                <a:cubicBezTo>
                  <a:pt x="66599" y="109468"/>
                  <a:pt x="67771" y="110513"/>
                  <a:pt x="68943" y="111533"/>
                </a:cubicBezTo>
                <a:cubicBezTo>
                  <a:pt x="79852" y="120912"/>
                  <a:pt x="90633" y="124710"/>
                  <a:pt x="97285" y="120861"/>
                </a:cubicBezTo>
                <a:cubicBezTo>
                  <a:pt x="104167" y="116885"/>
                  <a:pt x="106410" y="104830"/>
                  <a:pt x="103504" y="90149"/>
                </a:cubicBezTo>
                <a:cubicBezTo>
                  <a:pt x="103275" y="89027"/>
                  <a:pt x="103020" y="87881"/>
                  <a:pt x="102740" y="86708"/>
                </a:cubicBezTo>
                <a:cubicBezTo>
                  <a:pt x="103555" y="86479"/>
                  <a:pt x="104345" y="86224"/>
                  <a:pt x="105135" y="85969"/>
                </a:cubicBezTo>
                <a:cubicBezTo>
                  <a:pt x="119842" y="81101"/>
                  <a:pt x="130495" y="73225"/>
                  <a:pt x="130495" y="65146"/>
                </a:cubicBezTo>
                <a:cubicBezTo>
                  <a:pt x="130495" y="57423"/>
                  <a:pt x="120453" y="49930"/>
                  <a:pt x="106588" y="45164"/>
                </a:cubicBezTo>
                <a:close/>
                <a:moveTo>
                  <a:pt x="72104" y="23525"/>
                </a:moveTo>
                <a:cubicBezTo>
                  <a:pt x="81585" y="15267"/>
                  <a:pt x="90429" y="12030"/>
                  <a:pt x="94456" y="14349"/>
                </a:cubicBezTo>
                <a:cubicBezTo>
                  <a:pt x="98764" y="16822"/>
                  <a:pt x="100420" y="26813"/>
                  <a:pt x="97719" y="39939"/>
                </a:cubicBezTo>
                <a:cubicBezTo>
                  <a:pt x="97540" y="40805"/>
                  <a:pt x="97362" y="41646"/>
                  <a:pt x="97132" y="42487"/>
                </a:cubicBezTo>
                <a:cubicBezTo>
                  <a:pt x="91474" y="41213"/>
                  <a:pt x="85740" y="40296"/>
                  <a:pt x="79979" y="39786"/>
                </a:cubicBezTo>
                <a:cubicBezTo>
                  <a:pt x="76666" y="35045"/>
                  <a:pt x="73047" y="30508"/>
                  <a:pt x="69122" y="26252"/>
                </a:cubicBezTo>
                <a:cubicBezTo>
                  <a:pt x="70116" y="25309"/>
                  <a:pt x="71084" y="24417"/>
                  <a:pt x="72104" y="23525"/>
                </a:cubicBezTo>
                <a:close/>
                <a:moveTo>
                  <a:pt x="42615" y="78374"/>
                </a:moveTo>
                <a:cubicBezTo>
                  <a:pt x="43915" y="80591"/>
                  <a:pt x="45240" y="82809"/>
                  <a:pt x="46642" y="84975"/>
                </a:cubicBezTo>
                <a:cubicBezTo>
                  <a:pt x="42666" y="84542"/>
                  <a:pt x="38715" y="83904"/>
                  <a:pt x="34816" y="83063"/>
                </a:cubicBezTo>
                <a:cubicBezTo>
                  <a:pt x="35937" y="79393"/>
                  <a:pt x="37339" y="75596"/>
                  <a:pt x="38970" y="71722"/>
                </a:cubicBezTo>
                <a:cubicBezTo>
                  <a:pt x="40143" y="73964"/>
                  <a:pt x="41341" y="76182"/>
                  <a:pt x="42615" y="78374"/>
                </a:cubicBezTo>
                <a:close/>
                <a:moveTo>
                  <a:pt x="34892" y="47712"/>
                </a:moveTo>
                <a:cubicBezTo>
                  <a:pt x="38562" y="46897"/>
                  <a:pt x="42462" y="46234"/>
                  <a:pt x="46514" y="45724"/>
                </a:cubicBezTo>
                <a:cubicBezTo>
                  <a:pt x="45164" y="47840"/>
                  <a:pt x="43838" y="50006"/>
                  <a:pt x="42589" y="52198"/>
                </a:cubicBezTo>
                <a:cubicBezTo>
                  <a:pt x="41341" y="54365"/>
                  <a:pt x="40117" y="56582"/>
                  <a:pt x="38970" y="58825"/>
                </a:cubicBezTo>
                <a:cubicBezTo>
                  <a:pt x="37365" y="55027"/>
                  <a:pt x="36014" y="51306"/>
                  <a:pt x="34892" y="47712"/>
                </a:cubicBezTo>
                <a:close/>
                <a:moveTo>
                  <a:pt x="41876" y="65273"/>
                </a:moveTo>
                <a:cubicBezTo>
                  <a:pt x="43558" y="61756"/>
                  <a:pt x="45393" y="58315"/>
                  <a:pt x="47330" y="54925"/>
                </a:cubicBezTo>
                <a:cubicBezTo>
                  <a:pt x="49267" y="51535"/>
                  <a:pt x="51357" y="48248"/>
                  <a:pt x="53549" y="45011"/>
                </a:cubicBezTo>
                <a:cubicBezTo>
                  <a:pt x="57372" y="44730"/>
                  <a:pt x="61272" y="44577"/>
                  <a:pt x="65248" y="44577"/>
                </a:cubicBezTo>
                <a:cubicBezTo>
                  <a:pt x="69224" y="44577"/>
                  <a:pt x="73149" y="44730"/>
                  <a:pt x="76946" y="45011"/>
                </a:cubicBezTo>
                <a:cubicBezTo>
                  <a:pt x="79113" y="48222"/>
                  <a:pt x="81177" y="51510"/>
                  <a:pt x="83140" y="54874"/>
                </a:cubicBezTo>
                <a:cubicBezTo>
                  <a:pt x="85102" y="58239"/>
                  <a:pt x="86937" y="61679"/>
                  <a:pt x="88671" y="65171"/>
                </a:cubicBezTo>
                <a:cubicBezTo>
                  <a:pt x="86963" y="68689"/>
                  <a:pt x="85128" y="72155"/>
                  <a:pt x="83165" y="75570"/>
                </a:cubicBezTo>
                <a:cubicBezTo>
                  <a:pt x="81228" y="78960"/>
                  <a:pt x="79164" y="82248"/>
                  <a:pt x="76997" y="85510"/>
                </a:cubicBezTo>
                <a:cubicBezTo>
                  <a:pt x="73200" y="85791"/>
                  <a:pt x="69249" y="85918"/>
                  <a:pt x="65248" y="85918"/>
                </a:cubicBezTo>
                <a:cubicBezTo>
                  <a:pt x="61246" y="85918"/>
                  <a:pt x="57372" y="85791"/>
                  <a:pt x="53625" y="85561"/>
                </a:cubicBezTo>
                <a:cubicBezTo>
                  <a:pt x="51408" y="82324"/>
                  <a:pt x="49318" y="79011"/>
                  <a:pt x="47356" y="75621"/>
                </a:cubicBezTo>
                <a:cubicBezTo>
                  <a:pt x="45393" y="72231"/>
                  <a:pt x="43583" y="68790"/>
                  <a:pt x="41876" y="65273"/>
                </a:cubicBezTo>
                <a:close/>
                <a:moveTo>
                  <a:pt x="87906" y="78323"/>
                </a:moveTo>
                <a:cubicBezTo>
                  <a:pt x="89206" y="76080"/>
                  <a:pt x="90429" y="73811"/>
                  <a:pt x="91627" y="71518"/>
                </a:cubicBezTo>
                <a:cubicBezTo>
                  <a:pt x="93258" y="75213"/>
                  <a:pt x="94686" y="78960"/>
                  <a:pt x="95935" y="82809"/>
                </a:cubicBezTo>
                <a:cubicBezTo>
                  <a:pt x="91984" y="83701"/>
                  <a:pt x="87982" y="84389"/>
                  <a:pt x="83955" y="84848"/>
                </a:cubicBezTo>
                <a:cubicBezTo>
                  <a:pt x="85332" y="82707"/>
                  <a:pt x="86632" y="80515"/>
                  <a:pt x="87906" y="78323"/>
                </a:cubicBezTo>
                <a:close/>
                <a:moveTo>
                  <a:pt x="91576" y="58825"/>
                </a:moveTo>
                <a:cubicBezTo>
                  <a:pt x="90378" y="56582"/>
                  <a:pt x="89155" y="54339"/>
                  <a:pt x="87881" y="52147"/>
                </a:cubicBezTo>
                <a:cubicBezTo>
                  <a:pt x="86632" y="49981"/>
                  <a:pt x="85332" y="47840"/>
                  <a:pt x="83981" y="45724"/>
                </a:cubicBezTo>
                <a:cubicBezTo>
                  <a:pt x="88084" y="46234"/>
                  <a:pt x="92009" y="46922"/>
                  <a:pt x="95680" y="47763"/>
                </a:cubicBezTo>
                <a:cubicBezTo>
                  <a:pt x="94507" y="51535"/>
                  <a:pt x="93131" y="55206"/>
                  <a:pt x="91576" y="58825"/>
                </a:cubicBezTo>
                <a:close/>
                <a:moveTo>
                  <a:pt x="65299" y="30152"/>
                </a:moveTo>
                <a:cubicBezTo>
                  <a:pt x="67975" y="33057"/>
                  <a:pt x="70498" y="36116"/>
                  <a:pt x="72843" y="39276"/>
                </a:cubicBezTo>
                <a:cubicBezTo>
                  <a:pt x="67796" y="39047"/>
                  <a:pt x="62724" y="39047"/>
                  <a:pt x="57678" y="39276"/>
                </a:cubicBezTo>
                <a:cubicBezTo>
                  <a:pt x="60176" y="35988"/>
                  <a:pt x="62750" y="32930"/>
                  <a:pt x="65299" y="30152"/>
                </a:cubicBezTo>
                <a:close/>
                <a:moveTo>
                  <a:pt x="35733" y="14528"/>
                </a:moveTo>
                <a:cubicBezTo>
                  <a:pt x="40015" y="12030"/>
                  <a:pt x="49522" y="15598"/>
                  <a:pt x="59539" y="24468"/>
                </a:cubicBezTo>
                <a:cubicBezTo>
                  <a:pt x="60176" y="25029"/>
                  <a:pt x="60813" y="25640"/>
                  <a:pt x="61476" y="26252"/>
                </a:cubicBezTo>
                <a:cubicBezTo>
                  <a:pt x="57525" y="30508"/>
                  <a:pt x="53880" y="35045"/>
                  <a:pt x="50541" y="39786"/>
                </a:cubicBezTo>
                <a:cubicBezTo>
                  <a:pt x="44781" y="40296"/>
                  <a:pt x="39072" y="41188"/>
                  <a:pt x="33414" y="42436"/>
                </a:cubicBezTo>
                <a:cubicBezTo>
                  <a:pt x="33083" y="41137"/>
                  <a:pt x="32802" y="39811"/>
                  <a:pt x="32522" y="38486"/>
                </a:cubicBezTo>
                <a:cubicBezTo>
                  <a:pt x="30126" y="26150"/>
                  <a:pt x="31706" y="16847"/>
                  <a:pt x="35733" y="14528"/>
                </a:cubicBezTo>
                <a:close/>
                <a:moveTo>
                  <a:pt x="29489" y="81713"/>
                </a:moveTo>
                <a:cubicBezTo>
                  <a:pt x="28418" y="81407"/>
                  <a:pt x="27373" y="81075"/>
                  <a:pt x="26328" y="80719"/>
                </a:cubicBezTo>
                <a:cubicBezTo>
                  <a:pt x="20900" y="79011"/>
                  <a:pt x="14732" y="76309"/>
                  <a:pt x="10271" y="72766"/>
                </a:cubicBezTo>
                <a:cubicBezTo>
                  <a:pt x="7697" y="70982"/>
                  <a:pt x="5964" y="68230"/>
                  <a:pt x="5480" y="65146"/>
                </a:cubicBezTo>
                <a:cubicBezTo>
                  <a:pt x="5480" y="60482"/>
                  <a:pt x="13534" y="54518"/>
                  <a:pt x="25156" y="50465"/>
                </a:cubicBezTo>
                <a:cubicBezTo>
                  <a:pt x="26609" y="49955"/>
                  <a:pt x="28087" y="49497"/>
                  <a:pt x="29565" y="49063"/>
                </a:cubicBezTo>
                <a:cubicBezTo>
                  <a:pt x="31299" y="54594"/>
                  <a:pt x="33388" y="60023"/>
                  <a:pt x="35810" y="65273"/>
                </a:cubicBezTo>
                <a:cubicBezTo>
                  <a:pt x="33363" y="70600"/>
                  <a:pt x="31248" y="76105"/>
                  <a:pt x="29489" y="81713"/>
                </a:cubicBezTo>
                <a:close/>
                <a:moveTo>
                  <a:pt x="59207" y="106690"/>
                </a:moveTo>
                <a:cubicBezTo>
                  <a:pt x="55002" y="110539"/>
                  <a:pt x="50134" y="113597"/>
                  <a:pt x="44832" y="115687"/>
                </a:cubicBezTo>
                <a:cubicBezTo>
                  <a:pt x="42003" y="117038"/>
                  <a:pt x="38741" y="117166"/>
                  <a:pt x="35835" y="116019"/>
                </a:cubicBezTo>
                <a:cubicBezTo>
                  <a:pt x="31783" y="113674"/>
                  <a:pt x="30101" y="104677"/>
                  <a:pt x="32394" y="92570"/>
                </a:cubicBezTo>
                <a:cubicBezTo>
                  <a:pt x="32675" y="91143"/>
                  <a:pt x="32981" y="89716"/>
                  <a:pt x="33338" y="88314"/>
                </a:cubicBezTo>
                <a:cubicBezTo>
                  <a:pt x="39047" y="89537"/>
                  <a:pt x="44807" y="90378"/>
                  <a:pt x="50643" y="90812"/>
                </a:cubicBezTo>
                <a:cubicBezTo>
                  <a:pt x="54008" y="95578"/>
                  <a:pt x="57703" y="100140"/>
                  <a:pt x="61654" y="104422"/>
                </a:cubicBezTo>
                <a:cubicBezTo>
                  <a:pt x="60838" y="105212"/>
                  <a:pt x="60023" y="105977"/>
                  <a:pt x="59207" y="106690"/>
                </a:cubicBezTo>
                <a:close/>
                <a:moveTo>
                  <a:pt x="65452" y="100497"/>
                </a:moveTo>
                <a:cubicBezTo>
                  <a:pt x="62852" y="97693"/>
                  <a:pt x="60252" y="94584"/>
                  <a:pt x="57729" y="91245"/>
                </a:cubicBezTo>
                <a:cubicBezTo>
                  <a:pt x="60176" y="91347"/>
                  <a:pt x="62699" y="91398"/>
                  <a:pt x="65248" y="91398"/>
                </a:cubicBezTo>
                <a:cubicBezTo>
                  <a:pt x="67873" y="91398"/>
                  <a:pt x="70447" y="91347"/>
                  <a:pt x="72996" y="91219"/>
                </a:cubicBezTo>
                <a:cubicBezTo>
                  <a:pt x="70651" y="94456"/>
                  <a:pt x="68128" y="97540"/>
                  <a:pt x="65452" y="100497"/>
                </a:cubicBezTo>
                <a:close/>
                <a:moveTo>
                  <a:pt x="98764" y="108143"/>
                </a:moveTo>
                <a:cubicBezTo>
                  <a:pt x="98534" y="111252"/>
                  <a:pt x="97005" y="114158"/>
                  <a:pt x="94558" y="116121"/>
                </a:cubicBezTo>
                <a:cubicBezTo>
                  <a:pt x="90506" y="118465"/>
                  <a:pt x="81865" y="115407"/>
                  <a:pt x="72537" y="107404"/>
                </a:cubicBezTo>
                <a:cubicBezTo>
                  <a:pt x="71467" y="106486"/>
                  <a:pt x="70396" y="105492"/>
                  <a:pt x="69300" y="104473"/>
                </a:cubicBezTo>
                <a:cubicBezTo>
                  <a:pt x="73200" y="100165"/>
                  <a:pt x="76793" y="95603"/>
                  <a:pt x="80056" y="90812"/>
                </a:cubicBezTo>
                <a:cubicBezTo>
                  <a:pt x="85892" y="90327"/>
                  <a:pt x="91704" y="89435"/>
                  <a:pt x="97438" y="88135"/>
                </a:cubicBezTo>
                <a:cubicBezTo>
                  <a:pt x="97693" y="89180"/>
                  <a:pt x="97923" y="90225"/>
                  <a:pt x="98126" y="91245"/>
                </a:cubicBezTo>
                <a:cubicBezTo>
                  <a:pt x="99375" y="96750"/>
                  <a:pt x="99579" y="102485"/>
                  <a:pt x="98764" y="108143"/>
                </a:cubicBezTo>
                <a:close/>
                <a:moveTo>
                  <a:pt x="103402" y="80744"/>
                </a:moveTo>
                <a:cubicBezTo>
                  <a:pt x="102689" y="80973"/>
                  <a:pt x="101975" y="81203"/>
                  <a:pt x="101236" y="81407"/>
                </a:cubicBezTo>
                <a:cubicBezTo>
                  <a:pt x="99452" y="75850"/>
                  <a:pt x="97260" y="70422"/>
                  <a:pt x="94737" y="65146"/>
                </a:cubicBezTo>
                <a:cubicBezTo>
                  <a:pt x="97183" y="59946"/>
                  <a:pt x="99248" y="54594"/>
                  <a:pt x="100981" y="49114"/>
                </a:cubicBezTo>
                <a:cubicBezTo>
                  <a:pt x="102306" y="49497"/>
                  <a:pt x="103581" y="49904"/>
                  <a:pt x="104804" y="50312"/>
                </a:cubicBezTo>
                <a:cubicBezTo>
                  <a:pt x="116681" y="54390"/>
                  <a:pt x="125016" y="60456"/>
                  <a:pt x="125016" y="65095"/>
                </a:cubicBezTo>
                <a:cubicBezTo>
                  <a:pt x="125016" y="70090"/>
                  <a:pt x="116121" y="76539"/>
                  <a:pt x="103402" y="80744"/>
                </a:cubicBezTo>
                <a:close/>
                <a:moveTo>
                  <a:pt x="65248" y="76921"/>
                </a:moveTo>
                <a:cubicBezTo>
                  <a:pt x="71690" y="76921"/>
                  <a:pt x="76921" y="71690"/>
                  <a:pt x="76921" y="65248"/>
                </a:cubicBezTo>
                <a:cubicBezTo>
                  <a:pt x="76921" y="58805"/>
                  <a:pt x="71690" y="53574"/>
                  <a:pt x="65248" y="53574"/>
                </a:cubicBezTo>
                <a:cubicBezTo>
                  <a:pt x="58805" y="53574"/>
                  <a:pt x="53574" y="58805"/>
                  <a:pt x="53574" y="65248"/>
                </a:cubicBezTo>
                <a:cubicBezTo>
                  <a:pt x="53574" y="71690"/>
                  <a:pt x="58805" y="76921"/>
                  <a:pt x="65248" y="7692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5" name="Text 33"/>
          <p:cNvSpPr/>
          <p:nvPr/>
        </p:nvSpPr>
        <p:spPr>
          <a:xfrm>
            <a:off x="4821922" y="2097248"/>
            <a:ext cx="1006679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+ Tailwind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84234" y="2320954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Fork, brand, deploy — production-ready template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53739" y="2693798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4453739" y="2693798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9" name="Shape 37"/>
          <p:cNvSpPr/>
          <p:nvPr/>
        </p:nvSpPr>
        <p:spPr>
          <a:xfrm>
            <a:off x="4611032" y="2833615"/>
            <a:ext cx="114183" cy="130495"/>
          </a:xfrm>
          <a:custGeom>
            <a:avLst/>
            <a:gdLst/>
            <a:ahLst/>
            <a:cxnLst/>
            <a:rect l="l" t="t" r="r" b="b"/>
            <a:pathLst>
              <a:path w="114183" h="130495">
                <a:moveTo>
                  <a:pt x="97872" y="24468"/>
                </a:moveTo>
                <a:lnTo>
                  <a:pt x="65248" y="24468"/>
                </a:lnTo>
                <a:lnTo>
                  <a:pt x="65248" y="57092"/>
                </a:lnTo>
                <a:lnTo>
                  <a:pt x="97872" y="57092"/>
                </a:lnTo>
                <a:lnTo>
                  <a:pt x="97872" y="24468"/>
                </a:lnTo>
                <a:close/>
                <a:moveTo>
                  <a:pt x="114183" y="57092"/>
                </a:moveTo>
                <a:lnTo>
                  <a:pt x="114183" y="106028"/>
                </a:lnTo>
                <a:cubicBezTo>
                  <a:pt x="114183" y="115025"/>
                  <a:pt x="106869" y="122339"/>
                  <a:pt x="97872" y="122339"/>
                </a:cubicBezTo>
                <a:lnTo>
                  <a:pt x="16312" y="122339"/>
                </a:lnTo>
                <a:cubicBezTo>
                  <a:pt x="7315" y="122339"/>
                  <a:pt x="0" y="115025"/>
                  <a:pt x="0" y="106028"/>
                </a:cubicBezTo>
                <a:lnTo>
                  <a:pt x="0" y="24468"/>
                </a:lnTo>
                <a:cubicBezTo>
                  <a:pt x="0" y="15471"/>
                  <a:pt x="7315" y="8156"/>
                  <a:pt x="16312" y="8156"/>
                </a:cubicBezTo>
                <a:lnTo>
                  <a:pt x="97872" y="8156"/>
                </a:lnTo>
                <a:cubicBezTo>
                  <a:pt x="106869" y="8156"/>
                  <a:pt x="114183" y="15471"/>
                  <a:pt x="114183" y="24468"/>
                </a:cubicBezTo>
                <a:lnTo>
                  <a:pt x="114183" y="57092"/>
                </a:lnTo>
                <a:close/>
                <a:moveTo>
                  <a:pt x="16312" y="73404"/>
                </a:moveTo>
                <a:lnTo>
                  <a:pt x="16312" y="106028"/>
                </a:lnTo>
                <a:lnTo>
                  <a:pt x="48936" y="106028"/>
                </a:lnTo>
                <a:lnTo>
                  <a:pt x="48936" y="73404"/>
                </a:lnTo>
                <a:lnTo>
                  <a:pt x="16312" y="73404"/>
                </a:lnTo>
                <a:close/>
                <a:moveTo>
                  <a:pt x="48936" y="57092"/>
                </a:moveTo>
                <a:lnTo>
                  <a:pt x="48936" y="24468"/>
                </a:lnTo>
                <a:lnTo>
                  <a:pt x="16312" y="24468"/>
                </a:lnTo>
                <a:lnTo>
                  <a:pt x="16312" y="57092"/>
                </a:lnTo>
                <a:lnTo>
                  <a:pt x="48936" y="57092"/>
                </a:lnTo>
                <a:close/>
                <a:moveTo>
                  <a:pt x="65248" y="73404"/>
                </a:moveTo>
                <a:lnTo>
                  <a:pt x="65248" y="106028"/>
                </a:lnTo>
                <a:lnTo>
                  <a:pt x="97872" y="106028"/>
                </a:lnTo>
                <a:lnTo>
                  <a:pt x="97872" y="73404"/>
                </a:lnTo>
                <a:lnTo>
                  <a:pt x="65248" y="73404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40" name="Text 38"/>
          <p:cNvSpPr/>
          <p:nvPr/>
        </p:nvSpPr>
        <p:spPr>
          <a:xfrm>
            <a:off x="4821922" y="2805651"/>
            <a:ext cx="1239706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Slott-Inspired Lobby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84234" y="3029358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Horizontal category bar, provider + RTP + volatility filters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3739" y="3402202"/>
            <a:ext cx="3308991" cy="596550"/>
          </a:xfrm>
          <a:custGeom>
            <a:avLst/>
            <a:gdLst/>
            <a:ahLst/>
            <a:cxnLst/>
            <a:rect l="l" t="t" r="r" b="b"/>
            <a:pathLst>
              <a:path w="3308991" h="596550">
                <a:moveTo>
                  <a:pt x="37284" y="0"/>
                </a:moveTo>
                <a:lnTo>
                  <a:pt x="3234422" y="0"/>
                </a:lnTo>
                <a:cubicBezTo>
                  <a:pt x="3275605" y="0"/>
                  <a:pt x="3308991" y="33386"/>
                  <a:pt x="3308991" y="74569"/>
                </a:cubicBezTo>
                <a:lnTo>
                  <a:pt x="3308991" y="521982"/>
                </a:lnTo>
                <a:cubicBezTo>
                  <a:pt x="3308991" y="563165"/>
                  <a:pt x="3275605" y="596550"/>
                  <a:pt x="3234422" y="596550"/>
                </a:cubicBez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4453739" y="3402202"/>
            <a:ext cx="37284" cy="596550"/>
          </a:xfrm>
          <a:custGeom>
            <a:avLst/>
            <a:gdLst/>
            <a:ahLst/>
            <a:cxnLst/>
            <a:rect l="l" t="t" r="r" b="b"/>
            <a:pathLst>
              <a:path w="37284" h="596550">
                <a:moveTo>
                  <a:pt x="37284" y="0"/>
                </a:moveTo>
                <a:lnTo>
                  <a:pt x="37284" y="0"/>
                </a:lnTo>
                <a:lnTo>
                  <a:pt x="37284" y="596550"/>
                </a:lnTo>
                <a:lnTo>
                  <a:pt x="37284" y="596550"/>
                </a:lnTo>
                <a:cubicBezTo>
                  <a:pt x="16693" y="596550"/>
                  <a:pt x="0" y="579858"/>
                  <a:pt x="0" y="559266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4" name="Shape 42"/>
          <p:cNvSpPr/>
          <p:nvPr/>
        </p:nvSpPr>
        <p:spPr>
          <a:xfrm>
            <a:off x="4602876" y="3542018"/>
            <a:ext cx="130495" cy="130495"/>
          </a:xfrm>
          <a:custGeom>
            <a:avLst/>
            <a:gdLst/>
            <a:ahLst/>
            <a:cxnLst/>
            <a:rect l="l" t="t" r="r" b="b"/>
            <a:pathLst>
              <a:path w="130495" h="130495">
                <a:moveTo>
                  <a:pt x="106028" y="53014"/>
                </a:moveTo>
                <a:cubicBezTo>
                  <a:pt x="106028" y="64712"/>
                  <a:pt x="102230" y="75519"/>
                  <a:pt x="95833" y="84287"/>
                </a:cubicBezTo>
                <a:lnTo>
                  <a:pt x="128100" y="116579"/>
                </a:lnTo>
                <a:cubicBezTo>
                  <a:pt x="131286" y="119765"/>
                  <a:pt x="131286" y="124939"/>
                  <a:pt x="128100" y="128125"/>
                </a:cubicBezTo>
                <a:cubicBezTo>
                  <a:pt x="124914" y="131311"/>
                  <a:pt x="119740" y="131311"/>
                  <a:pt x="116554" y="128125"/>
                </a:cubicBezTo>
                <a:lnTo>
                  <a:pt x="84287" y="95833"/>
                </a:lnTo>
                <a:cubicBezTo>
                  <a:pt x="75519" y="102230"/>
                  <a:pt x="64712" y="106028"/>
                  <a:pt x="53014" y="106028"/>
                </a:cubicBezTo>
                <a:cubicBezTo>
                  <a:pt x="23729" y="106028"/>
                  <a:pt x="0" y="82299"/>
                  <a:pt x="0" y="53014"/>
                </a:cubicBezTo>
                <a:cubicBezTo>
                  <a:pt x="0" y="23729"/>
                  <a:pt x="23729" y="0"/>
                  <a:pt x="53014" y="0"/>
                </a:cubicBezTo>
                <a:cubicBezTo>
                  <a:pt x="82299" y="0"/>
                  <a:pt x="106028" y="23729"/>
                  <a:pt x="106028" y="53014"/>
                </a:cubicBezTo>
                <a:close/>
                <a:moveTo>
                  <a:pt x="53014" y="28546"/>
                </a:moveTo>
                <a:cubicBezTo>
                  <a:pt x="49624" y="28546"/>
                  <a:pt x="46897" y="31273"/>
                  <a:pt x="46897" y="34663"/>
                </a:cubicBezTo>
                <a:lnTo>
                  <a:pt x="46897" y="46897"/>
                </a:lnTo>
                <a:lnTo>
                  <a:pt x="34663" y="46897"/>
                </a:lnTo>
                <a:cubicBezTo>
                  <a:pt x="31273" y="46897"/>
                  <a:pt x="28546" y="49624"/>
                  <a:pt x="28546" y="53014"/>
                </a:cubicBezTo>
                <a:cubicBezTo>
                  <a:pt x="28546" y="56404"/>
                  <a:pt x="31273" y="59131"/>
                  <a:pt x="34663" y="59131"/>
                </a:cubicBezTo>
                <a:lnTo>
                  <a:pt x="46897" y="59131"/>
                </a:lnTo>
                <a:lnTo>
                  <a:pt x="46897" y="71365"/>
                </a:lnTo>
                <a:cubicBezTo>
                  <a:pt x="46897" y="74755"/>
                  <a:pt x="49624" y="77482"/>
                  <a:pt x="53014" y="77482"/>
                </a:cubicBezTo>
                <a:cubicBezTo>
                  <a:pt x="56404" y="77482"/>
                  <a:pt x="59131" y="74755"/>
                  <a:pt x="59131" y="71365"/>
                </a:cubicBezTo>
                <a:lnTo>
                  <a:pt x="59131" y="59131"/>
                </a:lnTo>
                <a:lnTo>
                  <a:pt x="71365" y="59131"/>
                </a:lnTo>
                <a:cubicBezTo>
                  <a:pt x="74755" y="59131"/>
                  <a:pt x="77482" y="56404"/>
                  <a:pt x="77482" y="53014"/>
                </a:cubicBezTo>
                <a:cubicBezTo>
                  <a:pt x="77482" y="49624"/>
                  <a:pt x="74755" y="46897"/>
                  <a:pt x="71365" y="46897"/>
                </a:cubicBezTo>
                <a:lnTo>
                  <a:pt x="59131" y="46897"/>
                </a:lnTo>
                <a:lnTo>
                  <a:pt x="59131" y="34663"/>
                </a:lnTo>
                <a:cubicBezTo>
                  <a:pt x="59131" y="31273"/>
                  <a:pt x="56404" y="28546"/>
                  <a:pt x="53014" y="2854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5" name="Text 43"/>
          <p:cNvSpPr/>
          <p:nvPr/>
        </p:nvSpPr>
        <p:spPr>
          <a:xfrm>
            <a:off x="4821922" y="3514055"/>
            <a:ext cx="960073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SEO-Optimized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84234" y="3737761"/>
            <a:ext cx="3122569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Deep-linkable category pages, zero layout shift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35096" y="4819009"/>
            <a:ext cx="1901505" cy="223706"/>
          </a:xfrm>
          <a:custGeom>
            <a:avLst/>
            <a:gdLst/>
            <a:ahLst/>
            <a:cxnLst/>
            <a:rect l="l" t="t" r="r" b="b"/>
            <a:pathLst>
              <a:path w="1901505" h="223706">
                <a:moveTo>
                  <a:pt x="37285" y="0"/>
                </a:moveTo>
                <a:lnTo>
                  <a:pt x="1864219" y="0"/>
                </a:lnTo>
                <a:cubicBezTo>
                  <a:pt x="1884811" y="0"/>
                  <a:pt x="1901505" y="16693"/>
                  <a:pt x="1901505" y="37285"/>
                </a:cubicBezTo>
                <a:lnTo>
                  <a:pt x="1901505" y="186421"/>
                </a:lnTo>
                <a:cubicBezTo>
                  <a:pt x="1901505" y="207013"/>
                  <a:pt x="1884811" y="223706"/>
                  <a:pt x="1864219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4435096" y="4819009"/>
            <a:ext cx="1957431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Game lobby + wallet + auth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9713" y="4819009"/>
            <a:ext cx="960073" cy="223706"/>
          </a:xfrm>
          <a:custGeom>
            <a:avLst/>
            <a:gdLst/>
            <a:ahLst/>
            <a:cxnLst/>
            <a:rect l="l" t="t" r="r" b="b"/>
            <a:pathLst>
              <a:path w="960073" h="223706">
                <a:moveTo>
                  <a:pt x="37285" y="0"/>
                </a:moveTo>
                <a:lnTo>
                  <a:pt x="922788" y="0"/>
                </a:lnTo>
                <a:cubicBezTo>
                  <a:pt x="943380" y="0"/>
                  <a:pt x="960073" y="16693"/>
                  <a:pt x="960073" y="37285"/>
                </a:cubicBezTo>
                <a:lnTo>
                  <a:pt x="960073" y="186421"/>
                </a:lnTo>
                <a:cubicBezTo>
                  <a:pt x="960073" y="207013"/>
                  <a:pt x="943380" y="223706"/>
                  <a:pt x="922788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409713" y="4819009"/>
            <a:ext cx="1016000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MIT licensed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0523" y="1197761"/>
            <a:ext cx="3709798" cy="4036037"/>
          </a:xfrm>
          <a:custGeom>
            <a:avLst/>
            <a:gdLst/>
            <a:ahLst/>
            <a:cxnLst/>
            <a:rect l="l" t="t" r="r" b="b"/>
            <a:pathLst>
              <a:path w="3709798" h="4036037">
                <a:moveTo>
                  <a:pt x="111850" y="0"/>
                </a:moveTo>
                <a:lnTo>
                  <a:pt x="3597948" y="0"/>
                </a:lnTo>
                <a:cubicBezTo>
                  <a:pt x="3659721" y="0"/>
                  <a:pt x="3709798" y="50077"/>
                  <a:pt x="3709798" y="111850"/>
                </a:cubicBezTo>
                <a:lnTo>
                  <a:pt x="3709798" y="3924186"/>
                </a:lnTo>
                <a:cubicBezTo>
                  <a:pt x="3709798" y="3985960"/>
                  <a:pt x="3659721" y="4036037"/>
                  <a:pt x="3597948" y="4036037"/>
                </a:cubicBezTo>
                <a:lnTo>
                  <a:pt x="111850" y="4036037"/>
                </a:lnTo>
                <a:cubicBezTo>
                  <a:pt x="50077" y="4036037"/>
                  <a:pt x="0" y="3985960"/>
                  <a:pt x="0" y="3924186"/>
                </a:cubicBezTo>
                <a:lnTo>
                  <a:pt x="0" y="111850"/>
                </a:lnTo>
                <a:cubicBezTo>
                  <a:pt x="0" y="50118"/>
                  <a:pt x="50118" y="0"/>
                  <a:pt x="1118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01606" y="1388844"/>
            <a:ext cx="447413" cy="447413"/>
          </a:xfrm>
          <a:custGeom>
            <a:avLst/>
            <a:gdLst/>
            <a:ahLst/>
            <a:cxnLst/>
            <a:rect l="l" t="t" r="r" b="b"/>
            <a:pathLst>
              <a:path w="447413" h="447413">
                <a:moveTo>
                  <a:pt x="111853" y="0"/>
                </a:moveTo>
                <a:lnTo>
                  <a:pt x="335560" y="0"/>
                </a:lnTo>
                <a:cubicBezTo>
                  <a:pt x="397293" y="0"/>
                  <a:pt x="447413" y="50120"/>
                  <a:pt x="447413" y="111853"/>
                </a:cubicBezTo>
                <a:lnTo>
                  <a:pt x="447413" y="335560"/>
                </a:lnTo>
                <a:cubicBezTo>
                  <a:pt x="447413" y="397293"/>
                  <a:pt x="397293" y="447413"/>
                  <a:pt x="335560" y="447413"/>
                </a:cubicBezTo>
                <a:lnTo>
                  <a:pt x="111853" y="447413"/>
                </a:lnTo>
                <a:cubicBezTo>
                  <a:pt x="50120" y="447413"/>
                  <a:pt x="0" y="397293"/>
                  <a:pt x="0" y="335560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</p:spPr>
      </p:sp>
      <p:sp>
        <p:nvSpPr>
          <p:cNvPr id="53" name="Shape 51"/>
          <p:cNvSpPr/>
          <p:nvPr/>
        </p:nvSpPr>
        <p:spPr>
          <a:xfrm>
            <a:off x="8420450" y="1519339"/>
            <a:ext cx="209725" cy="186422"/>
          </a:xfrm>
          <a:custGeom>
            <a:avLst/>
            <a:gdLst/>
            <a:ahLst/>
            <a:cxnLst/>
            <a:rect l="l" t="t" r="r" b="b"/>
            <a:pathLst>
              <a:path w="209725" h="186422">
                <a:moveTo>
                  <a:pt x="131369" y="437"/>
                </a:moveTo>
                <a:cubicBezTo>
                  <a:pt x="125179" y="-1347"/>
                  <a:pt x="118735" y="2257"/>
                  <a:pt x="116951" y="8447"/>
                </a:cubicBezTo>
                <a:lnTo>
                  <a:pt x="70345" y="171567"/>
                </a:lnTo>
                <a:cubicBezTo>
                  <a:pt x="68561" y="177756"/>
                  <a:pt x="72166" y="184201"/>
                  <a:pt x="78356" y="185985"/>
                </a:cubicBezTo>
                <a:cubicBezTo>
                  <a:pt x="84545" y="187769"/>
                  <a:pt x="90990" y="184165"/>
                  <a:pt x="92774" y="177975"/>
                </a:cubicBezTo>
                <a:lnTo>
                  <a:pt x="139380" y="14856"/>
                </a:lnTo>
                <a:cubicBezTo>
                  <a:pt x="141164" y="8666"/>
                  <a:pt x="137559" y="2221"/>
                  <a:pt x="131369" y="437"/>
                </a:cubicBezTo>
                <a:close/>
                <a:moveTo>
                  <a:pt x="154890" y="49992"/>
                </a:moveTo>
                <a:cubicBezTo>
                  <a:pt x="150339" y="54543"/>
                  <a:pt x="150339" y="61934"/>
                  <a:pt x="154890" y="66486"/>
                </a:cubicBezTo>
                <a:lnTo>
                  <a:pt x="181616" y="93211"/>
                </a:lnTo>
                <a:lnTo>
                  <a:pt x="154890" y="119936"/>
                </a:lnTo>
                <a:cubicBezTo>
                  <a:pt x="150339" y="124488"/>
                  <a:pt x="150339" y="131879"/>
                  <a:pt x="154890" y="136430"/>
                </a:cubicBezTo>
                <a:cubicBezTo>
                  <a:pt x="159442" y="140982"/>
                  <a:pt x="166833" y="140982"/>
                  <a:pt x="171384" y="136430"/>
                </a:cubicBezTo>
                <a:lnTo>
                  <a:pt x="206339" y="101476"/>
                </a:lnTo>
                <a:cubicBezTo>
                  <a:pt x="210890" y="96925"/>
                  <a:pt x="210890" y="89534"/>
                  <a:pt x="206339" y="84982"/>
                </a:cubicBezTo>
                <a:lnTo>
                  <a:pt x="171384" y="50028"/>
                </a:lnTo>
                <a:cubicBezTo>
                  <a:pt x="166833" y="45477"/>
                  <a:pt x="159442" y="45477"/>
                  <a:pt x="154890" y="50028"/>
                </a:cubicBezTo>
                <a:close/>
                <a:moveTo>
                  <a:pt x="54871" y="49992"/>
                </a:moveTo>
                <a:cubicBezTo>
                  <a:pt x="50319" y="45440"/>
                  <a:pt x="42928" y="45440"/>
                  <a:pt x="38377" y="49992"/>
                </a:cubicBezTo>
                <a:lnTo>
                  <a:pt x="3423" y="84946"/>
                </a:lnTo>
                <a:cubicBezTo>
                  <a:pt x="-1129" y="89497"/>
                  <a:pt x="-1129" y="96888"/>
                  <a:pt x="3423" y="101440"/>
                </a:cubicBezTo>
                <a:lnTo>
                  <a:pt x="38377" y="136394"/>
                </a:lnTo>
                <a:cubicBezTo>
                  <a:pt x="42928" y="140945"/>
                  <a:pt x="50319" y="140945"/>
                  <a:pt x="54871" y="136394"/>
                </a:cubicBezTo>
                <a:cubicBezTo>
                  <a:pt x="59422" y="131843"/>
                  <a:pt x="59422" y="124451"/>
                  <a:pt x="54871" y="119900"/>
                </a:cubicBezTo>
                <a:lnTo>
                  <a:pt x="28145" y="93211"/>
                </a:lnTo>
                <a:lnTo>
                  <a:pt x="54834" y="66486"/>
                </a:lnTo>
                <a:cubicBezTo>
                  <a:pt x="59386" y="61934"/>
                  <a:pt x="59386" y="54543"/>
                  <a:pt x="54834" y="499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8860872" y="1482055"/>
            <a:ext cx="1463413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@neostrike/sdk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6266" y="1990055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5495" y="2125211"/>
            <a:ext cx="864022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useBalance()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06266" y="2456110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85495" y="2591266"/>
            <a:ext cx="729376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useGames()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06266" y="2922165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85495" y="3057321"/>
            <a:ext cx="931382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usePayments()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06266" y="3388220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85495" y="3523376"/>
            <a:ext cx="1133388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useBonusWallet()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6266" y="3854275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85495" y="3989431"/>
            <a:ext cx="796736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useAlerts()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06266" y="4320330"/>
            <a:ext cx="3318312" cy="382165"/>
          </a:xfrm>
          <a:custGeom>
            <a:avLst/>
            <a:gdLst/>
            <a:ahLst/>
            <a:cxnLst/>
            <a:rect l="l" t="t" r="r" b="b"/>
            <a:pathLst>
              <a:path w="3318312" h="382165">
                <a:moveTo>
                  <a:pt x="37284" y="0"/>
                </a:moveTo>
                <a:lnTo>
                  <a:pt x="3281028" y="0"/>
                </a:lnTo>
                <a:cubicBezTo>
                  <a:pt x="3301619" y="0"/>
                  <a:pt x="3318312" y="16693"/>
                  <a:pt x="3318312" y="37284"/>
                </a:cubicBezTo>
                <a:lnTo>
                  <a:pt x="3318312" y="344881"/>
                </a:lnTo>
                <a:cubicBezTo>
                  <a:pt x="3318312" y="365473"/>
                  <a:pt x="3301619" y="382165"/>
                  <a:pt x="3281028" y="382165"/>
                </a:cubicBezTo>
                <a:lnTo>
                  <a:pt x="37284" y="382165"/>
                </a:lnTo>
                <a:cubicBezTo>
                  <a:pt x="16706" y="382165"/>
                  <a:pt x="0" y="365459"/>
                  <a:pt x="0" y="34488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85495" y="4455486"/>
            <a:ext cx="864022" cy="130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useSession()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01606" y="4819009"/>
            <a:ext cx="885505" cy="223706"/>
          </a:xfrm>
          <a:custGeom>
            <a:avLst/>
            <a:gdLst/>
            <a:ahLst/>
            <a:cxnLst/>
            <a:rect l="l" t="t" r="r" b="b"/>
            <a:pathLst>
              <a:path w="885505" h="223706">
                <a:moveTo>
                  <a:pt x="37285" y="0"/>
                </a:moveTo>
                <a:lnTo>
                  <a:pt x="848219" y="0"/>
                </a:lnTo>
                <a:cubicBezTo>
                  <a:pt x="868811" y="0"/>
                  <a:pt x="885505" y="16693"/>
                  <a:pt x="885505" y="37285"/>
                </a:cubicBezTo>
                <a:lnTo>
                  <a:pt x="885505" y="186421"/>
                </a:lnTo>
                <a:cubicBezTo>
                  <a:pt x="885505" y="207013"/>
                  <a:pt x="868811" y="223706"/>
                  <a:pt x="848219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68" name="Text 66"/>
          <p:cNvSpPr/>
          <p:nvPr/>
        </p:nvSpPr>
        <p:spPr>
          <a:xfrm>
            <a:off x="8301606" y="4819009"/>
            <a:ext cx="941431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React Hooks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66121" y="4819009"/>
            <a:ext cx="1230385" cy="223706"/>
          </a:xfrm>
          <a:custGeom>
            <a:avLst/>
            <a:gdLst/>
            <a:ahLst/>
            <a:cxnLst/>
            <a:rect l="l" t="t" r="r" b="b"/>
            <a:pathLst>
              <a:path w="1230385" h="223706">
                <a:moveTo>
                  <a:pt x="37285" y="0"/>
                </a:moveTo>
                <a:lnTo>
                  <a:pt x="1193100" y="0"/>
                </a:lnTo>
                <a:cubicBezTo>
                  <a:pt x="1213692" y="0"/>
                  <a:pt x="1230385" y="16693"/>
                  <a:pt x="1230385" y="37285"/>
                </a:cubicBezTo>
                <a:lnTo>
                  <a:pt x="1230385" y="186421"/>
                </a:lnTo>
                <a:cubicBezTo>
                  <a:pt x="1230385" y="207013"/>
                  <a:pt x="1213692" y="223706"/>
                  <a:pt x="1193100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9266121" y="4819009"/>
            <a:ext cx="1286312" cy="223706"/>
          </a:xfrm>
          <a:prstGeom prst="rect">
            <a:avLst/>
          </a:prstGeom>
          <a:noFill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Published to npm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77505" y="5354972"/>
            <a:ext cx="11436991" cy="531303"/>
          </a:xfrm>
          <a:custGeom>
            <a:avLst/>
            <a:gdLst/>
            <a:ahLst/>
            <a:cxnLst/>
            <a:rect l="l" t="t" r="r" b="b"/>
            <a:pathLst>
              <a:path w="11436991" h="531303">
                <a:moveTo>
                  <a:pt x="111855" y="0"/>
                </a:moveTo>
                <a:lnTo>
                  <a:pt x="11325136" y="0"/>
                </a:lnTo>
                <a:cubicBezTo>
                  <a:pt x="11386912" y="0"/>
                  <a:pt x="11436991" y="50079"/>
                  <a:pt x="11436991" y="111855"/>
                </a:cubicBezTo>
                <a:lnTo>
                  <a:pt x="11436991" y="419448"/>
                </a:lnTo>
                <a:cubicBezTo>
                  <a:pt x="11436991" y="481223"/>
                  <a:pt x="11386912" y="531303"/>
                  <a:pt x="11325136" y="531303"/>
                </a:cubicBezTo>
                <a:lnTo>
                  <a:pt x="111855" y="531303"/>
                </a:lnTo>
                <a:cubicBezTo>
                  <a:pt x="50079" y="531303"/>
                  <a:pt x="0" y="481223"/>
                  <a:pt x="0" y="419448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3D5AFE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9266" y="550877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1853" y="223706"/>
                </a:moveTo>
                <a:cubicBezTo>
                  <a:pt x="173587" y="223706"/>
                  <a:pt x="223706" y="173587"/>
                  <a:pt x="223706" y="111853"/>
                </a:cubicBezTo>
                <a:cubicBezTo>
                  <a:pt x="223706" y="50120"/>
                  <a:pt x="173587" y="0"/>
                  <a:pt x="111853" y="0"/>
                </a:cubicBezTo>
                <a:cubicBezTo>
                  <a:pt x="50120" y="0"/>
                  <a:pt x="0" y="50120"/>
                  <a:pt x="0" y="111853"/>
                </a:cubicBezTo>
                <a:cubicBezTo>
                  <a:pt x="0" y="173587"/>
                  <a:pt x="50120" y="223706"/>
                  <a:pt x="111853" y="223706"/>
                </a:cubicBezTo>
                <a:close/>
                <a:moveTo>
                  <a:pt x="97872" y="69908"/>
                </a:moveTo>
                <a:cubicBezTo>
                  <a:pt x="97872" y="62192"/>
                  <a:pt x="104137" y="55927"/>
                  <a:pt x="111853" y="55927"/>
                </a:cubicBezTo>
                <a:cubicBezTo>
                  <a:pt x="119570" y="55927"/>
                  <a:pt x="125835" y="62192"/>
                  <a:pt x="125835" y="69908"/>
                </a:cubicBezTo>
                <a:cubicBezTo>
                  <a:pt x="125835" y="77625"/>
                  <a:pt x="119570" y="83890"/>
                  <a:pt x="111853" y="83890"/>
                </a:cubicBezTo>
                <a:cubicBezTo>
                  <a:pt x="104137" y="83890"/>
                  <a:pt x="97872" y="77625"/>
                  <a:pt x="97872" y="69908"/>
                </a:cubicBezTo>
                <a:close/>
                <a:moveTo>
                  <a:pt x="94376" y="97872"/>
                </a:moveTo>
                <a:lnTo>
                  <a:pt x="115349" y="97872"/>
                </a:lnTo>
                <a:cubicBezTo>
                  <a:pt x="121160" y="97872"/>
                  <a:pt x="125835" y="102547"/>
                  <a:pt x="125835" y="108358"/>
                </a:cubicBezTo>
                <a:lnTo>
                  <a:pt x="125835" y="146807"/>
                </a:lnTo>
                <a:lnTo>
                  <a:pt x="129330" y="146807"/>
                </a:lnTo>
                <a:cubicBezTo>
                  <a:pt x="135141" y="146807"/>
                  <a:pt x="139817" y="151482"/>
                  <a:pt x="139817" y="157294"/>
                </a:cubicBezTo>
                <a:cubicBezTo>
                  <a:pt x="139817" y="163105"/>
                  <a:pt x="135141" y="167780"/>
                  <a:pt x="129330" y="167780"/>
                </a:cubicBezTo>
                <a:lnTo>
                  <a:pt x="94376" y="167780"/>
                </a:lnTo>
                <a:cubicBezTo>
                  <a:pt x="88565" y="167780"/>
                  <a:pt x="83890" y="163105"/>
                  <a:pt x="83890" y="157294"/>
                </a:cubicBezTo>
                <a:cubicBezTo>
                  <a:pt x="83890" y="151482"/>
                  <a:pt x="88565" y="146807"/>
                  <a:pt x="94376" y="146807"/>
                </a:cubicBezTo>
                <a:lnTo>
                  <a:pt x="104862" y="146807"/>
                </a:lnTo>
                <a:lnTo>
                  <a:pt x="104862" y="118844"/>
                </a:lnTo>
                <a:lnTo>
                  <a:pt x="94376" y="118844"/>
                </a:lnTo>
                <a:cubicBezTo>
                  <a:pt x="88565" y="118844"/>
                  <a:pt x="83890" y="114169"/>
                  <a:pt x="83890" y="108358"/>
                </a:cubicBezTo>
                <a:cubicBezTo>
                  <a:pt x="83890" y="102547"/>
                  <a:pt x="88565" y="97872"/>
                  <a:pt x="94376" y="9787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73" name="Text 71"/>
          <p:cNvSpPr/>
          <p:nvPr/>
        </p:nvSpPr>
        <p:spPr>
          <a:xfrm>
            <a:off x="960073" y="5514596"/>
            <a:ext cx="10765872" cy="214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is middleware, not a PAM.</a:t>
            </a:r>
            <a:r>
              <a:rPr lang="en-US" sz="103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Pre-integrated with Tecpinion &amp; Bragg — your 2-week timeline is protected.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77505" y="6007450"/>
            <a:ext cx="5639266" cy="848220"/>
          </a:xfrm>
          <a:custGeom>
            <a:avLst/>
            <a:gdLst/>
            <a:ahLst/>
            <a:cxnLst/>
            <a:rect l="l" t="t" r="r" b="b"/>
            <a:pathLst>
              <a:path w="5639266" h="848220">
                <a:moveTo>
                  <a:pt x="111855" y="0"/>
                </a:moveTo>
                <a:lnTo>
                  <a:pt x="5527411" y="0"/>
                </a:lnTo>
                <a:cubicBezTo>
                  <a:pt x="5589187" y="0"/>
                  <a:pt x="5639266" y="50079"/>
                  <a:pt x="5639266" y="111855"/>
                </a:cubicBezTo>
                <a:lnTo>
                  <a:pt x="5639266" y="736365"/>
                </a:lnTo>
                <a:cubicBezTo>
                  <a:pt x="5639266" y="798141"/>
                  <a:pt x="5589187" y="848220"/>
                  <a:pt x="5527411" y="848220"/>
                </a:cubicBezTo>
                <a:lnTo>
                  <a:pt x="111855" y="848220"/>
                </a:lnTo>
                <a:cubicBezTo>
                  <a:pt x="50120" y="848220"/>
                  <a:pt x="0" y="798100"/>
                  <a:pt x="0" y="736365"/>
                </a:cubicBezTo>
                <a:lnTo>
                  <a:pt x="0" y="111855"/>
                </a:lnTo>
                <a:cubicBezTo>
                  <a:pt x="0" y="50120"/>
                  <a:pt x="50120" y="0"/>
                  <a:pt x="111855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1303" y="6217174"/>
            <a:ext cx="1127853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Without Starter Kit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827165" y="6161248"/>
            <a:ext cx="1146495" cy="29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FF646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6-8 weeks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31303" y="6534092"/>
            <a:ext cx="5387596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Boilerplate development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81929" y="6012110"/>
            <a:ext cx="5629945" cy="838899"/>
          </a:xfrm>
          <a:custGeom>
            <a:avLst/>
            <a:gdLst/>
            <a:ahLst/>
            <a:cxnLst/>
            <a:rect l="l" t="t" r="r" b="b"/>
            <a:pathLst>
              <a:path w="5629945" h="838899">
                <a:moveTo>
                  <a:pt x="111850" y="0"/>
                </a:moveTo>
                <a:lnTo>
                  <a:pt x="5518095" y="0"/>
                </a:lnTo>
                <a:cubicBezTo>
                  <a:pt x="5579868" y="0"/>
                  <a:pt x="5629945" y="50077"/>
                  <a:pt x="5629945" y="111850"/>
                </a:cubicBezTo>
                <a:lnTo>
                  <a:pt x="5629945" y="727049"/>
                </a:lnTo>
                <a:cubicBezTo>
                  <a:pt x="5629945" y="788822"/>
                  <a:pt x="5579868" y="838899"/>
                  <a:pt x="5518095" y="838899"/>
                </a:cubicBezTo>
                <a:lnTo>
                  <a:pt x="111850" y="838899"/>
                </a:lnTo>
                <a:cubicBezTo>
                  <a:pt x="50077" y="838899"/>
                  <a:pt x="0" y="788822"/>
                  <a:pt x="0" y="727049"/>
                </a:cubicBezTo>
                <a:lnTo>
                  <a:pt x="0" y="111850"/>
                </a:lnTo>
                <a:cubicBezTo>
                  <a:pt x="0" y="50077"/>
                  <a:pt x="50077" y="0"/>
                  <a:pt x="1118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25400">
            <a:solidFill>
              <a:srgbClr val="00E5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40388" y="6226495"/>
            <a:ext cx="941431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 Starter Kit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848305" y="6170569"/>
            <a:ext cx="922789" cy="29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 weeks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40388" y="6543413"/>
            <a:ext cx="5368954" cy="149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0" b="1" dirty="0">
                <a:solidFill>
                  <a:srgbClr val="00E5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75% faster to market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51911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 Duty of Care &amp;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Rule-based behavioral monitoring with automated regulatory reporting — UKGC/MGA compliant on Day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11420475" cy="2562225"/>
          </a:xfrm>
          <a:custGeom>
            <a:avLst/>
            <a:gdLst/>
            <a:ahLst/>
            <a:cxnLst/>
            <a:rect l="l" t="t" r="r" b="b"/>
            <a:pathLst>
              <a:path w="11420475" h="256222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2447924"/>
                </a:lnTo>
                <a:cubicBezTo>
                  <a:pt x="11420475" y="2511051"/>
                  <a:pt x="11369301" y="2562225"/>
                  <a:pt x="11306174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A237E">
              <a:alpha val="30196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90525" y="1228725"/>
          <a:ext cx="11410950" cy="2552700"/>
        </p:xfrm>
        <a:graphic>
          <a:graphicData uri="http://schemas.openxmlformats.org/drawingml/2006/table">
            <a:tbl>
              <a:tblPr/>
              <a:tblGrid>
                <a:gridCol w="3295650"/>
                <a:gridCol w="4400550"/>
                <a:gridCol w="3714750"/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E5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Behavioral Pattern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F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E5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Detection Logic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F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E5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Auto-Intervention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FE">
                        <a:alpha val="3000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Chasing Losses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5+ consecutive deposits after loss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Reality Check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Cooling-off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Velocity Spike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Bet frequency &gt;3x baseline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Session Time Alert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Rapid Escalation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Bet size 10x in 30 minutes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Mandatory Break (24-72 hrs)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Prolonged Session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Continuous play &gt;90 minutes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Reality Check Notification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Affordability Breach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€1,000+ deposits in 30 days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Affordability Questionnaire</a:t>
                      </a:r>
                      <a:endParaRPr lang="en-US" sz="10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5763" y="391001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4825" y="40290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9" name="Text 6"/>
          <p:cNvSpPr/>
          <p:nvPr/>
        </p:nvSpPr>
        <p:spPr>
          <a:xfrm>
            <a:off x="857250" y="4029075"/>
            <a:ext cx="1089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RG alerts auto-routed to </a:t>
            </a: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agent via SSE stream</a:t>
            </a:r>
            <a:r>
              <a:rPr lang="en-US" sz="10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for immediate Tier 2 response — no human intervention required for threshold-based actions.</a:t>
            </a:r>
            <a:endParaRPr lang="en-US" sz="1600" dirty="0"/>
          </a:p>
        </p:txBody>
      </p:sp>
      <p:sp>
        <p:nvSpPr>
          <p:cNvPr id="6" name="Shape 7"/>
          <p:cNvSpPr/>
          <p:nvPr/>
        </p:nvSpPr>
        <p:spPr>
          <a:xfrm>
            <a:off x="385763" y="4462463"/>
            <a:ext cx="5629275" cy="809625"/>
          </a:xfrm>
          <a:custGeom>
            <a:avLst/>
            <a:gdLst/>
            <a:ahLst/>
            <a:cxnLst/>
            <a:rect l="l" t="t" r="r" b="b"/>
            <a:pathLst>
              <a:path w="5629275" h="809625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695322"/>
                </a:lnTo>
                <a:cubicBezTo>
                  <a:pt x="5629275" y="758408"/>
                  <a:pt x="5578058" y="809625"/>
                  <a:pt x="55149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7213" y="47529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14287"/>
                </a:moveTo>
                <a:cubicBezTo>
                  <a:pt x="152244" y="-14287"/>
                  <a:pt x="171450" y="4919"/>
                  <a:pt x="171450" y="28575"/>
                </a:cubicBezTo>
                <a:cubicBezTo>
                  <a:pt x="171450" y="52231"/>
                  <a:pt x="152244" y="71438"/>
                  <a:pt x="128588" y="71438"/>
                </a:cubicBezTo>
                <a:cubicBezTo>
                  <a:pt x="104931" y="71438"/>
                  <a:pt x="85725" y="52231"/>
                  <a:pt x="85725" y="28575"/>
                </a:cubicBezTo>
                <a:cubicBezTo>
                  <a:pt x="85725" y="4919"/>
                  <a:pt x="104931" y="-14287"/>
                  <a:pt x="128588" y="-14287"/>
                </a:cubicBezTo>
                <a:close/>
                <a:moveTo>
                  <a:pt x="21431" y="135731"/>
                </a:moveTo>
                <a:cubicBezTo>
                  <a:pt x="21431" y="104433"/>
                  <a:pt x="42416" y="77063"/>
                  <a:pt x="73715" y="62106"/>
                </a:cubicBezTo>
                <a:cubicBezTo>
                  <a:pt x="85011" y="80546"/>
                  <a:pt x="105370" y="92869"/>
                  <a:pt x="128588" y="92869"/>
                </a:cubicBezTo>
                <a:cubicBezTo>
                  <a:pt x="153457" y="92869"/>
                  <a:pt x="175067" y="78715"/>
                  <a:pt x="185738" y="58043"/>
                </a:cubicBezTo>
                <a:cubicBezTo>
                  <a:pt x="192792" y="52998"/>
                  <a:pt x="201409" y="50006"/>
                  <a:pt x="210741" y="50006"/>
                </a:cubicBezTo>
                <a:lnTo>
                  <a:pt x="219447" y="50006"/>
                </a:lnTo>
                <a:cubicBezTo>
                  <a:pt x="224091" y="50006"/>
                  <a:pt x="227484" y="54382"/>
                  <a:pt x="226368" y="58891"/>
                </a:cubicBezTo>
                <a:lnTo>
                  <a:pt x="218733" y="89386"/>
                </a:lnTo>
                <a:cubicBezTo>
                  <a:pt x="223153" y="94923"/>
                  <a:pt x="226859" y="100861"/>
                  <a:pt x="229627" y="107156"/>
                </a:cubicBezTo>
                <a:lnTo>
                  <a:pt x="239316" y="107156"/>
                </a:lnTo>
                <a:cubicBezTo>
                  <a:pt x="245254" y="107156"/>
                  <a:pt x="250031" y="111934"/>
                  <a:pt x="250031" y="117872"/>
                </a:cubicBezTo>
                <a:lnTo>
                  <a:pt x="250031" y="167878"/>
                </a:lnTo>
                <a:cubicBezTo>
                  <a:pt x="250031" y="173816"/>
                  <a:pt x="245254" y="178594"/>
                  <a:pt x="239316" y="178594"/>
                </a:cubicBezTo>
                <a:lnTo>
                  <a:pt x="221456" y="178594"/>
                </a:lnTo>
                <a:cubicBezTo>
                  <a:pt x="214089" y="188416"/>
                  <a:pt x="204267" y="196275"/>
                  <a:pt x="192881" y="201231"/>
                </a:cubicBezTo>
                <a:lnTo>
                  <a:pt x="192881" y="214313"/>
                </a:lnTo>
                <a:cubicBezTo>
                  <a:pt x="192881" y="222215"/>
                  <a:pt x="186497" y="228600"/>
                  <a:pt x="178594" y="228600"/>
                </a:cubicBezTo>
                <a:lnTo>
                  <a:pt x="163860" y="228600"/>
                </a:lnTo>
                <a:cubicBezTo>
                  <a:pt x="157475" y="228600"/>
                  <a:pt x="151894" y="224358"/>
                  <a:pt x="150108" y="218242"/>
                </a:cubicBezTo>
                <a:lnTo>
                  <a:pt x="146938" y="207169"/>
                </a:lnTo>
                <a:lnTo>
                  <a:pt x="110192" y="207169"/>
                </a:lnTo>
                <a:lnTo>
                  <a:pt x="107022" y="218242"/>
                </a:lnTo>
                <a:cubicBezTo>
                  <a:pt x="105281" y="224358"/>
                  <a:pt x="99700" y="228600"/>
                  <a:pt x="93315" y="228600"/>
                </a:cubicBezTo>
                <a:lnTo>
                  <a:pt x="78581" y="228600"/>
                </a:lnTo>
                <a:cubicBezTo>
                  <a:pt x="70678" y="228600"/>
                  <a:pt x="64294" y="222215"/>
                  <a:pt x="64294" y="214313"/>
                </a:cubicBezTo>
                <a:lnTo>
                  <a:pt x="64294" y="201231"/>
                </a:lnTo>
                <a:cubicBezTo>
                  <a:pt x="39067" y="190202"/>
                  <a:pt x="21431" y="165021"/>
                  <a:pt x="21431" y="135731"/>
                </a:cubicBezTo>
                <a:close/>
                <a:moveTo>
                  <a:pt x="189309" y="142875"/>
                </a:moveTo>
                <a:cubicBezTo>
                  <a:pt x="195223" y="142875"/>
                  <a:pt x="200025" y="138073"/>
                  <a:pt x="200025" y="132159"/>
                </a:cubicBezTo>
                <a:cubicBezTo>
                  <a:pt x="200025" y="126245"/>
                  <a:pt x="195223" y="121444"/>
                  <a:pt x="189309" y="121444"/>
                </a:cubicBezTo>
                <a:cubicBezTo>
                  <a:pt x="183395" y="121444"/>
                  <a:pt x="178594" y="126245"/>
                  <a:pt x="178594" y="132159"/>
                </a:cubicBezTo>
                <a:cubicBezTo>
                  <a:pt x="178594" y="138073"/>
                  <a:pt x="183395" y="142875"/>
                  <a:pt x="189309" y="14287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942975" y="46196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€50K-100K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2975" y="4924425"/>
            <a:ext cx="2247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Cost savings vs building from scratch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6963" y="4462463"/>
            <a:ext cx="5629275" cy="809625"/>
          </a:xfrm>
          <a:custGeom>
            <a:avLst/>
            <a:gdLst/>
            <a:ahLst/>
            <a:cxnLst/>
            <a:rect l="l" t="t" r="r" b="b"/>
            <a:pathLst>
              <a:path w="5629275" h="809625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695322"/>
                </a:lnTo>
                <a:cubicBezTo>
                  <a:pt x="5629275" y="758408"/>
                  <a:pt x="5578058" y="809625"/>
                  <a:pt x="55149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8413" y="4733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5724" y="68491"/>
                </a:moveTo>
                <a:lnTo>
                  <a:pt x="67374" y="60141"/>
                </a:lnTo>
                <a:cubicBezTo>
                  <a:pt x="61793" y="54560"/>
                  <a:pt x="61793" y="45497"/>
                  <a:pt x="67374" y="39916"/>
                </a:cubicBezTo>
                <a:lnTo>
                  <a:pt x="118586" y="-11341"/>
                </a:lnTo>
                <a:cubicBezTo>
                  <a:pt x="124167" y="-16922"/>
                  <a:pt x="133231" y="-16922"/>
                  <a:pt x="138812" y="-11341"/>
                </a:cubicBezTo>
                <a:lnTo>
                  <a:pt x="147161" y="-2947"/>
                </a:lnTo>
                <a:cubicBezTo>
                  <a:pt x="152742" y="2634"/>
                  <a:pt x="152742" y="11698"/>
                  <a:pt x="147161" y="17279"/>
                </a:cubicBezTo>
                <a:lnTo>
                  <a:pt x="95949" y="68491"/>
                </a:lnTo>
                <a:cubicBezTo>
                  <a:pt x="90368" y="74072"/>
                  <a:pt x="81305" y="74072"/>
                  <a:pt x="75724" y="68491"/>
                </a:cubicBezTo>
                <a:close/>
                <a:moveTo>
                  <a:pt x="123230" y="94521"/>
                </a:moveTo>
                <a:lnTo>
                  <a:pt x="109210" y="80501"/>
                </a:lnTo>
                <a:lnTo>
                  <a:pt x="159216" y="30495"/>
                </a:lnTo>
                <a:lnTo>
                  <a:pt x="212527" y="83805"/>
                </a:lnTo>
                <a:lnTo>
                  <a:pt x="162520" y="133811"/>
                </a:lnTo>
                <a:lnTo>
                  <a:pt x="148501" y="119792"/>
                </a:lnTo>
                <a:lnTo>
                  <a:pt x="44916" y="223376"/>
                </a:lnTo>
                <a:cubicBezTo>
                  <a:pt x="37951" y="230341"/>
                  <a:pt x="26655" y="230341"/>
                  <a:pt x="19645" y="223376"/>
                </a:cubicBezTo>
                <a:cubicBezTo>
                  <a:pt x="12636" y="216411"/>
                  <a:pt x="12680" y="205115"/>
                  <a:pt x="19645" y="198105"/>
                </a:cubicBezTo>
                <a:lnTo>
                  <a:pt x="123230" y="94521"/>
                </a:lnTo>
                <a:close/>
                <a:moveTo>
                  <a:pt x="174531" y="167253"/>
                </a:moveTo>
                <a:cubicBezTo>
                  <a:pt x="168950" y="161672"/>
                  <a:pt x="168950" y="152608"/>
                  <a:pt x="174531" y="147027"/>
                </a:cubicBezTo>
                <a:lnTo>
                  <a:pt x="225743" y="95816"/>
                </a:lnTo>
                <a:cubicBezTo>
                  <a:pt x="231324" y="90234"/>
                  <a:pt x="240387" y="90234"/>
                  <a:pt x="245968" y="95816"/>
                </a:cubicBezTo>
                <a:lnTo>
                  <a:pt x="254318" y="104165"/>
                </a:lnTo>
                <a:cubicBezTo>
                  <a:pt x="259899" y="109746"/>
                  <a:pt x="259899" y="118809"/>
                  <a:pt x="254318" y="124391"/>
                </a:cubicBezTo>
                <a:lnTo>
                  <a:pt x="203106" y="175647"/>
                </a:lnTo>
                <a:cubicBezTo>
                  <a:pt x="197525" y="181228"/>
                  <a:pt x="188461" y="181228"/>
                  <a:pt x="182880" y="175647"/>
                </a:cubicBezTo>
                <a:lnTo>
                  <a:pt x="174531" y="167298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6" name="Text 13"/>
          <p:cNvSpPr/>
          <p:nvPr/>
        </p:nvSpPr>
        <p:spPr>
          <a:xfrm>
            <a:off x="6734175" y="4619625"/>
            <a:ext cx="3876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2026 Mandate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34175" y="4886325"/>
            <a:ext cx="385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Algorithm-based risk monitoring required in Brazil, Germany, Italy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55340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Hands-Off Regulatory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Automated regulatory reporting with 7-year audit trail and real-time anomaly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60797" y="14859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8" name="Text 6"/>
          <p:cNvSpPr/>
          <p:nvPr/>
        </p:nvSpPr>
        <p:spPr>
          <a:xfrm>
            <a:off x="1038225" y="1438275"/>
            <a:ext cx="1885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UKGC Monthly Returns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1876425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Automatically generated on the 1st of every month. Ready for download or SFTP delivery.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0309" y="2962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9"/>
          <p:cNvSpPr/>
          <p:nvPr/>
        </p:nvSpPr>
        <p:spPr>
          <a:xfrm>
            <a:off x="785813" y="2952750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Monthly · Auto-generated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3863" y="1223963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10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498181" y="1485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15" name="Text 13"/>
          <p:cNvSpPr/>
          <p:nvPr/>
        </p:nvSpPr>
        <p:spPr>
          <a:xfrm>
            <a:off x="4886325" y="1438275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MGA Player Protection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91025" y="1876425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Quarterly reports covering player protection and RG metrics auto-compiled via API.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18409" y="2962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80323" y="59565"/>
                </a:moveTo>
                <a:cubicBezTo>
                  <a:pt x="82146" y="56648"/>
                  <a:pt x="81260" y="52793"/>
                  <a:pt x="78343" y="50944"/>
                </a:cubicBezTo>
                <a:cubicBezTo>
                  <a:pt x="75426" y="49095"/>
                  <a:pt x="71571" y="50006"/>
                  <a:pt x="69722" y="52923"/>
                </a:cubicBezTo>
                <a:lnTo>
                  <a:pt x="53731" y="78525"/>
                </a:lnTo>
                <a:lnTo>
                  <a:pt x="46699" y="69149"/>
                </a:lnTo>
                <a:cubicBezTo>
                  <a:pt x="44615" y="66389"/>
                  <a:pt x="40708" y="65816"/>
                  <a:pt x="37947" y="67899"/>
                </a:cubicBezTo>
                <a:cubicBezTo>
                  <a:pt x="35187" y="69983"/>
                  <a:pt x="34614" y="73889"/>
                  <a:pt x="36697" y="76650"/>
                </a:cubicBezTo>
                <a:lnTo>
                  <a:pt x="49199" y="93319"/>
                </a:lnTo>
                <a:cubicBezTo>
                  <a:pt x="50423" y="94960"/>
                  <a:pt x="52402" y="95897"/>
                  <a:pt x="54460" y="95819"/>
                </a:cubicBezTo>
                <a:cubicBezTo>
                  <a:pt x="56517" y="95741"/>
                  <a:pt x="58393" y="94647"/>
                  <a:pt x="59487" y="92876"/>
                </a:cubicBezTo>
                <a:lnTo>
                  <a:pt x="80323" y="59539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8" name="Text 16"/>
          <p:cNvSpPr/>
          <p:nvPr/>
        </p:nvSpPr>
        <p:spPr>
          <a:xfrm>
            <a:off x="4633913" y="2952750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Quarterly · API-compiled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81962" y="1223963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91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335566" y="14859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2" name="Text 20"/>
          <p:cNvSpPr/>
          <p:nvPr/>
        </p:nvSpPr>
        <p:spPr>
          <a:xfrm>
            <a:off x="8734425" y="1438275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Curaçao Compliance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39125" y="1876425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Annual compliance reports generated every Jan 31st with full fair-gaming RNG verification.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66509" y="2962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Text 23"/>
          <p:cNvSpPr/>
          <p:nvPr/>
        </p:nvSpPr>
        <p:spPr>
          <a:xfrm>
            <a:off x="8482013" y="2952750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Annual · RNG Verified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3386138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39366" y="3648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21431"/>
                </a:moveTo>
                <a:cubicBezTo>
                  <a:pt x="131936" y="21431"/>
                  <a:pt x="160734" y="50229"/>
                  <a:pt x="160734" y="85725"/>
                </a:cubicBezTo>
                <a:cubicBezTo>
                  <a:pt x="160734" y="121221"/>
                  <a:pt x="131936" y="150019"/>
                  <a:pt x="96441" y="150019"/>
                </a:cubicBezTo>
                <a:cubicBezTo>
                  <a:pt x="74608" y="150019"/>
                  <a:pt x="55286" y="139136"/>
                  <a:pt x="43666" y="122460"/>
                </a:cubicBezTo>
                <a:cubicBezTo>
                  <a:pt x="40284" y="117604"/>
                  <a:pt x="33587" y="116432"/>
                  <a:pt x="28731" y="119814"/>
                </a:cubicBezTo>
                <a:cubicBezTo>
                  <a:pt x="23876" y="123196"/>
                  <a:pt x="22704" y="129893"/>
                  <a:pt x="26086" y="134749"/>
                </a:cubicBezTo>
                <a:cubicBezTo>
                  <a:pt x="41557" y="156917"/>
                  <a:pt x="67308" y="171450"/>
                  <a:pt x="96441" y="171450"/>
                </a:cubicBezTo>
                <a:cubicBezTo>
                  <a:pt x="143790" y="171450"/>
                  <a:pt x="182166" y="133075"/>
                  <a:pt x="182166" y="85725"/>
                </a:cubicBezTo>
                <a:cubicBezTo>
                  <a:pt x="182166" y="38375"/>
                  <a:pt x="143790" y="0"/>
                  <a:pt x="96441" y="0"/>
                </a:cubicBezTo>
                <a:cubicBezTo>
                  <a:pt x="67743" y="0"/>
                  <a:pt x="42360" y="14098"/>
                  <a:pt x="26789" y="35730"/>
                </a:cubicBezTo>
                <a:lnTo>
                  <a:pt x="26789" y="26789"/>
                </a:lnTo>
                <a:cubicBezTo>
                  <a:pt x="26789" y="20862"/>
                  <a:pt x="22001" y="16073"/>
                  <a:pt x="16073" y="16073"/>
                </a:cubicBezTo>
                <a:cubicBezTo>
                  <a:pt x="10146" y="16073"/>
                  <a:pt x="5358" y="20862"/>
                  <a:pt x="5358" y="26789"/>
                </a:cubicBezTo>
                <a:lnTo>
                  <a:pt x="5358" y="64294"/>
                </a:lnTo>
                <a:cubicBezTo>
                  <a:pt x="5358" y="70221"/>
                  <a:pt x="10146" y="75009"/>
                  <a:pt x="16073" y="75009"/>
                </a:cubicBezTo>
                <a:lnTo>
                  <a:pt x="24311" y="75009"/>
                </a:lnTo>
                <a:cubicBezTo>
                  <a:pt x="24479" y="75009"/>
                  <a:pt x="24646" y="75009"/>
                  <a:pt x="24813" y="75009"/>
                </a:cubicBezTo>
                <a:lnTo>
                  <a:pt x="53612" y="75009"/>
                </a:lnTo>
                <a:cubicBezTo>
                  <a:pt x="59539" y="75009"/>
                  <a:pt x="64327" y="70221"/>
                  <a:pt x="64327" y="64294"/>
                </a:cubicBezTo>
                <a:cubicBezTo>
                  <a:pt x="64327" y="58367"/>
                  <a:pt x="59539" y="53578"/>
                  <a:pt x="53612" y="53578"/>
                </a:cubicBezTo>
                <a:lnTo>
                  <a:pt x="40786" y="53578"/>
                </a:lnTo>
                <a:cubicBezTo>
                  <a:pt x="51870" y="34357"/>
                  <a:pt x="72665" y="21431"/>
                  <a:pt x="96441" y="21431"/>
                </a:cubicBezTo>
                <a:close/>
                <a:moveTo>
                  <a:pt x="104477" y="50899"/>
                </a:moveTo>
                <a:cubicBezTo>
                  <a:pt x="104477" y="46446"/>
                  <a:pt x="100894" y="42863"/>
                  <a:pt x="96441" y="42863"/>
                </a:cubicBezTo>
                <a:cubicBezTo>
                  <a:pt x="91987" y="42863"/>
                  <a:pt x="88404" y="46446"/>
                  <a:pt x="88404" y="50899"/>
                </a:cubicBezTo>
                <a:lnTo>
                  <a:pt x="88404" y="85725"/>
                </a:lnTo>
                <a:cubicBezTo>
                  <a:pt x="88404" y="87868"/>
                  <a:pt x="89241" y="89911"/>
                  <a:pt x="90748" y="91418"/>
                </a:cubicBezTo>
                <a:lnTo>
                  <a:pt x="114858" y="115528"/>
                </a:lnTo>
                <a:cubicBezTo>
                  <a:pt x="118006" y="118676"/>
                  <a:pt x="123096" y="118676"/>
                  <a:pt x="126210" y="115528"/>
                </a:cubicBezTo>
                <a:cubicBezTo>
                  <a:pt x="129324" y="112380"/>
                  <a:pt x="129358" y="107290"/>
                  <a:pt x="126210" y="104176"/>
                </a:cubicBezTo>
                <a:lnTo>
                  <a:pt x="104444" y="82410"/>
                </a:lnTo>
                <a:lnTo>
                  <a:pt x="104444" y="50899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9" name="Text 27"/>
          <p:cNvSpPr/>
          <p:nvPr/>
        </p:nvSpPr>
        <p:spPr>
          <a:xfrm>
            <a:off x="1038225" y="3600450"/>
            <a:ext cx="141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7-Year Audit Trail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2925" y="4038600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event-level data retention. On-demand exports in CSV/JSON for any audit request.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0309" y="5124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2" name="Text 30"/>
          <p:cNvSpPr/>
          <p:nvPr/>
        </p:nvSpPr>
        <p:spPr>
          <a:xfrm>
            <a:off x="785813" y="5114925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Immutable · Exportable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33863" y="3386138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1025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498181" y="3648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6" name="Text 34"/>
          <p:cNvSpPr/>
          <p:nvPr/>
        </p:nvSpPr>
        <p:spPr>
          <a:xfrm>
            <a:off x="4886325" y="3600450"/>
            <a:ext cx="158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91025" y="4038600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Automatic alerts on GGR drops or payment failure spikes, delivered via Slack or AFA Monitor in real time.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18409" y="5124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0"/>
                </a:moveTo>
                <a:cubicBezTo>
                  <a:pt x="53731" y="0"/>
                  <a:pt x="50006" y="3724"/>
                  <a:pt x="50006" y="8334"/>
                </a:cubicBezTo>
                <a:lnTo>
                  <a:pt x="50006" y="9168"/>
                </a:lnTo>
                <a:cubicBezTo>
                  <a:pt x="30993" y="13022"/>
                  <a:pt x="16669" y="29847"/>
                  <a:pt x="16669" y="50006"/>
                </a:cubicBezTo>
                <a:lnTo>
                  <a:pt x="16669" y="55658"/>
                </a:lnTo>
                <a:cubicBezTo>
                  <a:pt x="16669" y="68186"/>
                  <a:pt x="12397" y="80349"/>
                  <a:pt x="4584" y="90141"/>
                </a:cubicBezTo>
                <a:lnTo>
                  <a:pt x="2032" y="93319"/>
                </a:lnTo>
                <a:cubicBezTo>
                  <a:pt x="703" y="94960"/>
                  <a:pt x="0" y="96991"/>
                  <a:pt x="0" y="99101"/>
                </a:cubicBezTo>
                <a:cubicBezTo>
                  <a:pt x="0" y="104206"/>
                  <a:pt x="4141" y="108347"/>
                  <a:pt x="9246" y="108347"/>
                </a:cubicBezTo>
                <a:lnTo>
                  <a:pt x="107409" y="108347"/>
                </a:lnTo>
                <a:cubicBezTo>
                  <a:pt x="112514" y="108347"/>
                  <a:pt x="116655" y="104206"/>
                  <a:pt x="116655" y="99101"/>
                </a:cubicBezTo>
                <a:cubicBezTo>
                  <a:pt x="116655" y="96991"/>
                  <a:pt x="115952" y="94960"/>
                  <a:pt x="114624" y="93319"/>
                </a:cubicBezTo>
                <a:lnTo>
                  <a:pt x="112071" y="90141"/>
                </a:lnTo>
                <a:cubicBezTo>
                  <a:pt x="104284" y="80349"/>
                  <a:pt x="100013" y="68186"/>
                  <a:pt x="100013" y="55658"/>
                </a:cubicBezTo>
                <a:lnTo>
                  <a:pt x="100013" y="50006"/>
                </a:lnTo>
                <a:cubicBezTo>
                  <a:pt x="100013" y="29847"/>
                  <a:pt x="85688" y="13022"/>
                  <a:pt x="66675" y="9168"/>
                </a:cubicBezTo>
                <a:lnTo>
                  <a:pt x="66675" y="8334"/>
                </a:lnTo>
                <a:cubicBezTo>
                  <a:pt x="66675" y="3724"/>
                  <a:pt x="62951" y="0"/>
                  <a:pt x="58341" y="0"/>
                </a:cubicBezTo>
                <a:close/>
                <a:moveTo>
                  <a:pt x="42193" y="120848"/>
                </a:moveTo>
                <a:cubicBezTo>
                  <a:pt x="44042" y="128037"/>
                  <a:pt x="50579" y="133350"/>
                  <a:pt x="58341" y="133350"/>
                </a:cubicBezTo>
                <a:cubicBezTo>
                  <a:pt x="66102" y="133350"/>
                  <a:pt x="72639" y="128037"/>
                  <a:pt x="74488" y="120848"/>
                </a:cubicBezTo>
                <a:lnTo>
                  <a:pt x="42193" y="120848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39" name="Text 37"/>
          <p:cNvSpPr/>
          <p:nvPr/>
        </p:nvSpPr>
        <p:spPr>
          <a:xfrm>
            <a:off x="4633913" y="5114925"/>
            <a:ext cx="1152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· Slack/AFA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81962" y="3386138"/>
            <a:ext cx="3724275" cy="2038350"/>
          </a:xfrm>
          <a:custGeom>
            <a:avLst/>
            <a:gdLst/>
            <a:ahLst/>
            <a:cxnLst/>
            <a:rect l="l" t="t" r="r" b="b"/>
            <a:pathLst>
              <a:path w="3724275" h="2038350">
                <a:moveTo>
                  <a:pt x="114290" y="0"/>
                </a:moveTo>
                <a:lnTo>
                  <a:pt x="3609985" y="0"/>
                </a:lnTo>
                <a:cubicBezTo>
                  <a:pt x="3673105" y="0"/>
                  <a:pt x="3724275" y="51170"/>
                  <a:pt x="3724275" y="114290"/>
                </a:cubicBezTo>
                <a:lnTo>
                  <a:pt x="3724275" y="1924060"/>
                </a:lnTo>
                <a:cubicBezTo>
                  <a:pt x="3724275" y="1987180"/>
                  <a:pt x="3673105" y="2038350"/>
                  <a:pt x="3609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39125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8324850" y="36480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3" name="Text 41"/>
          <p:cNvSpPr/>
          <p:nvPr/>
        </p:nvSpPr>
        <p:spPr>
          <a:xfrm>
            <a:off x="8734425" y="3600450"/>
            <a:ext cx="178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Agent-Inclusive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39125" y="4038600"/>
            <a:ext cx="34766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Every autonomous AI action is recorded in the 7-year immutable audit log alongside human actions.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4844" y="51244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65086" y="17398"/>
                </a:moveTo>
                <a:cubicBezTo>
                  <a:pt x="67795" y="13674"/>
                  <a:pt x="66961" y="8465"/>
                  <a:pt x="63237" y="5756"/>
                </a:cubicBezTo>
                <a:cubicBezTo>
                  <a:pt x="59513" y="3047"/>
                  <a:pt x="54304" y="3881"/>
                  <a:pt x="51595" y="7605"/>
                </a:cubicBezTo>
                <a:lnTo>
                  <a:pt x="23987" y="45553"/>
                </a:lnTo>
                <a:lnTo>
                  <a:pt x="14221" y="35786"/>
                </a:lnTo>
                <a:cubicBezTo>
                  <a:pt x="10965" y="32530"/>
                  <a:pt x="5678" y="32530"/>
                  <a:pt x="2422" y="35786"/>
                </a:cubicBezTo>
                <a:cubicBezTo>
                  <a:pt x="-833" y="39041"/>
                  <a:pt x="-833" y="44328"/>
                  <a:pt x="2422" y="47584"/>
                </a:cubicBezTo>
                <a:lnTo>
                  <a:pt x="19091" y="64253"/>
                </a:lnTo>
                <a:cubicBezTo>
                  <a:pt x="20810" y="65972"/>
                  <a:pt x="23206" y="66857"/>
                  <a:pt x="25628" y="66675"/>
                </a:cubicBezTo>
                <a:cubicBezTo>
                  <a:pt x="28050" y="66493"/>
                  <a:pt x="30290" y="65243"/>
                  <a:pt x="31723" y="63263"/>
                </a:cubicBezTo>
                <a:lnTo>
                  <a:pt x="65060" y="17424"/>
                </a:lnTo>
                <a:close/>
                <a:moveTo>
                  <a:pt x="98424" y="52819"/>
                </a:moveTo>
                <a:cubicBezTo>
                  <a:pt x="101132" y="49095"/>
                  <a:pt x="100299" y="43886"/>
                  <a:pt x="96575" y="41177"/>
                </a:cubicBezTo>
                <a:cubicBezTo>
                  <a:pt x="92850" y="38468"/>
                  <a:pt x="87641" y="39302"/>
                  <a:pt x="84932" y="43026"/>
                </a:cubicBezTo>
                <a:lnTo>
                  <a:pt x="40656" y="103893"/>
                </a:lnTo>
                <a:lnTo>
                  <a:pt x="22555" y="85792"/>
                </a:lnTo>
                <a:cubicBezTo>
                  <a:pt x="19299" y="82536"/>
                  <a:pt x="14012" y="82536"/>
                  <a:pt x="10757" y="85792"/>
                </a:cubicBezTo>
                <a:cubicBezTo>
                  <a:pt x="7501" y="89048"/>
                  <a:pt x="7501" y="94335"/>
                  <a:pt x="10757" y="97590"/>
                </a:cubicBezTo>
                <a:lnTo>
                  <a:pt x="35760" y="122593"/>
                </a:lnTo>
                <a:cubicBezTo>
                  <a:pt x="37479" y="124312"/>
                  <a:pt x="39875" y="125198"/>
                  <a:pt x="42297" y="125016"/>
                </a:cubicBezTo>
                <a:cubicBezTo>
                  <a:pt x="44719" y="124833"/>
                  <a:pt x="46959" y="123583"/>
                  <a:pt x="48391" y="121604"/>
                </a:cubicBezTo>
                <a:lnTo>
                  <a:pt x="98398" y="52845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Text 44"/>
          <p:cNvSpPr/>
          <p:nvPr/>
        </p:nvSpPr>
        <p:spPr>
          <a:xfrm>
            <a:off x="8482013" y="5114925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regulatory traceability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2470" y="5886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49" name="Text 47"/>
          <p:cNvSpPr/>
          <p:nvPr/>
        </p:nvSpPr>
        <p:spPr>
          <a:xfrm>
            <a:off x="5028233" y="5743575"/>
            <a:ext cx="22098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80620" y="6124575"/>
            <a:ext cx="2105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Reduction in administrative burden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59030" y="59150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E5FF"/>
          </a:solidFill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f73b94d7784e7b397bf73690c8d5a0448df16fca.jp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17">
                  <a:alpha val="95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1A237E">
                  <a:alpha val="8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5" name="Text 2"/>
          <p:cNvSpPr/>
          <p:nvPr/>
        </p:nvSpPr>
        <p:spPr>
          <a:xfrm>
            <a:off x="533400" y="381000"/>
            <a:ext cx="4733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Mission-Critical Performance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Enterprise-grade SLAs at modern SaaS pricing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54175" y="14192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12541" y="16573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478235" y="2333625"/>
            <a:ext cx="15144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04008" y="2867025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Uptime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6810" y="3209925"/>
            <a:ext cx="2657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Guaranteed SLA with 24/7 health monitoring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6513" y="122396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4926" y="14192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73291" y="16573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5296942" y="2333625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58420" y="2867025"/>
            <a:ext cx="1276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2716" y="3209925"/>
            <a:ext cx="3028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 player balance updates via stateless responses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07338" y="122396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75750" y="14192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816257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9167887" y="2333625"/>
            <a:ext cx="1581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&lt;10ms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27629" y="2867025"/>
            <a:ext cx="165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RabbitMQ Publish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8721" y="320992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 Track event sync latency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5763" y="4114800"/>
            <a:ext cx="11420475" cy="1495425"/>
          </a:xfrm>
          <a:custGeom>
            <a:avLst/>
            <a:gdLst/>
            <a:ahLst/>
            <a:cxnLst/>
            <a:rect l="l" t="t" r="r" b="b"/>
            <a:pathLst>
              <a:path w="11420475" h="149542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1381130"/>
                </a:lnTo>
                <a:cubicBezTo>
                  <a:pt x="11420475" y="1444253"/>
                  <a:pt x="11369303" y="1495425"/>
                  <a:pt x="113061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58778" y="4595813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Ladapter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534966" y="4824413"/>
            <a:ext cx="933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37559" y="4710113"/>
            <a:ext cx="238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4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959474" y="4595813"/>
            <a:ext cx="742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Lpublish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935662" y="4824413"/>
            <a:ext cx="790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&lt;10ms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896049" y="4710113"/>
            <a:ext cx="238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4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=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60827" y="4319588"/>
            <a:ext cx="2333625" cy="1085850"/>
          </a:xfrm>
          <a:custGeom>
            <a:avLst/>
            <a:gdLst/>
            <a:ahLst/>
            <a:cxnLst/>
            <a:rect l="l" t="t" r="r" b="b"/>
            <a:pathLst>
              <a:path w="2333625" h="1085850">
                <a:moveTo>
                  <a:pt x="76205" y="0"/>
                </a:moveTo>
                <a:lnTo>
                  <a:pt x="2257420" y="0"/>
                </a:lnTo>
                <a:cubicBezTo>
                  <a:pt x="2299507" y="0"/>
                  <a:pt x="2333625" y="34118"/>
                  <a:pt x="2333625" y="76205"/>
                </a:cubicBezTo>
                <a:lnTo>
                  <a:pt x="2333625" y="1009645"/>
                </a:lnTo>
                <a:cubicBezTo>
                  <a:pt x="2333625" y="1051732"/>
                  <a:pt x="2299507" y="1085850"/>
                  <a:pt x="2257420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56090" y="4443413"/>
            <a:ext cx="1943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 spin to CRM event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27515" y="4748213"/>
            <a:ext cx="2000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65615" y="5091113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85763" y="5772150"/>
            <a:ext cx="3695700" cy="704850"/>
          </a:xfrm>
          <a:custGeom>
            <a:avLst/>
            <a:gdLst/>
            <a:ahLst/>
            <a:cxnLst/>
            <a:rect l="l" t="t" r="r" b="b"/>
            <a:pathLst>
              <a:path w="3695700" h="704850">
                <a:moveTo>
                  <a:pt x="76201" y="0"/>
                </a:moveTo>
                <a:lnTo>
                  <a:pt x="3619499" y="0"/>
                </a:lnTo>
                <a:cubicBezTo>
                  <a:pt x="3661584" y="0"/>
                  <a:pt x="3695700" y="34116"/>
                  <a:pt x="3695700" y="76201"/>
                </a:cubicBezTo>
                <a:lnTo>
                  <a:pt x="3695700" y="628649"/>
                </a:lnTo>
                <a:cubicBezTo>
                  <a:pt x="3695700" y="670734"/>
                  <a:pt x="3661584" y="704850"/>
                  <a:pt x="3619499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139925" y="5895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38" name="Text 35"/>
          <p:cNvSpPr/>
          <p:nvPr/>
        </p:nvSpPr>
        <p:spPr>
          <a:xfrm>
            <a:off x="471488" y="61626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24/7 Health Monitoring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246513" y="5772150"/>
            <a:ext cx="3695700" cy="704850"/>
          </a:xfrm>
          <a:custGeom>
            <a:avLst/>
            <a:gdLst/>
            <a:ahLst/>
            <a:cxnLst/>
            <a:rect l="l" t="t" r="r" b="b"/>
            <a:pathLst>
              <a:path w="3695700" h="704850">
                <a:moveTo>
                  <a:pt x="76201" y="0"/>
                </a:moveTo>
                <a:lnTo>
                  <a:pt x="3619499" y="0"/>
                </a:lnTo>
                <a:cubicBezTo>
                  <a:pt x="3661584" y="0"/>
                  <a:pt x="3695700" y="34116"/>
                  <a:pt x="3695700" y="76201"/>
                </a:cubicBezTo>
                <a:lnTo>
                  <a:pt x="3695700" y="628649"/>
                </a:lnTo>
                <a:cubicBezTo>
                  <a:pt x="3695700" y="670734"/>
                  <a:pt x="3661584" y="704850"/>
                  <a:pt x="3619499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12582" y="5895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1" name="Text 38"/>
          <p:cNvSpPr/>
          <p:nvPr/>
        </p:nvSpPr>
        <p:spPr>
          <a:xfrm>
            <a:off x="4332238" y="61626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Auto-Scaling Infrastructure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07338" y="5772150"/>
            <a:ext cx="3695700" cy="704850"/>
          </a:xfrm>
          <a:custGeom>
            <a:avLst/>
            <a:gdLst/>
            <a:ahLst/>
            <a:cxnLst/>
            <a:rect l="l" t="t" r="r" b="b"/>
            <a:pathLst>
              <a:path w="3695700" h="704850">
                <a:moveTo>
                  <a:pt x="76201" y="0"/>
                </a:moveTo>
                <a:lnTo>
                  <a:pt x="3619499" y="0"/>
                </a:lnTo>
                <a:cubicBezTo>
                  <a:pt x="3661584" y="0"/>
                  <a:pt x="3695700" y="34116"/>
                  <a:pt x="3695700" y="76201"/>
                </a:cubicBezTo>
                <a:lnTo>
                  <a:pt x="3695700" y="628649"/>
                </a:lnTo>
                <a:cubicBezTo>
                  <a:pt x="3695700" y="670734"/>
                  <a:pt x="3661584" y="704850"/>
                  <a:pt x="3619499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861500" y="5895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44" name="Text 41"/>
          <p:cNvSpPr/>
          <p:nvPr/>
        </p:nvSpPr>
        <p:spPr>
          <a:xfrm>
            <a:off x="8193063" y="61626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Multi-Region Deployment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54864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 Security &amp; BYOC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Your data moat is yours — NeoStrike cannot hold it hostage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10225" cy="3800475"/>
          </a:xfrm>
          <a:custGeom>
            <a:avLst/>
            <a:gdLst/>
            <a:ahLst/>
            <a:cxnLst/>
            <a:rect l="l" t="t" r="r" b="b"/>
            <a:pathLst>
              <a:path w="5610225" h="3800475">
                <a:moveTo>
                  <a:pt x="114318" y="0"/>
                </a:moveTo>
                <a:lnTo>
                  <a:pt x="5495907" y="0"/>
                </a:lnTo>
                <a:cubicBezTo>
                  <a:pt x="5559043" y="0"/>
                  <a:pt x="5610225" y="51182"/>
                  <a:pt x="5610225" y="114318"/>
                </a:cubicBezTo>
                <a:lnTo>
                  <a:pt x="5610225" y="3686157"/>
                </a:lnTo>
                <a:cubicBezTo>
                  <a:pt x="5610225" y="3749293"/>
                  <a:pt x="5559043" y="3800475"/>
                  <a:pt x="5495907" y="3800475"/>
                </a:cubicBezTo>
                <a:lnTo>
                  <a:pt x="114318" y="3800475"/>
                </a:lnTo>
                <a:cubicBezTo>
                  <a:pt x="51182" y="3800475"/>
                  <a:pt x="0" y="3749293"/>
                  <a:pt x="0" y="36861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1A237E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71437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52525" y="1495425"/>
            <a:ext cx="175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BYOC Moat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028825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00075" y="20288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1" name="Shape 9"/>
          <p:cNvSpPr/>
          <p:nvPr/>
        </p:nvSpPr>
        <p:spPr>
          <a:xfrm>
            <a:off x="733425" y="2181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13197" y="22669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77406" y="133350"/>
                </a:lnTo>
                <a:cubicBezTo>
                  <a:pt x="67977" y="122255"/>
                  <a:pt x="62508" y="107956"/>
                  <a:pt x="62508" y="92824"/>
                </a:cubicBezTo>
                <a:lnTo>
                  <a:pt x="62508" y="84724"/>
                </a:lnTo>
                <a:cubicBezTo>
                  <a:pt x="62508" y="82823"/>
                  <a:pt x="62768" y="80948"/>
                  <a:pt x="63263" y="79177"/>
                </a:cubicBezTo>
                <a:lnTo>
                  <a:pt x="50605" y="79177"/>
                </a:lnTo>
                <a:close/>
                <a:moveTo>
                  <a:pt x="115978" y="127229"/>
                </a:moveTo>
                <a:lnTo>
                  <a:pt x="112514" y="128870"/>
                </a:lnTo>
                <a:lnTo>
                  <a:pt x="112514" y="79880"/>
                </a:lnTo>
                <a:lnTo>
                  <a:pt x="137517" y="88214"/>
                </a:lnTo>
                <a:lnTo>
                  <a:pt x="137517" y="93319"/>
                </a:lnTo>
                <a:cubicBezTo>
                  <a:pt x="137517" y="107852"/>
                  <a:pt x="129131" y="121057"/>
                  <a:pt x="115978" y="127255"/>
                </a:cubicBezTo>
                <a:close/>
                <a:moveTo>
                  <a:pt x="109884" y="67587"/>
                </a:moveTo>
                <a:lnTo>
                  <a:pt x="80713" y="77301"/>
                </a:lnTo>
                <a:cubicBezTo>
                  <a:pt x="77301" y="78447"/>
                  <a:pt x="75009" y="81625"/>
                  <a:pt x="75009" y="85219"/>
                </a:cubicBezTo>
                <a:lnTo>
                  <a:pt x="75009" y="93319"/>
                </a:lnTo>
                <a:cubicBezTo>
                  <a:pt x="75009" y="112696"/>
                  <a:pt x="86209" y="130329"/>
                  <a:pt x="103711" y="138559"/>
                </a:cubicBezTo>
                <a:lnTo>
                  <a:pt x="108529" y="140825"/>
                </a:lnTo>
                <a:cubicBezTo>
                  <a:pt x="109779" y="141398"/>
                  <a:pt x="111134" y="141710"/>
                  <a:pt x="112488" y="141710"/>
                </a:cubicBezTo>
                <a:cubicBezTo>
                  <a:pt x="113842" y="141710"/>
                  <a:pt x="115223" y="141398"/>
                  <a:pt x="116447" y="140825"/>
                </a:cubicBezTo>
                <a:lnTo>
                  <a:pt x="121265" y="138559"/>
                </a:lnTo>
                <a:cubicBezTo>
                  <a:pt x="138819" y="130303"/>
                  <a:pt x="150019" y="112670"/>
                  <a:pt x="150019" y="93293"/>
                </a:cubicBezTo>
                <a:lnTo>
                  <a:pt x="150019" y="85193"/>
                </a:lnTo>
                <a:cubicBezTo>
                  <a:pt x="150019" y="81599"/>
                  <a:pt x="147727" y="78421"/>
                  <a:pt x="144315" y="77275"/>
                </a:cubicBezTo>
                <a:lnTo>
                  <a:pt x="115145" y="67561"/>
                </a:lnTo>
                <a:cubicBezTo>
                  <a:pt x="113426" y="66988"/>
                  <a:pt x="111576" y="66988"/>
                  <a:pt x="109884" y="67561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3" name="Text 11"/>
          <p:cNvSpPr/>
          <p:nvPr/>
        </p:nvSpPr>
        <p:spPr>
          <a:xfrm>
            <a:off x="1152525" y="2143125"/>
            <a:ext cx="4514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Decoupled Identity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525" y="2371725"/>
            <a:ext cx="4505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Supabase Auth + Sumsub KYC creates true separation. You are the GDPR Data Controller.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2786063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00075" y="278606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7" name="Shape 15"/>
          <p:cNvSpPr/>
          <p:nvPr/>
        </p:nvSpPr>
        <p:spPr>
          <a:xfrm>
            <a:off x="733425" y="29384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829866" y="30241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19" name="Text 17"/>
          <p:cNvSpPr/>
          <p:nvPr/>
        </p:nvSpPr>
        <p:spPr>
          <a:xfrm>
            <a:off x="1152525" y="2900363"/>
            <a:ext cx="4305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Own Your Player 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2525" y="3128963"/>
            <a:ext cx="4295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ownership of player data. NeoStrike stores only minimum profile under your DPA.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0075" y="35433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00075" y="3543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23" name="Shape 21"/>
          <p:cNvSpPr/>
          <p:nvPr/>
        </p:nvSpPr>
        <p:spPr>
          <a:xfrm>
            <a:off x="733425" y="3695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38200" y="37814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25" name="Text 23"/>
          <p:cNvSpPr/>
          <p:nvPr/>
        </p:nvSpPr>
        <p:spPr>
          <a:xfrm>
            <a:off x="1152525" y="3657600"/>
            <a:ext cx="4067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Processor Only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2525" y="3886200"/>
            <a:ext cx="4057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NeoStrike operates as clean Data Processor. No vendor lock-in, no data hostage.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6013" y="1223963"/>
            <a:ext cx="5610225" cy="3800475"/>
          </a:xfrm>
          <a:custGeom>
            <a:avLst/>
            <a:gdLst/>
            <a:ahLst/>
            <a:cxnLst/>
            <a:rect l="l" t="t" r="r" b="b"/>
            <a:pathLst>
              <a:path w="5610225" h="3800475">
                <a:moveTo>
                  <a:pt x="114318" y="0"/>
                </a:moveTo>
                <a:lnTo>
                  <a:pt x="5495907" y="0"/>
                </a:lnTo>
                <a:cubicBezTo>
                  <a:pt x="5559043" y="0"/>
                  <a:pt x="5610225" y="51182"/>
                  <a:pt x="5610225" y="114318"/>
                </a:cubicBezTo>
                <a:lnTo>
                  <a:pt x="5610225" y="3686157"/>
                </a:lnTo>
                <a:cubicBezTo>
                  <a:pt x="5610225" y="3749293"/>
                  <a:pt x="5559043" y="3800475"/>
                  <a:pt x="5495907" y="3800475"/>
                </a:cubicBezTo>
                <a:lnTo>
                  <a:pt x="114318" y="3800475"/>
                </a:lnTo>
                <a:cubicBezTo>
                  <a:pt x="51182" y="3800475"/>
                  <a:pt x="0" y="3749293"/>
                  <a:pt x="0" y="36861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127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29" name="Shape 27"/>
          <p:cNvSpPr/>
          <p:nvPr/>
        </p:nvSpPr>
        <p:spPr>
          <a:xfrm>
            <a:off x="6548438" y="15525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6962775" y="1495425"/>
            <a:ext cx="2524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Military-Grade Security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2033588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4150" y="2162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33" name="Text 31"/>
          <p:cNvSpPr/>
          <p:nvPr/>
        </p:nvSpPr>
        <p:spPr>
          <a:xfrm>
            <a:off x="6757988" y="2152650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AES-256 Encryption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15100" y="234315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credentials secured at rest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63038" y="2033588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01150" y="2162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37" name="Text 35"/>
          <p:cNvSpPr/>
          <p:nvPr/>
        </p:nvSpPr>
        <p:spPr>
          <a:xfrm>
            <a:off x="9424988" y="2152650"/>
            <a:ext cx="419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TLS 1.3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82100" y="234315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In-transit protection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6038" y="3005138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42484" y="3133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41" name="Text 39"/>
          <p:cNvSpPr/>
          <p:nvPr/>
        </p:nvSpPr>
        <p:spPr>
          <a:xfrm>
            <a:off x="6757988" y="3124200"/>
            <a:ext cx="1200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Player Data Ownership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15100" y="331470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You are GDPR data controller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63038" y="3005138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01150" y="3133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996" y="18830"/>
                </a:moveTo>
                <a:cubicBezTo>
                  <a:pt x="9793" y="12606"/>
                  <a:pt x="15497" y="8334"/>
                  <a:pt x="21982" y="8334"/>
                </a:cubicBezTo>
                <a:lnTo>
                  <a:pt x="111576" y="8334"/>
                </a:lnTo>
                <a:cubicBezTo>
                  <a:pt x="118062" y="8334"/>
                  <a:pt x="123765" y="12606"/>
                  <a:pt x="125589" y="18830"/>
                </a:cubicBezTo>
                <a:lnTo>
                  <a:pt x="131683" y="39719"/>
                </a:lnTo>
                <a:cubicBezTo>
                  <a:pt x="135017" y="51100"/>
                  <a:pt x="126448" y="62508"/>
                  <a:pt x="114598" y="62508"/>
                </a:cubicBezTo>
                <a:cubicBezTo>
                  <a:pt x="107748" y="62508"/>
                  <a:pt x="101731" y="58627"/>
                  <a:pt x="98762" y="52845"/>
                </a:cubicBezTo>
                <a:cubicBezTo>
                  <a:pt x="95741" y="58549"/>
                  <a:pt x="89751" y="62508"/>
                  <a:pt x="82771" y="62508"/>
                </a:cubicBezTo>
                <a:cubicBezTo>
                  <a:pt x="75843" y="62508"/>
                  <a:pt x="69826" y="58601"/>
                  <a:pt x="66805" y="52871"/>
                </a:cubicBezTo>
                <a:cubicBezTo>
                  <a:pt x="63784" y="58601"/>
                  <a:pt x="57768" y="62508"/>
                  <a:pt x="50840" y="62508"/>
                </a:cubicBezTo>
                <a:cubicBezTo>
                  <a:pt x="43860" y="62508"/>
                  <a:pt x="37869" y="58575"/>
                  <a:pt x="34848" y="52845"/>
                </a:cubicBezTo>
                <a:cubicBezTo>
                  <a:pt x="31879" y="58601"/>
                  <a:pt x="25863" y="62508"/>
                  <a:pt x="19013" y="62508"/>
                </a:cubicBezTo>
                <a:cubicBezTo>
                  <a:pt x="7136" y="62508"/>
                  <a:pt x="-1406" y="51126"/>
                  <a:pt x="1927" y="39719"/>
                </a:cubicBezTo>
                <a:lnTo>
                  <a:pt x="7996" y="18830"/>
                </a:lnTo>
                <a:close/>
                <a:moveTo>
                  <a:pt x="25107" y="91678"/>
                </a:moveTo>
                <a:lnTo>
                  <a:pt x="108451" y="91678"/>
                </a:lnTo>
                <a:lnTo>
                  <a:pt x="108451" y="74384"/>
                </a:lnTo>
                <a:cubicBezTo>
                  <a:pt x="110430" y="74801"/>
                  <a:pt x="112488" y="75009"/>
                  <a:pt x="114572" y="75009"/>
                </a:cubicBezTo>
                <a:cubicBezTo>
                  <a:pt x="118296" y="75009"/>
                  <a:pt x="121864" y="74332"/>
                  <a:pt x="125120" y="73134"/>
                </a:cubicBezTo>
                <a:lnTo>
                  <a:pt x="125120" y="112514"/>
                </a:lnTo>
                <a:cubicBezTo>
                  <a:pt x="125120" y="119416"/>
                  <a:pt x="119520" y="125016"/>
                  <a:pt x="112618" y="125016"/>
                </a:cubicBezTo>
                <a:lnTo>
                  <a:pt x="20940" y="125016"/>
                </a:lnTo>
                <a:cubicBezTo>
                  <a:pt x="14038" y="125016"/>
                  <a:pt x="8439" y="119416"/>
                  <a:pt x="8439" y="112514"/>
                </a:cubicBezTo>
                <a:lnTo>
                  <a:pt x="8439" y="73134"/>
                </a:lnTo>
                <a:cubicBezTo>
                  <a:pt x="11694" y="74332"/>
                  <a:pt x="15236" y="75009"/>
                  <a:pt x="18987" y="75009"/>
                </a:cubicBezTo>
                <a:cubicBezTo>
                  <a:pt x="21096" y="75009"/>
                  <a:pt x="23128" y="74801"/>
                  <a:pt x="25107" y="74384"/>
                </a:cubicBezTo>
                <a:lnTo>
                  <a:pt x="25107" y="91678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45" name="Text 43"/>
          <p:cNvSpPr/>
          <p:nvPr/>
        </p:nvSpPr>
        <p:spPr>
          <a:xfrm>
            <a:off x="9424988" y="3124200"/>
            <a:ext cx="1057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Merchant of Record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82100" y="331470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commercial ownership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6038" y="3976687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4150" y="4105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cubicBezTo>
                  <a:pt x="16669" y="129626"/>
                  <a:pt x="20393" y="133350"/>
                  <a:pt x="25003" y="133350"/>
                </a:cubicBezTo>
                <a:cubicBezTo>
                  <a:pt x="29613" y="133350"/>
                  <a:pt x="33337" y="129626"/>
                  <a:pt x="33337" y="125016"/>
                </a:cubicBezTo>
                <a:lnTo>
                  <a:pt x="100013" y="125016"/>
                </a:lnTo>
                <a:cubicBezTo>
                  <a:pt x="100013" y="129626"/>
                  <a:pt x="103737" y="133350"/>
                  <a:pt x="108347" y="133350"/>
                </a:cubicBezTo>
                <a:cubicBezTo>
                  <a:pt x="112957" y="133350"/>
                  <a:pt x="116681" y="129626"/>
                  <a:pt x="116681" y="125016"/>
                </a:cubicBezTo>
                <a:cubicBezTo>
                  <a:pt x="125875" y="125016"/>
                  <a:pt x="133350" y="117541"/>
                  <a:pt x="133350" y="108347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66675" y="66675"/>
                </a:moveTo>
                <a:cubicBezTo>
                  <a:pt x="66675" y="57475"/>
                  <a:pt x="59206" y="50006"/>
                  <a:pt x="50006" y="50006"/>
                </a:cubicBezTo>
                <a:cubicBezTo>
                  <a:pt x="40807" y="50006"/>
                  <a:pt x="33337" y="57475"/>
                  <a:pt x="33337" y="66675"/>
                </a:cubicBezTo>
                <a:cubicBezTo>
                  <a:pt x="33337" y="75875"/>
                  <a:pt x="40807" y="83344"/>
                  <a:pt x="50006" y="83344"/>
                </a:cubicBezTo>
                <a:cubicBezTo>
                  <a:pt x="59206" y="83344"/>
                  <a:pt x="66675" y="75875"/>
                  <a:pt x="66675" y="66675"/>
                </a:cubicBezTo>
                <a:close/>
                <a:moveTo>
                  <a:pt x="16669" y="66675"/>
                </a:moveTo>
                <a:cubicBezTo>
                  <a:pt x="16669" y="48276"/>
                  <a:pt x="31607" y="33337"/>
                  <a:pt x="50006" y="33337"/>
                </a:cubicBezTo>
                <a:cubicBezTo>
                  <a:pt x="68406" y="33337"/>
                  <a:pt x="83344" y="48276"/>
                  <a:pt x="83344" y="66675"/>
                </a:cubicBezTo>
                <a:cubicBezTo>
                  <a:pt x="83344" y="85074"/>
                  <a:pt x="68406" y="100013"/>
                  <a:pt x="50006" y="100013"/>
                </a:cubicBezTo>
                <a:cubicBezTo>
                  <a:pt x="31607" y="100013"/>
                  <a:pt x="16669" y="85074"/>
                  <a:pt x="16669" y="66675"/>
                </a:cubicBezTo>
                <a:close/>
                <a:moveTo>
                  <a:pt x="116681" y="54173"/>
                </a:moveTo>
                <a:cubicBezTo>
                  <a:pt x="116681" y="58809"/>
                  <a:pt x="114155" y="62846"/>
                  <a:pt x="110430" y="65008"/>
                </a:cubicBezTo>
                <a:lnTo>
                  <a:pt x="110430" y="85427"/>
                </a:lnTo>
                <a:cubicBezTo>
                  <a:pt x="110430" y="88891"/>
                  <a:pt x="107644" y="91678"/>
                  <a:pt x="104180" y="91678"/>
                </a:cubicBezTo>
                <a:cubicBezTo>
                  <a:pt x="100716" y="91678"/>
                  <a:pt x="97929" y="88891"/>
                  <a:pt x="97929" y="85427"/>
                </a:cubicBezTo>
                <a:lnTo>
                  <a:pt x="97929" y="65008"/>
                </a:lnTo>
                <a:cubicBezTo>
                  <a:pt x="94204" y="62846"/>
                  <a:pt x="91678" y="58809"/>
                  <a:pt x="91678" y="54173"/>
                </a:cubicBezTo>
                <a:cubicBezTo>
                  <a:pt x="91678" y="47272"/>
                  <a:pt x="97278" y="41672"/>
                  <a:pt x="104180" y="41672"/>
                </a:cubicBezTo>
                <a:cubicBezTo>
                  <a:pt x="111082" y="41672"/>
                  <a:pt x="116681" y="47272"/>
                  <a:pt x="116681" y="54173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9" name="Text 47"/>
          <p:cNvSpPr/>
          <p:nvPr/>
        </p:nvSpPr>
        <p:spPr>
          <a:xfrm>
            <a:off x="6757988" y="4095750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Isolated Vaults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15100" y="428625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Credentials never co-mingled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3038" y="3976687"/>
            <a:ext cx="2543175" cy="847725"/>
          </a:xfrm>
          <a:custGeom>
            <a:avLst/>
            <a:gdLst/>
            <a:ahLst/>
            <a:cxnLst/>
            <a:rect l="l" t="t" r="r" b="b"/>
            <a:pathLst>
              <a:path w="2543175" h="847725">
                <a:moveTo>
                  <a:pt x="76202" y="0"/>
                </a:moveTo>
                <a:lnTo>
                  <a:pt x="2466973" y="0"/>
                </a:lnTo>
                <a:cubicBezTo>
                  <a:pt x="2509030" y="0"/>
                  <a:pt x="2543175" y="34145"/>
                  <a:pt x="2543175" y="76202"/>
                </a:cubicBezTo>
                <a:lnTo>
                  <a:pt x="2543175" y="771523"/>
                </a:lnTo>
                <a:cubicBezTo>
                  <a:pt x="2543175" y="813580"/>
                  <a:pt x="2509030" y="847725"/>
                  <a:pt x="2466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92816" y="41052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2299" y="-2084"/>
                </a:moveTo>
                <a:cubicBezTo>
                  <a:pt x="60711" y="-3698"/>
                  <a:pt x="58393" y="-4350"/>
                  <a:pt x="56205" y="-3750"/>
                </a:cubicBezTo>
                <a:cubicBezTo>
                  <a:pt x="54017" y="-3151"/>
                  <a:pt x="52324" y="-1459"/>
                  <a:pt x="51777" y="729"/>
                </a:cubicBezTo>
                <a:lnTo>
                  <a:pt x="47792" y="16408"/>
                </a:lnTo>
                <a:cubicBezTo>
                  <a:pt x="47506" y="17554"/>
                  <a:pt x="46334" y="18231"/>
                  <a:pt x="45214" y="17893"/>
                </a:cubicBezTo>
                <a:lnTo>
                  <a:pt x="29639" y="13517"/>
                </a:lnTo>
                <a:cubicBezTo>
                  <a:pt x="27451" y="12892"/>
                  <a:pt x="25107" y="13517"/>
                  <a:pt x="23519" y="15106"/>
                </a:cubicBezTo>
                <a:cubicBezTo>
                  <a:pt x="21930" y="16695"/>
                  <a:pt x="21305" y="19039"/>
                  <a:pt x="21930" y="21227"/>
                </a:cubicBezTo>
                <a:lnTo>
                  <a:pt x="26331" y="36801"/>
                </a:lnTo>
                <a:cubicBezTo>
                  <a:pt x="26644" y="37921"/>
                  <a:pt x="25967" y="39093"/>
                  <a:pt x="24847" y="39380"/>
                </a:cubicBezTo>
                <a:lnTo>
                  <a:pt x="9142" y="43365"/>
                </a:lnTo>
                <a:cubicBezTo>
                  <a:pt x="6954" y="43912"/>
                  <a:pt x="5235" y="45631"/>
                  <a:pt x="4636" y="47818"/>
                </a:cubicBezTo>
                <a:cubicBezTo>
                  <a:pt x="4037" y="50006"/>
                  <a:pt x="4688" y="52324"/>
                  <a:pt x="6303" y="53913"/>
                </a:cubicBezTo>
                <a:lnTo>
                  <a:pt x="17893" y="65190"/>
                </a:lnTo>
                <a:cubicBezTo>
                  <a:pt x="18726" y="65998"/>
                  <a:pt x="18726" y="67352"/>
                  <a:pt x="17893" y="68186"/>
                </a:cubicBezTo>
                <a:lnTo>
                  <a:pt x="6329" y="79463"/>
                </a:lnTo>
                <a:cubicBezTo>
                  <a:pt x="4714" y="81052"/>
                  <a:pt x="4063" y="83370"/>
                  <a:pt x="4662" y="85558"/>
                </a:cubicBezTo>
                <a:cubicBezTo>
                  <a:pt x="5261" y="87745"/>
                  <a:pt x="6980" y="89438"/>
                  <a:pt x="9168" y="90011"/>
                </a:cubicBezTo>
                <a:lnTo>
                  <a:pt x="24847" y="93996"/>
                </a:lnTo>
                <a:cubicBezTo>
                  <a:pt x="25993" y="94283"/>
                  <a:pt x="26670" y="95455"/>
                  <a:pt x="26331" y="96575"/>
                </a:cubicBezTo>
                <a:lnTo>
                  <a:pt x="21930" y="112123"/>
                </a:lnTo>
                <a:cubicBezTo>
                  <a:pt x="21305" y="114311"/>
                  <a:pt x="21930" y="116655"/>
                  <a:pt x="23519" y="118244"/>
                </a:cubicBezTo>
                <a:cubicBezTo>
                  <a:pt x="25107" y="119833"/>
                  <a:pt x="27451" y="120458"/>
                  <a:pt x="29639" y="119833"/>
                </a:cubicBezTo>
                <a:lnTo>
                  <a:pt x="45214" y="115431"/>
                </a:lnTo>
                <a:cubicBezTo>
                  <a:pt x="46334" y="115119"/>
                  <a:pt x="47506" y="115796"/>
                  <a:pt x="47792" y="116916"/>
                </a:cubicBezTo>
                <a:lnTo>
                  <a:pt x="51777" y="132595"/>
                </a:lnTo>
                <a:cubicBezTo>
                  <a:pt x="52324" y="134782"/>
                  <a:pt x="54043" y="136501"/>
                  <a:pt x="56231" y="137100"/>
                </a:cubicBezTo>
                <a:cubicBezTo>
                  <a:pt x="58419" y="137700"/>
                  <a:pt x="60737" y="137048"/>
                  <a:pt x="62325" y="135434"/>
                </a:cubicBezTo>
                <a:lnTo>
                  <a:pt x="73603" y="123844"/>
                </a:lnTo>
                <a:cubicBezTo>
                  <a:pt x="74410" y="123010"/>
                  <a:pt x="75765" y="123010"/>
                  <a:pt x="76598" y="123844"/>
                </a:cubicBezTo>
                <a:lnTo>
                  <a:pt x="87850" y="135434"/>
                </a:lnTo>
                <a:cubicBezTo>
                  <a:pt x="89438" y="137048"/>
                  <a:pt x="91756" y="137700"/>
                  <a:pt x="93944" y="137100"/>
                </a:cubicBezTo>
                <a:cubicBezTo>
                  <a:pt x="96132" y="136501"/>
                  <a:pt x="97825" y="134782"/>
                  <a:pt x="98398" y="132595"/>
                </a:cubicBezTo>
                <a:lnTo>
                  <a:pt x="102383" y="116942"/>
                </a:lnTo>
                <a:cubicBezTo>
                  <a:pt x="102669" y="115796"/>
                  <a:pt x="103841" y="115119"/>
                  <a:pt x="104961" y="115457"/>
                </a:cubicBezTo>
                <a:lnTo>
                  <a:pt x="120536" y="119859"/>
                </a:lnTo>
                <a:cubicBezTo>
                  <a:pt x="122724" y="120484"/>
                  <a:pt x="125068" y="119859"/>
                  <a:pt x="126656" y="118270"/>
                </a:cubicBezTo>
                <a:cubicBezTo>
                  <a:pt x="128245" y="116681"/>
                  <a:pt x="128870" y="114337"/>
                  <a:pt x="128245" y="112149"/>
                </a:cubicBezTo>
                <a:lnTo>
                  <a:pt x="123844" y="96575"/>
                </a:lnTo>
                <a:cubicBezTo>
                  <a:pt x="123531" y="95455"/>
                  <a:pt x="124208" y="94283"/>
                  <a:pt x="125328" y="93996"/>
                </a:cubicBezTo>
                <a:lnTo>
                  <a:pt x="141007" y="90011"/>
                </a:lnTo>
                <a:cubicBezTo>
                  <a:pt x="143195" y="89464"/>
                  <a:pt x="144914" y="87745"/>
                  <a:pt x="145513" y="85558"/>
                </a:cubicBezTo>
                <a:cubicBezTo>
                  <a:pt x="146112" y="83370"/>
                  <a:pt x="145461" y="81026"/>
                  <a:pt x="143846" y="79463"/>
                </a:cubicBezTo>
                <a:lnTo>
                  <a:pt x="132256" y="68186"/>
                </a:lnTo>
                <a:cubicBezTo>
                  <a:pt x="131423" y="67378"/>
                  <a:pt x="131423" y="66024"/>
                  <a:pt x="132256" y="65190"/>
                </a:cubicBezTo>
                <a:lnTo>
                  <a:pt x="143846" y="53913"/>
                </a:lnTo>
                <a:cubicBezTo>
                  <a:pt x="145461" y="52324"/>
                  <a:pt x="146112" y="50006"/>
                  <a:pt x="145513" y="47818"/>
                </a:cubicBezTo>
                <a:cubicBezTo>
                  <a:pt x="144914" y="45631"/>
                  <a:pt x="143195" y="43938"/>
                  <a:pt x="141007" y="43365"/>
                </a:cubicBezTo>
                <a:lnTo>
                  <a:pt x="125328" y="39380"/>
                </a:lnTo>
                <a:cubicBezTo>
                  <a:pt x="124182" y="39093"/>
                  <a:pt x="123505" y="37921"/>
                  <a:pt x="123844" y="36801"/>
                </a:cubicBezTo>
                <a:lnTo>
                  <a:pt x="128245" y="21227"/>
                </a:lnTo>
                <a:cubicBezTo>
                  <a:pt x="128870" y="19039"/>
                  <a:pt x="128245" y="16695"/>
                  <a:pt x="126656" y="15106"/>
                </a:cubicBezTo>
                <a:cubicBezTo>
                  <a:pt x="125068" y="13517"/>
                  <a:pt x="122724" y="12892"/>
                  <a:pt x="120536" y="13517"/>
                </a:cubicBezTo>
                <a:lnTo>
                  <a:pt x="104961" y="17919"/>
                </a:lnTo>
                <a:cubicBezTo>
                  <a:pt x="103841" y="18231"/>
                  <a:pt x="102669" y="17554"/>
                  <a:pt x="102383" y="16434"/>
                </a:cubicBezTo>
                <a:lnTo>
                  <a:pt x="98398" y="729"/>
                </a:lnTo>
                <a:cubicBezTo>
                  <a:pt x="97851" y="-1459"/>
                  <a:pt x="96132" y="-3177"/>
                  <a:pt x="93944" y="-3777"/>
                </a:cubicBezTo>
                <a:cubicBezTo>
                  <a:pt x="91756" y="-4376"/>
                  <a:pt x="89438" y="-3724"/>
                  <a:pt x="87850" y="-2110"/>
                </a:cubicBezTo>
                <a:lnTo>
                  <a:pt x="76572" y="9506"/>
                </a:lnTo>
                <a:cubicBezTo>
                  <a:pt x="75765" y="10340"/>
                  <a:pt x="74410" y="10340"/>
                  <a:pt x="73577" y="9506"/>
                </a:cubicBezTo>
                <a:lnTo>
                  <a:pt x="62299" y="-208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53" name="Text 51"/>
          <p:cNvSpPr/>
          <p:nvPr/>
        </p:nvSpPr>
        <p:spPr>
          <a:xfrm>
            <a:off x="9424988" y="4095750"/>
            <a:ext cx="7334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Certifications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82100" y="4286250"/>
            <a:ext cx="2362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ISO 27001, PCI DSS, SOC 2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5763" y="5148263"/>
            <a:ext cx="11420475" cy="1323975"/>
          </a:xfrm>
          <a:custGeom>
            <a:avLst/>
            <a:gdLst/>
            <a:ahLst/>
            <a:cxnLst/>
            <a:rect l="l" t="t" r="r" b="b"/>
            <a:pathLst>
              <a:path w="11420475" h="132397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1209676"/>
                </a:lnTo>
                <a:cubicBezTo>
                  <a:pt x="11420475" y="1272802"/>
                  <a:pt x="11369302" y="1323975"/>
                  <a:pt x="1130617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925" y="5581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7" name="Text 55"/>
          <p:cNvSpPr/>
          <p:nvPr/>
        </p:nvSpPr>
        <p:spPr>
          <a:xfrm>
            <a:off x="981075" y="5305425"/>
            <a:ext cx="10734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Zero-Trust Agent Permissions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85838" y="5576888"/>
            <a:ext cx="3467100" cy="504825"/>
          </a:xfrm>
          <a:custGeom>
            <a:avLst/>
            <a:gdLst/>
            <a:ahLst/>
            <a:cxnLst/>
            <a:rect l="l" t="t" r="r" b="b"/>
            <a:pathLst>
              <a:path w="3467100" h="504825">
                <a:moveTo>
                  <a:pt x="38099" y="0"/>
                </a:moveTo>
                <a:lnTo>
                  <a:pt x="3429001" y="0"/>
                </a:lnTo>
                <a:cubicBezTo>
                  <a:pt x="3450042" y="0"/>
                  <a:pt x="3467100" y="17058"/>
                  <a:pt x="3467100" y="38099"/>
                </a:cubicBezTo>
                <a:lnTo>
                  <a:pt x="3467100" y="466726"/>
                </a:lnTo>
                <a:cubicBezTo>
                  <a:pt x="3467100" y="487767"/>
                  <a:pt x="3450042" y="504825"/>
                  <a:pt x="342900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6800" y="56578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66800" y="58483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Read-only monitoring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79888" y="5576888"/>
            <a:ext cx="3467100" cy="504825"/>
          </a:xfrm>
          <a:custGeom>
            <a:avLst/>
            <a:gdLst/>
            <a:ahLst/>
            <a:cxnLst/>
            <a:rect l="l" t="t" r="r" b="b"/>
            <a:pathLst>
              <a:path w="3467100" h="504825">
                <a:moveTo>
                  <a:pt x="38099" y="0"/>
                </a:moveTo>
                <a:lnTo>
                  <a:pt x="3429001" y="0"/>
                </a:lnTo>
                <a:cubicBezTo>
                  <a:pt x="3450042" y="0"/>
                  <a:pt x="3467100" y="17058"/>
                  <a:pt x="3467100" y="38099"/>
                </a:cubicBezTo>
                <a:lnTo>
                  <a:pt x="3467100" y="466726"/>
                </a:lnTo>
                <a:cubicBezTo>
                  <a:pt x="3467100" y="487767"/>
                  <a:pt x="3450042" y="504825"/>
                  <a:pt x="342900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0850" y="56578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Pre-auth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660850" y="58483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Threshold-based actions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74013" y="5576888"/>
            <a:ext cx="3467100" cy="504825"/>
          </a:xfrm>
          <a:custGeom>
            <a:avLst/>
            <a:gdLst/>
            <a:ahLst/>
            <a:cxnLst/>
            <a:rect l="l" t="t" r="r" b="b"/>
            <a:pathLst>
              <a:path w="3467100" h="504825">
                <a:moveTo>
                  <a:pt x="38099" y="0"/>
                </a:moveTo>
                <a:lnTo>
                  <a:pt x="3429001" y="0"/>
                </a:lnTo>
                <a:cubicBezTo>
                  <a:pt x="3450042" y="0"/>
                  <a:pt x="3467100" y="17058"/>
                  <a:pt x="3467100" y="38099"/>
                </a:cubicBezTo>
                <a:lnTo>
                  <a:pt x="3467100" y="466726"/>
                </a:lnTo>
                <a:cubicBezTo>
                  <a:pt x="3467100" y="487767"/>
                  <a:pt x="3450042" y="504825"/>
                  <a:pt x="342900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54975" y="56578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Gated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54975" y="5848350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Human-approved only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23925" y="6162675"/>
            <a:ext cx="10782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agent tokens issued via Tenant Portal with granular audit logging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3771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No-Code Tenant Portal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control through intuitive UI — no database access or complex queries required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4562475" cy="5248275"/>
          </a:xfrm>
          <a:custGeom>
            <a:avLst/>
            <a:gdLst/>
            <a:ahLst/>
            <a:cxnLst/>
            <a:rect l="l" t="t" r="r" b="b"/>
            <a:pathLst>
              <a:path w="4562475" h="5248275">
                <a:moveTo>
                  <a:pt x="114290" y="0"/>
                </a:moveTo>
                <a:lnTo>
                  <a:pt x="4448185" y="0"/>
                </a:lnTo>
                <a:cubicBezTo>
                  <a:pt x="4511263" y="0"/>
                  <a:pt x="4562475" y="51212"/>
                  <a:pt x="4562475" y="114290"/>
                </a:cubicBezTo>
                <a:lnTo>
                  <a:pt x="4562475" y="5133985"/>
                </a:lnTo>
                <a:cubicBezTo>
                  <a:pt x="4562475" y="5197106"/>
                  <a:pt x="4511306" y="5248275"/>
                  <a:pt x="4448185" y="5248275"/>
                </a:cubicBezTo>
                <a:lnTo>
                  <a:pt x="114290" y="5248275"/>
                </a:lnTo>
                <a:cubicBezTo>
                  <a:pt x="51212" y="5248275"/>
                  <a:pt x="0" y="5197063"/>
                  <a:pt x="0" y="5133985"/>
                </a:cubicBezTo>
                <a:lnTo>
                  <a:pt x="0" y="114290"/>
                </a:lnTo>
                <a:cubicBezTo>
                  <a:pt x="0" y="51169"/>
                  <a:pt x="51169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19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8181" y="1524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8" name="Text 6"/>
          <p:cNvSpPr/>
          <p:nvPr/>
        </p:nvSpPr>
        <p:spPr>
          <a:xfrm>
            <a:off x="1076325" y="1476375"/>
            <a:ext cx="1895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91174" y="1495425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391174" y="1495425"/>
            <a:ext cx="4191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1957388"/>
            <a:ext cx="4162425" cy="962025"/>
          </a:xfrm>
          <a:custGeom>
            <a:avLst/>
            <a:gdLst/>
            <a:ahLst/>
            <a:cxnLst/>
            <a:rect l="l" t="t" r="r" b="b"/>
            <a:pathLst>
              <a:path w="4162425" h="962025">
                <a:moveTo>
                  <a:pt x="76202" y="0"/>
                </a:moveTo>
                <a:lnTo>
                  <a:pt x="4086223" y="0"/>
                </a:lnTo>
                <a:cubicBezTo>
                  <a:pt x="4128280" y="0"/>
                  <a:pt x="4162425" y="34145"/>
                  <a:pt x="4162425" y="76202"/>
                </a:cubicBezTo>
                <a:lnTo>
                  <a:pt x="4162425" y="885823"/>
                </a:lnTo>
                <a:cubicBezTo>
                  <a:pt x="4162425" y="927880"/>
                  <a:pt x="4128280" y="962025"/>
                  <a:pt x="40862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850" y="2076450"/>
            <a:ext cx="704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Today's GGR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67225" y="2076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1818" y="57150"/>
                </a:moveTo>
                <a:cubicBezTo>
                  <a:pt x="30004" y="29617"/>
                  <a:pt x="55513" y="9525"/>
                  <a:pt x="85725" y="9525"/>
                </a:cubicBezTo>
                <a:lnTo>
                  <a:pt x="104775" y="9525"/>
                </a:lnTo>
                <a:cubicBezTo>
                  <a:pt x="110044" y="9525"/>
                  <a:pt x="114300" y="13781"/>
                  <a:pt x="114300" y="19050"/>
                </a:cubicBezTo>
                <a:cubicBezTo>
                  <a:pt x="114300" y="24319"/>
                  <a:pt x="110044" y="28575"/>
                  <a:pt x="104775" y="28575"/>
                </a:cubicBezTo>
                <a:lnTo>
                  <a:pt x="85725" y="28575"/>
                </a:lnTo>
                <a:cubicBezTo>
                  <a:pt x="66199" y="28575"/>
                  <a:pt x="49411" y="40332"/>
                  <a:pt x="42059" y="57150"/>
                </a:cubicBezTo>
                <a:lnTo>
                  <a:pt x="80962" y="57150"/>
                </a:lnTo>
                <a:cubicBezTo>
                  <a:pt x="84921" y="57150"/>
                  <a:pt x="88106" y="60335"/>
                  <a:pt x="88106" y="64294"/>
                </a:cubicBezTo>
                <a:cubicBezTo>
                  <a:pt x="88106" y="68253"/>
                  <a:pt x="84921" y="71438"/>
                  <a:pt x="80962" y="71438"/>
                </a:cubicBezTo>
                <a:lnTo>
                  <a:pt x="38338" y="71438"/>
                </a:lnTo>
                <a:cubicBezTo>
                  <a:pt x="38189" y="73015"/>
                  <a:pt x="38100" y="74593"/>
                  <a:pt x="38100" y="76200"/>
                </a:cubicBezTo>
                <a:cubicBezTo>
                  <a:pt x="38100" y="77807"/>
                  <a:pt x="38189" y="79385"/>
                  <a:pt x="38338" y="80962"/>
                </a:cubicBezTo>
                <a:lnTo>
                  <a:pt x="80962" y="80962"/>
                </a:lnTo>
                <a:cubicBezTo>
                  <a:pt x="84921" y="80962"/>
                  <a:pt x="88106" y="84147"/>
                  <a:pt x="88106" y="88106"/>
                </a:cubicBezTo>
                <a:cubicBezTo>
                  <a:pt x="88106" y="92065"/>
                  <a:pt x="84921" y="95250"/>
                  <a:pt x="80962" y="95250"/>
                </a:cubicBezTo>
                <a:lnTo>
                  <a:pt x="42059" y="95250"/>
                </a:lnTo>
                <a:cubicBezTo>
                  <a:pt x="49411" y="112068"/>
                  <a:pt x="66199" y="123825"/>
                  <a:pt x="85725" y="123825"/>
                </a:cubicBez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85725" y="142875"/>
                </a:lnTo>
                <a:cubicBezTo>
                  <a:pt x="55513" y="142875"/>
                  <a:pt x="30004" y="122783"/>
                  <a:pt x="21818" y="95250"/>
                </a:cubicBezTo>
                <a:lnTo>
                  <a:pt x="11906" y="95250"/>
                </a:lnTo>
                <a:cubicBezTo>
                  <a:pt x="7947" y="95250"/>
                  <a:pt x="4763" y="92065"/>
                  <a:pt x="4763" y="88106"/>
                </a:cubicBezTo>
                <a:cubicBezTo>
                  <a:pt x="4763" y="84147"/>
                  <a:pt x="7947" y="80962"/>
                  <a:pt x="11906" y="80962"/>
                </a:cubicBezTo>
                <a:lnTo>
                  <a:pt x="19229" y="80962"/>
                </a:lnTo>
                <a:cubicBezTo>
                  <a:pt x="19020" y="77837"/>
                  <a:pt x="19020" y="74563"/>
                  <a:pt x="19229" y="71438"/>
                </a:cubicBezTo>
                <a:lnTo>
                  <a:pt x="11906" y="71438"/>
                </a:lnTo>
                <a:cubicBezTo>
                  <a:pt x="7947" y="71438"/>
                  <a:pt x="4763" y="68253"/>
                  <a:pt x="4763" y="64294"/>
                </a:cubicBezTo>
                <a:cubicBezTo>
                  <a:pt x="4763" y="60335"/>
                  <a:pt x="7947" y="57150"/>
                  <a:pt x="11906" y="57150"/>
                </a:cubicBezTo>
                <a:lnTo>
                  <a:pt x="21818" y="5715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4" name="Text 12"/>
          <p:cNvSpPr/>
          <p:nvPr/>
        </p:nvSpPr>
        <p:spPr>
          <a:xfrm>
            <a:off x="704850" y="2305050"/>
            <a:ext cx="403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€12,847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3425" y="266223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7908" y="3884"/>
                </a:moveTo>
                <a:cubicBezTo>
                  <a:pt x="45117" y="1094"/>
                  <a:pt x="40585" y="1094"/>
                  <a:pt x="37795" y="3884"/>
                </a:cubicBezTo>
                <a:lnTo>
                  <a:pt x="2076" y="39603"/>
                </a:lnTo>
                <a:cubicBezTo>
                  <a:pt x="-714" y="42394"/>
                  <a:pt x="-714" y="46926"/>
                  <a:pt x="2076" y="49716"/>
                </a:cubicBezTo>
                <a:cubicBezTo>
                  <a:pt x="4867" y="52507"/>
                  <a:pt x="9398" y="52507"/>
                  <a:pt x="12189" y="49716"/>
                </a:cubicBezTo>
                <a:lnTo>
                  <a:pt x="35719" y="26186"/>
                </a:lnTo>
                <a:lnTo>
                  <a:pt x="35719" y="108942"/>
                </a:lnTo>
                <a:cubicBezTo>
                  <a:pt x="35719" y="112894"/>
                  <a:pt x="38911" y="116086"/>
                  <a:pt x="42863" y="116086"/>
                </a:cubicBezTo>
                <a:cubicBezTo>
                  <a:pt x="46814" y="116086"/>
                  <a:pt x="50006" y="112894"/>
                  <a:pt x="50006" y="108942"/>
                </a:cubicBezTo>
                <a:lnTo>
                  <a:pt x="50006" y="26186"/>
                </a:lnTo>
                <a:lnTo>
                  <a:pt x="73536" y="49716"/>
                </a:lnTo>
                <a:cubicBezTo>
                  <a:pt x="76327" y="52507"/>
                  <a:pt x="80858" y="52507"/>
                  <a:pt x="83649" y="49716"/>
                </a:cubicBezTo>
                <a:cubicBezTo>
                  <a:pt x="86439" y="46926"/>
                  <a:pt x="86439" y="42394"/>
                  <a:pt x="83649" y="39603"/>
                </a:cubicBezTo>
                <a:lnTo>
                  <a:pt x="47930" y="3884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6" name="Text 14"/>
          <p:cNvSpPr/>
          <p:nvPr/>
        </p:nvSpPr>
        <p:spPr>
          <a:xfrm>
            <a:off x="847725" y="2647950"/>
            <a:ext cx="3838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12.5% vs yesterday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3043238"/>
            <a:ext cx="4162425" cy="962025"/>
          </a:xfrm>
          <a:custGeom>
            <a:avLst/>
            <a:gdLst/>
            <a:ahLst/>
            <a:cxnLst/>
            <a:rect l="l" t="t" r="r" b="b"/>
            <a:pathLst>
              <a:path w="4162425" h="962025">
                <a:moveTo>
                  <a:pt x="76202" y="0"/>
                </a:moveTo>
                <a:lnTo>
                  <a:pt x="4086223" y="0"/>
                </a:lnTo>
                <a:cubicBezTo>
                  <a:pt x="4128280" y="0"/>
                  <a:pt x="4162425" y="34145"/>
                  <a:pt x="4162425" y="76202"/>
                </a:cubicBezTo>
                <a:lnTo>
                  <a:pt x="4162425" y="885823"/>
                </a:lnTo>
                <a:cubicBezTo>
                  <a:pt x="4162425" y="927880"/>
                  <a:pt x="4128280" y="962025"/>
                  <a:pt x="40862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850" y="316230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Active Players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8650" y="3162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0" name="Text 18"/>
          <p:cNvSpPr/>
          <p:nvPr/>
        </p:nvSpPr>
        <p:spPr>
          <a:xfrm>
            <a:off x="704850" y="3390900"/>
            <a:ext cx="403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1,247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3425" y="3748087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7908" y="3884"/>
                </a:moveTo>
                <a:cubicBezTo>
                  <a:pt x="45117" y="1094"/>
                  <a:pt x="40585" y="1094"/>
                  <a:pt x="37795" y="3884"/>
                </a:cubicBezTo>
                <a:lnTo>
                  <a:pt x="2076" y="39603"/>
                </a:lnTo>
                <a:cubicBezTo>
                  <a:pt x="-714" y="42394"/>
                  <a:pt x="-714" y="46926"/>
                  <a:pt x="2076" y="49716"/>
                </a:cubicBezTo>
                <a:cubicBezTo>
                  <a:pt x="4867" y="52507"/>
                  <a:pt x="9398" y="52507"/>
                  <a:pt x="12189" y="49716"/>
                </a:cubicBezTo>
                <a:lnTo>
                  <a:pt x="35719" y="26186"/>
                </a:lnTo>
                <a:lnTo>
                  <a:pt x="35719" y="108942"/>
                </a:lnTo>
                <a:cubicBezTo>
                  <a:pt x="35719" y="112894"/>
                  <a:pt x="38911" y="116086"/>
                  <a:pt x="42863" y="116086"/>
                </a:cubicBezTo>
                <a:cubicBezTo>
                  <a:pt x="46814" y="116086"/>
                  <a:pt x="50006" y="112894"/>
                  <a:pt x="50006" y="108942"/>
                </a:cubicBezTo>
                <a:lnTo>
                  <a:pt x="50006" y="26186"/>
                </a:lnTo>
                <a:lnTo>
                  <a:pt x="73536" y="49716"/>
                </a:lnTo>
                <a:cubicBezTo>
                  <a:pt x="76327" y="52507"/>
                  <a:pt x="80858" y="52507"/>
                  <a:pt x="83649" y="49716"/>
                </a:cubicBezTo>
                <a:cubicBezTo>
                  <a:pt x="86439" y="46926"/>
                  <a:pt x="86439" y="42394"/>
                  <a:pt x="83649" y="39603"/>
                </a:cubicBezTo>
                <a:lnTo>
                  <a:pt x="47930" y="3884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22" name="Text 20"/>
          <p:cNvSpPr/>
          <p:nvPr/>
        </p:nvSpPr>
        <p:spPr>
          <a:xfrm>
            <a:off x="847725" y="3733800"/>
            <a:ext cx="3838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8.3% vs yesterday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4129088"/>
            <a:ext cx="4162425" cy="962025"/>
          </a:xfrm>
          <a:custGeom>
            <a:avLst/>
            <a:gdLst/>
            <a:ahLst/>
            <a:cxnLst/>
            <a:rect l="l" t="t" r="r" b="b"/>
            <a:pathLst>
              <a:path w="4162425" h="962025">
                <a:moveTo>
                  <a:pt x="76202" y="0"/>
                </a:moveTo>
                <a:lnTo>
                  <a:pt x="4086223" y="0"/>
                </a:lnTo>
                <a:cubicBezTo>
                  <a:pt x="4128280" y="0"/>
                  <a:pt x="4162425" y="34145"/>
                  <a:pt x="4162425" y="76202"/>
                </a:cubicBezTo>
                <a:lnTo>
                  <a:pt x="4162425" y="885823"/>
                </a:lnTo>
                <a:cubicBezTo>
                  <a:pt x="4162425" y="927880"/>
                  <a:pt x="4128280" y="962025"/>
                  <a:pt x="40862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850" y="42481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Approval Rate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7700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38100"/>
                </a:moveTo>
                <a:lnTo>
                  <a:pt x="0" y="47625"/>
                </a:lnTo>
                <a:lnTo>
                  <a:pt x="152400" y="47625"/>
                </a:ln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close/>
                <a:moveTo>
                  <a:pt x="0" y="61912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61912"/>
                </a:lnTo>
                <a:lnTo>
                  <a:pt x="0" y="61912"/>
                </a:lnTo>
                <a:close/>
                <a:moveTo>
                  <a:pt x="19050" y="107156"/>
                </a:moveTo>
                <a:cubicBezTo>
                  <a:pt x="19050" y="103197"/>
                  <a:pt x="22235" y="100013"/>
                  <a:pt x="26194" y="100013"/>
                </a:cubicBezTo>
                <a:lnTo>
                  <a:pt x="40481" y="100013"/>
                </a:lnTo>
                <a:cubicBezTo>
                  <a:pt x="44440" y="100013"/>
                  <a:pt x="47625" y="103197"/>
                  <a:pt x="47625" y="107156"/>
                </a:cubicBezTo>
                <a:cubicBezTo>
                  <a:pt x="47625" y="111115"/>
                  <a:pt x="44440" y="114300"/>
                  <a:pt x="40481" y="114300"/>
                </a:cubicBezTo>
                <a:lnTo>
                  <a:pt x="26194" y="114300"/>
                </a:lnTo>
                <a:cubicBezTo>
                  <a:pt x="22235" y="114300"/>
                  <a:pt x="19050" y="111115"/>
                  <a:pt x="19050" y="107156"/>
                </a:cubicBezTo>
                <a:close/>
                <a:moveTo>
                  <a:pt x="61912" y="107156"/>
                </a:moveTo>
                <a:cubicBezTo>
                  <a:pt x="61912" y="103197"/>
                  <a:pt x="65097" y="100013"/>
                  <a:pt x="69056" y="100013"/>
                </a:cubicBez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9056" y="114300"/>
                </a:lnTo>
                <a:cubicBezTo>
                  <a:pt x="65097" y="114300"/>
                  <a:pt x="61912" y="111115"/>
                  <a:pt x="61912" y="107156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26" name="Text 24"/>
          <p:cNvSpPr/>
          <p:nvPr/>
        </p:nvSpPr>
        <p:spPr>
          <a:xfrm>
            <a:off x="704850" y="4476750"/>
            <a:ext cx="403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" y="4819650"/>
            <a:ext cx="3981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Last 24 hours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5788" y="5214938"/>
            <a:ext cx="4162425" cy="390525"/>
          </a:xfrm>
          <a:custGeom>
            <a:avLst/>
            <a:gdLst/>
            <a:ahLst/>
            <a:cxnLst/>
            <a:rect l="l" t="t" r="r" b="b"/>
            <a:pathLst>
              <a:path w="4162425" h="390525">
                <a:moveTo>
                  <a:pt x="76199" y="0"/>
                </a:moveTo>
                <a:lnTo>
                  <a:pt x="4086226" y="0"/>
                </a:lnTo>
                <a:cubicBezTo>
                  <a:pt x="4128309" y="0"/>
                  <a:pt x="4162425" y="34116"/>
                  <a:pt x="4162425" y="76199"/>
                </a:cubicBezTo>
                <a:lnTo>
                  <a:pt x="4162425" y="314326"/>
                </a:lnTo>
                <a:cubicBezTo>
                  <a:pt x="4162425" y="356409"/>
                  <a:pt x="4128309" y="390525"/>
                  <a:pt x="40862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850" y="5334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0" name="Text 28"/>
          <p:cNvSpPr/>
          <p:nvPr/>
        </p:nvSpPr>
        <p:spPr>
          <a:xfrm>
            <a:off x="971550" y="5334000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Agent Status: Active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48263" y="12239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54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5412581" y="1485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34" name="Text 32"/>
          <p:cNvSpPr/>
          <p:nvPr/>
        </p:nvSpPr>
        <p:spPr>
          <a:xfrm>
            <a:off x="5800725" y="1457325"/>
            <a:ext cx="1981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Instant GGR &amp; 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5425" y="18764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metrics dashboard with customizable KPIs and automated reporting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9163" y="12239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963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8814197" y="14859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39" name="Text 37"/>
          <p:cNvSpPr/>
          <p:nvPr/>
        </p:nvSpPr>
        <p:spPr>
          <a:xfrm>
            <a:off x="9191625" y="1457325"/>
            <a:ext cx="179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Self-Service Provider API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96325" y="18764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Manage game and payment provider connections without engineering support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48263" y="30146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5425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5412581" y="3276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4" name="Text 42"/>
          <p:cNvSpPr/>
          <p:nvPr/>
        </p:nvSpPr>
        <p:spPr>
          <a:xfrm>
            <a:off x="5800725" y="324802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Scoped API Key Generation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05425" y="36671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Granular access control with role-based permissions and audit trails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39163" y="30146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96325" y="3171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803481" y="3276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4294"/>
                </a:lnTo>
                <a:cubicBezTo>
                  <a:pt x="171450" y="52473"/>
                  <a:pt x="161839" y="42863"/>
                  <a:pt x="150019" y="42863"/>
                </a:cubicBezTo>
                <a:lnTo>
                  <a:pt x="24110" y="42863"/>
                </a:lnTo>
                <a:cubicBezTo>
                  <a:pt x="19656" y="42863"/>
                  <a:pt x="16073" y="39279"/>
                  <a:pt x="16073" y="34826"/>
                </a:cubicBezTo>
                <a:cubicBezTo>
                  <a:pt x="16073" y="30372"/>
                  <a:pt x="19656" y="26789"/>
                  <a:pt x="24110" y="26789"/>
                </a:cubicBezTo>
                <a:lnTo>
                  <a:pt x="152698" y="26789"/>
                </a:lnTo>
                <a:cubicBezTo>
                  <a:pt x="157151" y="26789"/>
                  <a:pt x="160734" y="23206"/>
                  <a:pt x="160734" y="18752"/>
                </a:cubicBezTo>
                <a:cubicBezTo>
                  <a:pt x="160734" y="14299"/>
                  <a:pt x="157151" y="10716"/>
                  <a:pt x="152698" y="10716"/>
                </a:cubicBezTo>
                <a:lnTo>
                  <a:pt x="21431" y="10716"/>
                </a:lnTo>
                <a:close/>
                <a:moveTo>
                  <a:pt x="139303" y="85725"/>
                </a:moveTo>
                <a:cubicBezTo>
                  <a:pt x="145217" y="85725"/>
                  <a:pt x="150019" y="90527"/>
                  <a:pt x="150019" y="96441"/>
                </a:cubicBezTo>
                <a:cubicBezTo>
                  <a:pt x="150019" y="102355"/>
                  <a:pt x="145217" y="107156"/>
                  <a:pt x="139303" y="107156"/>
                </a:cubicBezTo>
                <a:cubicBezTo>
                  <a:pt x="133389" y="107156"/>
                  <a:pt x="128588" y="102355"/>
                  <a:pt x="128588" y="96441"/>
                </a:cubicBezTo>
                <a:cubicBezTo>
                  <a:pt x="128588" y="90527"/>
                  <a:pt x="133389" y="85725"/>
                  <a:pt x="139303" y="85725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49" name="Text 47"/>
          <p:cNvSpPr/>
          <p:nvPr/>
        </p:nvSpPr>
        <p:spPr>
          <a:xfrm>
            <a:off x="9191625" y="3248025"/>
            <a:ext cx="1885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Affordability Check Status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96325" y="36671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player financial health monitoring with automated alerts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148263" y="48053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5425" y="4962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5412581" y="5067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4" name="Text 52"/>
          <p:cNvSpPr/>
          <p:nvPr/>
        </p:nvSpPr>
        <p:spPr>
          <a:xfrm>
            <a:off x="5800725" y="5038725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Anomaly Detection Alerts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05425" y="54578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Auto-notifies via Slack or AFA Monitor on GGR drops or payment failure spikes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39163" y="4805363"/>
            <a:ext cx="3267075" cy="1666875"/>
          </a:xfrm>
          <a:custGeom>
            <a:avLst/>
            <a:gdLst/>
            <a:ahLst/>
            <a:cxnLst/>
            <a:rect l="l" t="t" r="r" b="b"/>
            <a:pathLst>
              <a:path w="3267075" h="1666875">
                <a:moveTo>
                  <a:pt x="114298" y="0"/>
                </a:moveTo>
                <a:lnTo>
                  <a:pt x="3152777" y="0"/>
                </a:lnTo>
                <a:cubicBezTo>
                  <a:pt x="3215902" y="0"/>
                  <a:pt x="3267075" y="51173"/>
                  <a:pt x="3267075" y="114298"/>
                </a:cubicBezTo>
                <a:lnTo>
                  <a:pt x="3267075" y="1552577"/>
                </a:lnTo>
                <a:cubicBezTo>
                  <a:pt x="3267075" y="1615702"/>
                  <a:pt x="3215902" y="1666875"/>
                  <a:pt x="315277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96325" y="4962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782050" y="50673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9" name="Text 57"/>
          <p:cNvSpPr/>
          <p:nvPr/>
        </p:nvSpPr>
        <p:spPr>
          <a:xfrm>
            <a:off x="9191625" y="5038725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Agent Token Management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96325" y="5457825"/>
            <a:ext cx="3019425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Issue agent tokens for autonomous AI monitoring directly from Settings → Agent Tokens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Pricing &amp; Scalability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Zero players in Month 1 = €0 platform cost. Unlike legacy PAMs with Minimum Monthly Guarantees, your OPEX scales to zero.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695700" cy="4391025"/>
          </a:xfrm>
          <a:custGeom>
            <a:avLst/>
            <a:gdLst/>
            <a:ahLst/>
            <a:cxnLst/>
            <a:rect l="l" t="t" r="r" b="b"/>
            <a:pathLst>
              <a:path w="3695700" h="43910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76717"/>
                </a:lnTo>
                <a:cubicBezTo>
                  <a:pt x="3695700" y="4339848"/>
                  <a:pt x="3644523" y="4391025"/>
                  <a:pt x="3581392" y="4391025"/>
                </a:cubicBezTo>
                <a:lnTo>
                  <a:pt x="114308" y="4391025"/>
                </a:lnTo>
                <a:cubicBezTo>
                  <a:pt x="51177" y="4391025"/>
                  <a:pt x="0" y="4339848"/>
                  <a:pt x="0" y="4276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419225"/>
            <a:ext cx="1095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STARTUP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2984" y="1419225"/>
            <a:ext cx="495300" cy="304800"/>
          </a:xfrm>
          <a:custGeom>
            <a:avLst/>
            <a:gdLst/>
            <a:ahLst/>
            <a:cxnLst/>
            <a:rect l="l" t="t" r="r" b="b"/>
            <a:pathLst>
              <a:path w="495300" h="304800">
                <a:moveTo>
                  <a:pt x="152400" y="0"/>
                </a:moveTo>
                <a:lnTo>
                  <a:pt x="342900" y="0"/>
                </a:lnTo>
                <a:cubicBezTo>
                  <a:pt x="427012" y="0"/>
                  <a:pt x="495300" y="68288"/>
                  <a:pt x="495300" y="152400"/>
                </a:cubicBezTo>
                <a:lnTo>
                  <a:pt x="495300" y="152400"/>
                </a:lnTo>
                <a:cubicBezTo>
                  <a:pt x="495300" y="236512"/>
                  <a:pt x="427012" y="304800"/>
                  <a:pt x="3429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3507284" y="1500188"/>
            <a:ext cx="324892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1876425"/>
            <a:ext cx="628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6434" y="2024062"/>
            <a:ext cx="342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2257425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+ 2.5% GGR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409" y="2676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3" name="Text 11"/>
          <p:cNvSpPr/>
          <p:nvPr/>
        </p:nvSpPr>
        <p:spPr>
          <a:xfrm>
            <a:off x="823913" y="26384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409" y="2943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3"/>
          <p:cNvSpPr/>
          <p:nvPr/>
        </p:nvSpPr>
        <p:spPr>
          <a:xfrm>
            <a:off x="823913" y="2905125"/>
            <a:ext cx="157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 &amp; KYC Connector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409" y="3209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5"/>
          <p:cNvSpPr/>
          <p:nvPr/>
        </p:nvSpPr>
        <p:spPr>
          <a:xfrm>
            <a:off x="823913" y="3171825"/>
            <a:ext cx="149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 Provider Adapters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409" y="34766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9" name="Text 17"/>
          <p:cNvSpPr/>
          <p:nvPr/>
        </p:nvSpPr>
        <p:spPr>
          <a:xfrm>
            <a:off x="823913" y="3438525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 support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409" y="37433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9"/>
          <p:cNvSpPr/>
          <p:nvPr/>
        </p:nvSpPr>
        <p:spPr>
          <a:xfrm>
            <a:off x="823913" y="3705225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Community access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5788" y="4014788"/>
            <a:ext cx="3295650" cy="504825"/>
          </a:xfrm>
          <a:custGeom>
            <a:avLst/>
            <a:gdLst/>
            <a:ahLst/>
            <a:cxnLst/>
            <a:rect l="l" t="t" r="r" b="b"/>
            <a:pathLst>
              <a:path w="3295650" h="504825">
                <a:moveTo>
                  <a:pt x="38099" y="0"/>
                </a:moveTo>
                <a:lnTo>
                  <a:pt x="3257551" y="0"/>
                </a:lnTo>
                <a:cubicBezTo>
                  <a:pt x="3278592" y="0"/>
                  <a:pt x="3295650" y="17058"/>
                  <a:pt x="3295650" y="38099"/>
                </a:cubicBezTo>
                <a:lnTo>
                  <a:pt x="3295650" y="466726"/>
                </a:lnTo>
                <a:cubicBezTo>
                  <a:pt x="3295650" y="487767"/>
                  <a:pt x="3278592" y="504825"/>
                  <a:pt x="325755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131" y="41338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4" name="Text 22"/>
          <p:cNvSpPr/>
          <p:nvPr/>
        </p:nvSpPr>
        <p:spPr>
          <a:xfrm>
            <a:off x="909638" y="40957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AFA Tier 1 (Observe)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250" y="4286250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Read-only AI agent monitoring included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1275" y="1228725"/>
            <a:ext cx="3686175" cy="4381500"/>
          </a:xfrm>
          <a:custGeom>
            <a:avLst/>
            <a:gdLst/>
            <a:ahLst/>
            <a:cxnLst/>
            <a:rect l="l" t="t" r="r" b="b"/>
            <a:pathLst>
              <a:path w="3686175" h="43815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267192"/>
                </a:lnTo>
                <a:cubicBezTo>
                  <a:pt x="3686175" y="4330322"/>
                  <a:pt x="3634997" y="4381500"/>
                  <a:pt x="3571867" y="4381500"/>
                </a:cubicBezTo>
                <a:lnTo>
                  <a:pt x="114308" y="4381500"/>
                </a:lnTo>
                <a:cubicBezTo>
                  <a:pt x="51178" y="4381500"/>
                  <a:pt x="0" y="4330322"/>
                  <a:pt x="0" y="42671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40000"/>
                </a:srgbClr>
              </a:gs>
              <a:gs pos="100000">
                <a:srgbClr val="1A237E">
                  <a:alpha val="60000"/>
                </a:srgbClr>
              </a:gs>
            </a:gsLst>
            <a:lin ang="2700000" scaled="1"/>
          </a:gradFill>
          <a:ln w="254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2929" y="1123950"/>
            <a:ext cx="1162050" cy="304800"/>
          </a:xfrm>
          <a:custGeom>
            <a:avLst/>
            <a:gdLst/>
            <a:ahLst/>
            <a:cxnLst/>
            <a:rect l="l" t="t" r="r" b="b"/>
            <a:pathLst>
              <a:path w="1162050" h="304800">
                <a:moveTo>
                  <a:pt x="152400" y="0"/>
                </a:moveTo>
                <a:lnTo>
                  <a:pt x="1009650" y="0"/>
                </a:lnTo>
                <a:cubicBezTo>
                  <a:pt x="1093762" y="0"/>
                  <a:pt x="1162050" y="68288"/>
                  <a:pt x="1162050" y="152400"/>
                </a:cubicBezTo>
                <a:lnTo>
                  <a:pt x="1162050" y="152400"/>
                </a:lnTo>
                <a:cubicBezTo>
                  <a:pt x="1162050" y="236512"/>
                  <a:pt x="1093762" y="304800"/>
                  <a:pt x="10096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0" scaled="1"/>
          </a:gradFill>
        </p:spPr>
      </p:sp>
      <p:sp>
        <p:nvSpPr>
          <p:cNvPr id="28" name="Text 26"/>
          <p:cNvSpPr/>
          <p:nvPr/>
        </p:nvSpPr>
        <p:spPr>
          <a:xfrm>
            <a:off x="5665329" y="1204913"/>
            <a:ext cx="918344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MOST POPULAR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51300" y="1504950"/>
            <a:ext cx="110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GROWTH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1300" y="1962150"/>
            <a:ext cx="13239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€4,500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75933" y="2109788"/>
            <a:ext cx="342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/mo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51300" y="2343150"/>
            <a:ext cx="3362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+ 3.5% GGR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78685" y="2762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4" name="Text 32"/>
          <p:cNvSpPr/>
          <p:nvPr/>
        </p:nvSpPr>
        <p:spPr>
          <a:xfrm>
            <a:off x="4694188" y="2724150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Everything in Startup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78685" y="3028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6" name="Text 34"/>
          <p:cNvSpPr/>
          <p:nvPr/>
        </p:nvSpPr>
        <p:spPr>
          <a:xfrm>
            <a:off x="4694188" y="29908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Bonus engine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78685" y="3295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8" name="Text 36"/>
          <p:cNvSpPr/>
          <p:nvPr/>
        </p:nvSpPr>
        <p:spPr>
          <a:xfrm>
            <a:off x="4694188" y="3257550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Payment Orchestration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78685" y="3562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0" name="Text 38"/>
          <p:cNvSpPr/>
          <p:nvPr/>
        </p:nvSpPr>
        <p:spPr>
          <a:xfrm>
            <a:off x="4694188" y="3524250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Starter Kit — SDK, Frontend, API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78685" y="3829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2" name="Text 40"/>
          <p:cNvSpPr/>
          <p:nvPr/>
        </p:nvSpPr>
        <p:spPr>
          <a:xfrm>
            <a:off x="4694188" y="3790950"/>
            <a:ext cx="971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Priority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56063" y="4100513"/>
            <a:ext cx="3276600" cy="504825"/>
          </a:xfrm>
          <a:custGeom>
            <a:avLst/>
            <a:gdLst/>
            <a:ahLst/>
            <a:cxnLst/>
            <a:rect l="l" t="t" r="r" b="b"/>
            <a:pathLst>
              <a:path w="3276600" h="504825">
                <a:moveTo>
                  <a:pt x="38099" y="0"/>
                </a:moveTo>
                <a:lnTo>
                  <a:pt x="3238501" y="0"/>
                </a:lnTo>
                <a:cubicBezTo>
                  <a:pt x="3259542" y="0"/>
                  <a:pt x="3276600" y="17058"/>
                  <a:pt x="3276600" y="38099"/>
                </a:cubicBezTo>
                <a:lnTo>
                  <a:pt x="3276600" y="466726"/>
                </a:lnTo>
                <a:cubicBezTo>
                  <a:pt x="3276600" y="487767"/>
                  <a:pt x="3259542" y="504825"/>
                  <a:pt x="323850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39407" y="42195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5" name="Text 43"/>
          <p:cNvSpPr/>
          <p:nvPr/>
        </p:nvSpPr>
        <p:spPr>
          <a:xfrm>
            <a:off x="4779913" y="4181475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AFA Tier 2 (Pre-auth)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27525" y="4371975"/>
            <a:ext cx="2981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Autonomous threshold-based interventions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7338" y="1223963"/>
            <a:ext cx="3695700" cy="4391025"/>
          </a:xfrm>
          <a:custGeom>
            <a:avLst/>
            <a:gdLst/>
            <a:ahLst/>
            <a:cxnLst/>
            <a:rect l="l" t="t" r="r" b="b"/>
            <a:pathLst>
              <a:path w="3695700" h="43910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276717"/>
                </a:lnTo>
                <a:cubicBezTo>
                  <a:pt x="3695700" y="4339848"/>
                  <a:pt x="3644523" y="4391025"/>
                  <a:pt x="3581392" y="4391025"/>
                </a:cubicBezTo>
                <a:lnTo>
                  <a:pt x="114308" y="4391025"/>
                </a:lnTo>
                <a:cubicBezTo>
                  <a:pt x="51177" y="4391025"/>
                  <a:pt x="0" y="4339848"/>
                  <a:pt x="0" y="4276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40000"/>
                </a:srgbClr>
              </a:gs>
              <a:gs pos="100000">
                <a:srgbClr val="0A0E17">
                  <a:alpha val="60000"/>
                </a:srgbClr>
              </a:gs>
            </a:gsLst>
            <a:lin ang="27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02600" y="1419225"/>
            <a:ext cx="1438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84781" y="1419225"/>
            <a:ext cx="628650" cy="304800"/>
          </a:xfrm>
          <a:custGeom>
            <a:avLst/>
            <a:gdLst/>
            <a:ahLst/>
            <a:cxnLst/>
            <a:rect l="l" t="t" r="r" b="b"/>
            <a:pathLst>
              <a:path w="628650" h="304800">
                <a:moveTo>
                  <a:pt x="152400" y="0"/>
                </a:moveTo>
                <a:lnTo>
                  <a:pt x="476250" y="0"/>
                </a:lnTo>
                <a:cubicBezTo>
                  <a:pt x="560362" y="0"/>
                  <a:pt x="628650" y="68288"/>
                  <a:pt x="628650" y="152400"/>
                </a:cubicBezTo>
                <a:lnTo>
                  <a:pt x="628650" y="152400"/>
                </a:lnTo>
                <a:cubicBezTo>
                  <a:pt x="628650" y="236512"/>
                  <a:pt x="560362" y="304800"/>
                  <a:pt x="4762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1099081" y="1500188"/>
            <a:ext cx="454744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02600" y="1876425"/>
            <a:ext cx="14097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02600" y="2257425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+ 5% GGR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9985" y="2676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4" name="Text 52"/>
          <p:cNvSpPr/>
          <p:nvPr/>
        </p:nvSpPr>
        <p:spPr>
          <a:xfrm>
            <a:off x="8545488" y="2638425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Everything in Growth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29985" y="2943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6" name="Text 54"/>
          <p:cNvSpPr/>
          <p:nvPr/>
        </p:nvSpPr>
        <p:spPr>
          <a:xfrm>
            <a:off x="8545488" y="2905125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Dedicated account manager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9985" y="3209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8" name="Text 56"/>
          <p:cNvSpPr/>
          <p:nvPr/>
        </p:nvSpPr>
        <p:spPr>
          <a:xfrm>
            <a:off x="8545488" y="31718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 SLAs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29985" y="34766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0" name="Text 58"/>
          <p:cNvSpPr/>
          <p:nvPr/>
        </p:nvSpPr>
        <p:spPr>
          <a:xfrm>
            <a:off x="8545488" y="3438525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Backoffice customization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29985" y="37433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2" name="Text 60"/>
          <p:cNvSpPr/>
          <p:nvPr/>
        </p:nvSpPr>
        <p:spPr>
          <a:xfrm>
            <a:off x="8545488" y="3705225"/>
            <a:ext cx="1209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7363" y="4014788"/>
            <a:ext cx="3295650" cy="504825"/>
          </a:xfrm>
          <a:custGeom>
            <a:avLst/>
            <a:gdLst/>
            <a:ahLst/>
            <a:cxnLst/>
            <a:rect l="l" t="t" r="r" b="b"/>
            <a:pathLst>
              <a:path w="3295650" h="504825">
                <a:moveTo>
                  <a:pt x="38099" y="0"/>
                </a:moveTo>
                <a:lnTo>
                  <a:pt x="3257551" y="0"/>
                </a:lnTo>
                <a:cubicBezTo>
                  <a:pt x="3278592" y="0"/>
                  <a:pt x="3295650" y="17058"/>
                  <a:pt x="3295650" y="38099"/>
                </a:cubicBezTo>
                <a:lnTo>
                  <a:pt x="3295650" y="466726"/>
                </a:lnTo>
                <a:cubicBezTo>
                  <a:pt x="3295650" y="487767"/>
                  <a:pt x="3278592" y="504825"/>
                  <a:pt x="3257551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90706" y="41338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5" name="Text 63"/>
          <p:cNvSpPr/>
          <p:nvPr/>
        </p:nvSpPr>
        <p:spPr>
          <a:xfrm>
            <a:off x="8631213" y="4095750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AFA Tier 3 (Gated)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78825" y="4286250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 agent configuration + white-glove onboarding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5763" y="5738813"/>
            <a:ext cx="11420475" cy="733425"/>
          </a:xfrm>
          <a:custGeom>
            <a:avLst/>
            <a:gdLst/>
            <a:ahLst/>
            <a:cxnLst/>
            <a:rect l="l" t="t" r="r" b="b"/>
            <a:pathLst>
              <a:path w="11420475" h="733425">
                <a:moveTo>
                  <a:pt x="114297" y="0"/>
                </a:moveTo>
                <a:lnTo>
                  <a:pt x="11306178" y="0"/>
                </a:lnTo>
                <a:cubicBezTo>
                  <a:pt x="11369303" y="0"/>
                  <a:pt x="11420475" y="51172"/>
                  <a:pt x="11420475" y="114297"/>
                </a:cubicBezTo>
                <a:lnTo>
                  <a:pt x="11420475" y="619128"/>
                </a:lnTo>
                <a:cubicBezTo>
                  <a:pt x="11420475" y="682253"/>
                  <a:pt x="11369303" y="733425"/>
                  <a:pt x="113061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0075" y="59912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9" name="Text 67"/>
          <p:cNvSpPr/>
          <p:nvPr/>
        </p:nvSpPr>
        <p:spPr>
          <a:xfrm>
            <a:off x="981075" y="5895975"/>
            <a:ext cx="10734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ROI Example: Type C Migration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81075" y="6124575"/>
            <a:ext cx="10734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€50K GGR/mo operator saves </a:t>
            </a: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€8,750/mo (€105K/year)</a:t>
            </a: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switching from Softswiss 30% to NeoStrike Growth at €4,500 + 3.5% GGR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0">
                <a:srgbClr val="FFFFFF"/>
              </a:gs>
              <a:gs pos="100000">
                <a:srgbClr val="00E5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33400" y="381000"/>
            <a:ext cx="4000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End-to-End Go-Live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Package: From contract to live players in 4 weeks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114297" y="0"/>
                </a:moveTo>
                <a:lnTo>
                  <a:pt x="2647953" y="0"/>
                </a:lnTo>
                <a:cubicBezTo>
                  <a:pt x="2711078" y="0"/>
                  <a:pt x="2762250" y="51172"/>
                  <a:pt x="2762250" y="114297"/>
                </a:cubicBezTo>
                <a:lnTo>
                  <a:pt x="2762250" y="2524128"/>
                </a:lnTo>
                <a:cubicBezTo>
                  <a:pt x="2762250" y="2587253"/>
                  <a:pt x="2711078" y="2638425"/>
                  <a:pt x="264795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54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00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5AFE"/>
          </a:solidFill>
        </p:spPr>
      </p:sp>
      <p:sp>
        <p:nvSpPr>
          <p:cNvPr id="7" name="Text 5"/>
          <p:cNvSpPr/>
          <p:nvPr/>
        </p:nvSpPr>
        <p:spPr>
          <a:xfrm>
            <a:off x="684758" y="1476375"/>
            <a:ext cx="171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381125"/>
            <a:ext cx="1209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Day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1571625"/>
            <a:ext cx="121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Sign &amp; Configure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4356" y="1952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9"/>
          <p:cNvSpPr/>
          <p:nvPr/>
        </p:nvSpPr>
        <p:spPr>
          <a:xfrm>
            <a:off x="762000" y="1914525"/>
            <a:ext cx="647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DPA signed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356" y="21812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3" name="Text 11"/>
          <p:cNvSpPr/>
          <p:nvPr/>
        </p:nvSpPr>
        <p:spPr>
          <a:xfrm>
            <a:off x="762000" y="2143125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Tenant Portal access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4356" y="2409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3"/>
          <p:cNvSpPr/>
          <p:nvPr/>
        </p:nvSpPr>
        <p:spPr>
          <a:xfrm>
            <a:off x="762000" y="2371725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Supabase Auth &amp; Sumsub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4356" y="2638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5"/>
          <p:cNvSpPr/>
          <p:nvPr/>
        </p:nvSpPr>
        <p:spPr>
          <a:xfrm>
            <a:off x="762000" y="2600325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Game Catalog API live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4356" y="2867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9" name="Text 17"/>
          <p:cNvSpPr/>
          <p:nvPr/>
        </p:nvSpPr>
        <p:spPr>
          <a:xfrm>
            <a:off x="762000" y="2828925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KYC flow in staging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4356" y="3095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9"/>
          <p:cNvSpPr/>
          <p:nvPr/>
        </p:nvSpPr>
        <p:spPr>
          <a:xfrm>
            <a:off x="762000" y="3057525"/>
            <a:ext cx="1200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PSP contract activated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1838" y="1223963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114297" y="0"/>
                </a:moveTo>
                <a:lnTo>
                  <a:pt x="2647953" y="0"/>
                </a:lnTo>
                <a:cubicBezTo>
                  <a:pt x="2711078" y="0"/>
                  <a:pt x="2762250" y="51172"/>
                  <a:pt x="2762250" y="114297"/>
                </a:cubicBezTo>
                <a:lnTo>
                  <a:pt x="2762250" y="2524128"/>
                </a:lnTo>
                <a:cubicBezTo>
                  <a:pt x="2762250" y="2587253"/>
                  <a:pt x="2711078" y="2638425"/>
                  <a:pt x="264795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54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1400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4" name="Text 22"/>
          <p:cNvSpPr/>
          <p:nvPr/>
        </p:nvSpPr>
        <p:spPr>
          <a:xfrm>
            <a:off x="3588990" y="1476375"/>
            <a:ext cx="13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0E1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1381125"/>
            <a:ext cx="676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15716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50431" y="1952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8" name="Text 26"/>
          <p:cNvSpPr/>
          <p:nvPr/>
        </p:nvSpPr>
        <p:spPr>
          <a:xfrm>
            <a:off x="3648075" y="1914525"/>
            <a:ext cx="13049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Fork Reference Frontend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50431" y="21812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0" name="Text 28"/>
          <p:cNvSpPr/>
          <p:nvPr/>
        </p:nvSpPr>
        <p:spPr>
          <a:xfrm>
            <a:off x="3648075" y="2143125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Apply brand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50431" y="2409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2" name="Text 30"/>
          <p:cNvSpPr/>
          <p:nvPr/>
        </p:nvSpPr>
        <p:spPr>
          <a:xfrm>
            <a:off x="3648075" y="2371725"/>
            <a:ext cx="1438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Wire @neostrike/sdk hooks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7913" y="1223963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114297" y="0"/>
                </a:moveTo>
                <a:lnTo>
                  <a:pt x="2647953" y="0"/>
                </a:lnTo>
                <a:cubicBezTo>
                  <a:pt x="2711078" y="0"/>
                  <a:pt x="2762250" y="51172"/>
                  <a:pt x="2762250" y="114297"/>
                </a:cubicBezTo>
                <a:lnTo>
                  <a:pt x="2762250" y="2524128"/>
                </a:lnTo>
                <a:cubicBezTo>
                  <a:pt x="2762250" y="2587253"/>
                  <a:pt x="2711078" y="2638425"/>
                  <a:pt x="264795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5400000" scaled="1"/>
          </a:gra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5075" y="1400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5" name="Text 33"/>
          <p:cNvSpPr/>
          <p:nvPr/>
        </p:nvSpPr>
        <p:spPr>
          <a:xfrm>
            <a:off x="6461299" y="14763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0E1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2275" y="1381125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72275" y="1571625"/>
            <a:ext cx="1343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Bonus &amp; Payments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6506" y="1952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9" name="Text 37"/>
          <p:cNvSpPr/>
          <p:nvPr/>
        </p:nvSpPr>
        <p:spPr>
          <a:xfrm>
            <a:off x="6534150" y="1914525"/>
            <a:ext cx="1476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Bonus templates configured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6506" y="21812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1" name="Text 39"/>
          <p:cNvSpPr/>
          <p:nvPr/>
        </p:nvSpPr>
        <p:spPr>
          <a:xfrm>
            <a:off x="6534150" y="2143125"/>
            <a:ext cx="1019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PSP adapter tested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6506" y="2409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3" name="Text 41"/>
          <p:cNvSpPr/>
          <p:nvPr/>
        </p:nvSpPr>
        <p:spPr>
          <a:xfrm>
            <a:off x="6534150" y="2371725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 Track event mapping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48750" y="1228725"/>
            <a:ext cx="2752725" cy="2628900"/>
          </a:xfrm>
          <a:custGeom>
            <a:avLst/>
            <a:gdLst/>
            <a:ahLst/>
            <a:cxnLst/>
            <a:rect l="l" t="t" r="r" b="b"/>
            <a:pathLst>
              <a:path w="2752725" h="2628900">
                <a:moveTo>
                  <a:pt x="114305" y="0"/>
                </a:moveTo>
                <a:lnTo>
                  <a:pt x="2638420" y="0"/>
                </a:lnTo>
                <a:cubicBezTo>
                  <a:pt x="2701549" y="0"/>
                  <a:pt x="2752725" y="51176"/>
                  <a:pt x="2752725" y="114305"/>
                </a:cubicBezTo>
                <a:lnTo>
                  <a:pt x="2752725" y="2514595"/>
                </a:lnTo>
                <a:cubicBezTo>
                  <a:pt x="2752725" y="2577724"/>
                  <a:pt x="2701549" y="2628900"/>
                  <a:pt x="2638420" y="2628900"/>
                </a:cubicBezTo>
                <a:lnTo>
                  <a:pt x="114305" y="2628900"/>
                </a:lnTo>
                <a:cubicBezTo>
                  <a:pt x="51176" y="2628900"/>
                  <a:pt x="0" y="2577724"/>
                  <a:pt x="0" y="25145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50000"/>
                </a:srgbClr>
              </a:gs>
              <a:gs pos="100000">
                <a:srgbClr val="1A237E">
                  <a:alpha val="70000"/>
                </a:srgbClr>
              </a:gs>
            </a:gsLst>
            <a:lin ang="5400000" scaled="1"/>
          </a:gradFill>
          <a:ln w="25400">
            <a:solidFill>
              <a:srgbClr val="00E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0675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Text 44"/>
          <p:cNvSpPr/>
          <p:nvPr/>
        </p:nvSpPr>
        <p:spPr>
          <a:xfrm>
            <a:off x="9356154" y="1485900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0E1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67875" y="139065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 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67875" y="1581150"/>
            <a:ext cx="127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QA &amp; Soft Launch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32106" y="1962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0" name="Text 48"/>
          <p:cNvSpPr/>
          <p:nvPr/>
        </p:nvSpPr>
        <p:spPr>
          <a:xfrm>
            <a:off x="9429750" y="1924050"/>
            <a:ext cx="1619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Compliance reports configured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32106" y="21907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2" name="Text 50"/>
          <p:cNvSpPr/>
          <p:nvPr/>
        </p:nvSpPr>
        <p:spPr>
          <a:xfrm>
            <a:off x="9429750" y="2152650"/>
            <a:ext cx="1438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Duty of Care rules reviewed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232106" y="24193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4" name="Text 52"/>
          <p:cNvSpPr/>
          <p:nvPr/>
        </p:nvSpPr>
        <p:spPr>
          <a:xfrm>
            <a:off x="9429750" y="2381250"/>
            <a:ext cx="1504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Soft launch to invited players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232106" y="26479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6" name="Text 54"/>
          <p:cNvSpPr/>
          <p:nvPr/>
        </p:nvSpPr>
        <p:spPr>
          <a:xfrm>
            <a:off x="9429750" y="2609850"/>
            <a:ext cx="14954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Fast Track events flowing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232106" y="28765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8" name="Text 56"/>
          <p:cNvSpPr/>
          <p:nvPr/>
        </p:nvSpPr>
        <p:spPr>
          <a:xfrm>
            <a:off x="9429750" y="2838450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Bonus campaigns running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32106" y="3105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0" name="Text 58"/>
          <p:cNvSpPr/>
          <p:nvPr/>
        </p:nvSpPr>
        <p:spPr>
          <a:xfrm>
            <a:off x="9429750" y="3067050"/>
            <a:ext cx="1590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regulatory reporting active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215438" y="3300413"/>
            <a:ext cx="2419350" cy="390525"/>
          </a:xfrm>
          <a:custGeom>
            <a:avLst/>
            <a:gdLst/>
            <a:ahLst/>
            <a:cxnLst/>
            <a:rect l="l" t="t" r="r" b="b"/>
            <a:pathLst>
              <a:path w="2419350" h="390525">
                <a:moveTo>
                  <a:pt x="38100" y="0"/>
                </a:moveTo>
                <a:lnTo>
                  <a:pt x="2381250" y="0"/>
                </a:lnTo>
                <a:cubicBezTo>
                  <a:pt x="2402292" y="0"/>
                  <a:pt x="2419350" y="17058"/>
                  <a:pt x="2419350" y="38100"/>
                </a:cubicBezTo>
                <a:lnTo>
                  <a:pt x="2419350" y="352425"/>
                </a:lnTo>
                <a:cubicBezTo>
                  <a:pt x="2419350" y="373467"/>
                  <a:pt x="2402292" y="390525"/>
                  <a:pt x="2381250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1397" y="3405188"/>
            <a:ext cx="110735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Production Ready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85763" y="40243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962030"/>
                </a:lnTo>
                <a:cubicBezTo>
                  <a:pt x="3695700" y="1025153"/>
                  <a:pt x="3644528" y="1076325"/>
                  <a:pt x="35814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181475"/>
            <a:ext cx="3552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48h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9587" y="4600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first backend transaction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14350" y="4791075"/>
            <a:ext cx="3438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(technical milestone)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46513" y="40243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962030"/>
                </a:lnTo>
                <a:cubicBezTo>
                  <a:pt x="3695700" y="1025153"/>
                  <a:pt x="3644528" y="1076325"/>
                  <a:pt x="35814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17950" y="4181475"/>
            <a:ext cx="3552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 weeks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0338" y="4600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public launch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375100" y="4791075"/>
            <a:ext cx="3438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 of Week 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107338" y="40243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962030"/>
                </a:lnTo>
                <a:cubicBezTo>
                  <a:pt x="3695700" y="1025153"/>
                  <a:pt x="3644528" y="1076325"/>
                  <a:pt x="35814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30000"/>
                </a:srgbClr>
              </a:gs>
              <a:gs pos="100000">
                <a:srgbClr val="00E5FF">
                  <a:alpha val="30000"/>
                </a:srgbClr>
              </a:gs>
            </a:gsLst>
            <a:lin ang="0" scaled="1"/>
          </a:gradFill>
          <a:ln w="12700">
            <a:solidFill>
              <a:srgbClr val="3D5AFE">
                <a:alpha val="50196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78775" y="4181475"/>
            <a:ext cx="3552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231163" y="46005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Dedicated onboarding support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235925" y="4791075"/>
            <a:ext cx="3438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Throughout the journey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85763" y="522446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37E">
              <a:alpha val="40000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3400" y="5362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77" name="Text 75"/>
          <p:cNvSpPr/>
          <p:nvPr/>
        </p:nvSpPr>
        <p:spPr>
          <a:xfrm>
            <a:off x="809625" y="5343525"/>
            <a:ext cx="497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Migrating from Softswiss / EveryMatrix? See our </a:t>
            </a:r>
            <a:r>
              <a:rPr lang="en-US" sz="105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5-6 week Platform Migration Guide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b24abefe33ca78d57c54ba65279deb8e71290c21.jpg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17">
                  <a:alpha val="90000"/>
                </a:srgbClr>
              </a:gs>
              <a:gs pos="50000">
                <a:srgbClr val="1A237E">
                  <a:alpha val="80000"/>
                </a:srgbClr>
              </a:gs>
              <a:gs pos="100000">
                <a:srgbClr val="0A0E17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12643" y="1047750"/>
            <a:ext cx="1562100" cy="352425"/>
          </a:xfrm>
          <a:custGeom>
            <a:avLst/>
            <a:gdLst/>
            <a:ahLst/>
            <a:cxnLst/>
            <a:rect l="l" t="t" r="r" b="b"/>
            <a:pathLst>
              <a:path w="1562100" h="352425">
                <a:moveTo>
                  <a:pt x="176213" y="0"/>
                </a:moveTo>
                <a:lnTo>
                  <a:pt x="1385888" y="0"/>
                </a:lnTo>
                <a:cubicBezTo>
                  <a:pt x="1483142" y="0"/>
                  <a:pt x="1562100" y="78958"/>
                  <a:pt x="1562100" y="176213"/>
                </a:cubicBezTo>
                <a:lnTo>
                  <a:pt x="1562100" y="176213"/>
                </a:lnTo>
                <a:cubicBezTo>
                  <a:pt x="1562100" y="273467"/>
                  <a:pt x="1483142" y="352425"/>
                  <a:pt x="138588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69806" y="11858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" name="Text 3"/>
          <p:cNvSpPr/>
          <p:nvPr/>
        </p:nvSpPr>
        <p:spPr>
          <a:xfrm>
            <a:off x="5588868" y="1128713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AI-NATIVE · v2.0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00314" y="1557338"/>
            <a:ext cx="47910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326" y="22812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5AFE"/>
              </a:gs>
              <a:gs pos="100000">
                <a:srgbClr val="00E5FF"/>
              </a:gs>
            </a:gsLst>
            <a:lin ang="0" scaled="1"/>
          </a:gradFill>
        </p:spPr>
      </p:sp>
      <p:sp>
        <p:nvSpPr>
          <p:cNvPr id="9" name="Text 6"/>
          <p:cNvSpPr/>
          <p:nvPr/>
        </p:nvSpPr>
        <p:spPr>
          <a:xfrm>
            <a:off x="3786039" y="2471738"/>
            <a:ext cx="4619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Secure your 48-hour launch advantage today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3563" y="3009900"/>
            <a:ext cx="4143375" cy="1466850"/>
          </a:xfrm>
          <a:custGeom>
            <a:avLst/>
            <a:gdLst/>
            <a:ahLst/>
            <a:cxnLst/>
            <a:rect l="l" t="t" r="r" b="b"/>
            <a:pathLst>
              <a:path w="4143375" h="1466850">
                <a:moveTo>
                  <a:pt x="114297" y="0"/>
                </a:moveTo>
                <a:lnTo>
                  <a:pt x="4029078" y="0"/>
                </a:lnTo>
                <a:cubicBezTo>
                  <a:pt x="4092203" y="0"/>
                  <a:pt x="4143375" y="51172"/>
                  <a:pt x="4143375" y="114297"/>
                </a:cubicBezTo>
                <a:lnTo>
                  <a:pt x="4143375" y="1352553"/>
                </a:lnTo>
                <a:cubicBezTo>
                  <a:pt x="4143375" y="1415678"/>
                  <a:pt x="4092203" y="1466850"/>
                  <a:pt x="40290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237E">
                  <a:alpha val="50000"/>
                </a:srgbClr>
              </a:gs>
              <a:gs pos="100000">
                <a:srgbClr val="0A0E17">
                  <a:alpha val="70000"/>
                </a:srgbClr>
              </a:gs>
            </a:gsLst>
            <a:lin ang="2700000" scaled="1"/>
          </a:gra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28825" y="33623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" y="0"/>
                </a:moveTo>
                <a:lnTo>
                  <a:pt x="685800" y="0"/>
                </a:lnTo>
                <a:cubicBezTo>
                  <a:pt x="727856" y="0"/>
                  <a:pt x="762000" y="34144"/>
                  <a:pt x="762000" y="76200"/>
                </a:cubicBezTo>
                <a:lnTo>
                  <a:pt x="762000" y="685800"/>
                </a:lnTo>
                <a:cubicBezTo>
                  <a:pt x="762000" y="727856"/>
                  <a:pt x="727856" y="762000"/>
                  <a:pt x="685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9"/>
          <p:cNvSpPr/>
          <p:nvPr/>
        </p:nvSpPr>
        <p:spPr>
          <a:xfrm>
            <a:off x="2259806" y="357187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107156"/>
                </a:moveTo>
                <a:lnTo>
                  <a:pt x="85725" y="107156"/>
                </a:lnTo>
                <a:lnTo>
                  <a:pt x="85725" y="64294"/>
                </a:lnTo>
                <a:lnTo>
                  <a:pt x="42863" y="64294"/>
                </a:lnTo>
                <a:lnTo>
                  <a:pt x="42863" y="107156"/>
                </a:lnTo>
                <a:close/>
                <a:moveTo>
                  <a:pt x="0" y="53578"/>
                </a:moveTo>
                <a:cubicBezTo>
                  <a:pt x="0" y="35830"/>
                  <a:pt x="14399" y="21431"/>
                  <a:pt x="32147" y="21431"/>
                </a:cubicBezTo>
                <a:lnTo>
                  <a:pt x="96441" y="21431"/>
                </a:lnTo>
                <a:cubicBezTo>
                  <a:pt x="114188" y="21431"/>
                  <a:pt x="128588" y="35830"/>
                  <a:pt x="128588" y="53578"/>
                </a:cubicBezTo>
                <a:lnTo>
                  <a:pt x="128588" y="117872"/>
                </a:lnTo>
                <a:cubicBezTo>
                  <a:pt x="128588" y="135620"/>
                  <a:pt x="114188" y="150019"/>
                  <a:pt x="96441" y="150019"/>
                </a:cubicBezTo>
                <a:lnTo>
                  <a:pt x="32147" y="150019"/>
                </a:lnTo>
                <a:cubicBezTo>
                  <a:pt x="14399" y="150019"/>
                  <a:pt x="0" y="135620"/>
                  <a:pt x="0" y="117872"/>
                </a:cubicBezTo>
                <a:lnTo>
                  <a:pt x="0" y="53578"/>
                </a:lnTo>
                <a:close/>
                <a:moveTo>
                  <a:pt x="42863" y="278606"/>
                </a:moveTo>
                <a:lnTo>
                  <a:pt x="85725" y="278606"/>
                </a:lnTo>
                <a:lnTo>
                  <a:pt x="85725" y="235744"/>
                </a:lnTo>
                <a:lnTo>
                  <a:pt x="42863" y="235744"/>
                </a:lnTo>
                <a:lnTo>
                  <a:pt x="42863" y="278606"/>
                </a:lnTo>
                <a:close/>
                <a:moveTo>
                  <a:pt x="0" y="225028"/>
                </a:moveTo>
                <a:cubicBezTo>
                  <a:pt x="0" y="207280"/>
                  <a:pt x="14399" y="192881"/>
                  <a:pt x="32147" y="192881"/>
                </a:cubicBezTo>
                <a:lnTo>
                  <a:pt x="96441" y="192881"/>
                </a:lnTo>
                <a:cubicBezTo>
                  <a:pt x="114188" y="192881"/>
                  <a:pt x="128588" y="207280"/>
                  <a:pt x="128588" y="225028"/>
                </a:cubicBezTo>
                <a:lnTo>
                  <a:pt x="128588" y="289322"/>
                </a:lnTo>
                <a:cubicBezTo>
                  <a:pt x="128588" y="307070"/>
                  <a:pt x="114188" y="321469"/>
                  <a:pt x="96441" y="321469"/>
                </a:cubicBezTo>
                <a:lnTo>
                  <a:pt x="32147" y="321469"/>
                </a:lnTo>
                <a:cubicBezTo>
                  <a:pt x="14399" y="321469"/>
                  <a:pt x="0" y="307070"/>
                  <a:pt x="0" y="289322"/>
                </a:cubicBezTo>
                <a:lnTo>
                  <a:pt x="0" y="225028"/>
                </a:lnTo>
                <a:close/>
                <a:moveTo>
                  <a:pt x="214313" y="64294"/>
                </a:moveTo>
                <a:lnTo>
                  <a:pt x="214313" y="107156"/>
                </a:lnTo>
                <a:lnTo>
                  <a:pt x="257175" y="107156"/>
                </a:lnTo>
                <a:lnTo>
                  <a:pt x="257175" y="64294"/>
                </a:lnTo>
                <a:lnTo>
                  <a:pt x="214313" y="64294"/>
                </a:lnTo>
                <a:close/>
                <a:moveTo>
                  <a:pt x="203597" y="21431"/>
                </a:moveTo>
                <a:lnTo>
                  <a:pt x="267891" y="21431"/>
                </a:lnTo>
                <a:cubicBezTo>
                  <a:pt x="285638" y="21431"/>
                  <a:pt x="300038" y="35830"/>
                  <a:pt x="300038" y="53578"/>
                </a:cubicBezTo>
                <a:lnTo>
                  <a:pt x="300038" y="117872"/>
                </a:lnTo>
                <a:cubicBezTo>
                  <a:pt x="300038" y="135620"/>
                  <a:pt x="285638" y="150019"/>
                  <a:pt x="267891" y="150019"/>
                </a:cubicBezTo>
                <a:lnTo>
                  <a:pt x="203597" y="150019"/>
                </a:lnTo>
                <a:cubicBezTo>
                  <a:pt x="185849" y="150019"/>
                  <a:pt x="171450" y="135620"/>
                  <a:pt x="171450" y="117872"/>
                </a:cubicBezTo>
                <a:lnTo>
                  <a:pt x="171450" y="53578"/>
                </a:lnTo>
                <a:cubicBezTo>
                  <a:pt x="171450" y="35830"/>
                  <a:pt x="185849" y="21431"/>
                  <a:pt x="203597" y="21431"/>
                </a:cubicBezTo>
                <a:close/>
                <a:moveTo>
                  <a:pt x="192881" y="235744"/>
                </a:moveTo>
                <a:cubicBezTo>
                  <a:pt x="181053" y="235744"/>
                  <a:pt x="171450" y="226141"/>
                  <a:pt x="171450" y="214313"/>
                </a:cubicBezTo>
                <a:cubicBezTo>
                  <a:pt x="171450" y="202484"/>
                  <a:pt x="181053" y="192881"/>
                  <a:pt x="192881" y="192881"/>
                </a:cubicBezTo>
                <a:cubicBezTo>
                  <a:pt x="204709" y="192881"/>
                  <a:pt x="214313" y="202484"/>
                  <a:pt x="214313" y="214313"/>
                </a:cubicBezTo>
                <a:cubicBezTo>
                  <a:pt x="214313" y="226141"/>
                  <a:pt x="204709" y="235744"/>
                  <a:pt x="192881" y="235744"/>
                </a:cubicBezTo>
                <a:close/>
                <a:moveTo>
                  <a:pt x="192881" y="278606"/>
                </a:moveTo>
                <a:cubicBezTo>
                  <a:pt x="204735" y="278606"/>
                  <a:pt x="214313" y="288183"/>
                  <a:pt x="214313" y="300038"/>
                </a:cubicBezTo>
                <a:cubicBezTo>
                  <a:pt x="214313" y="311892"/>
                  <a:pt x="204735" y="321469"/>
                  <a:pt x="192881" y="321469"/>
                </a:cubicBezTo>
                <a:cubicBezTo>
                  <a:pt x="181027" y="321469"/>
                  <a:pt x="171450" y="311892"/>
                  <a:pt x="171450" y="300038"/>
                </a:cubicBezTo>
                <a:cubicBezTo>
                  <a:pt x="171450" y="288183"/>
                  <a:pt x="181027" y="278606"/>
                  <a:pt x="192881" y="278606"/>
                </a:cubicBezTo>
                <a:close/>
                <a:moveTo>
                  <a:pt x="257175" y="300038"/>
                </a:moveTo>
                <a:cubicBezTo>
                  <a:pt x="257175" y="288183"/>
                  <a:pt x="266752" y="278606"/>
                  <a:pt x="278606" y="278606"/>
                </a:cubicBezTo>
                <a:cubicBezTo>
                  <a:pt x="290460" y="278606"/>
                  <a:pt x="300038" y="288183"/>
                  <a:pt x="300038" y="300038"/>
                </a:cubicBezTo>
                <a:cubicBezTo>
                  <a:pt x="300038" y="311892"/>
                  <a:pt x="290460" y="321469"/>
                  <a:pt x="278606" y="321469"/>
                </a:cubicBezTo>
                <a:cubicBezTo>
                  <a:pt x="266752" y="321469"/>
                  <a:pt x="257175" y="311892"/>
                  <a:pt x="257175" y="300038"/>
                </a:cubicBezTo>
                <a:close/>
                <a:moveTo>
                  <a:pt x="278606" y="235744"/>
                </a:moveTo>
                <a:cubicBezTo>
                  <a:pt x="266778" y="235744"/>
                  <a:pt x="257175" y="226141"/>
                  <a:pt x="257175" y="214313"/>
                </a:cubicBezTo>
                <a:cubicBezTo>
                  <a:pt x="257175" y="202484"/>
                  <a:pt x="266778" y="192881"/>
                  <a:pt x="278606" y="192881"/>
                </a:cubicBezTo>
                <a:cubicBezTo>
                  <a:pt x="290434" y="192881"/>
                  <a:pt x="300038" y="202484"/>
                  <a:pt x="300038" y="214313"/>
                </a:cubicBezTo>
                <a:cubicBezTo>
                  <a:pt x="300038" y="226141"/>
                  <a:pt x="290434" y="235744"/>
                  <a:pt x="278606" y="235744"/>
                </a:cubicBezTo>
                <a:close/>
                <a:moveTo>
                  <a:pt x="257175" y="257175"/>
                </a:moveTo>
                <a:cubicBezTo>
                  <a:pt x="257175" y="269003"/>
                  <a:pt x="247572" y="278606"/>
                  <a:pt x="235744" y="278606"/>
                </a:cubicBezTo>
                <a:cubicBezTo>
                  <a:pt x="223916" y="278606"/>
                  <a:pt x="214313" y="269003"/>
                  <a:pt x="214313" y="257175"/>
                </a:cubicBezTo>
                <a:cubicBezTo>
                  <a:pt x="214313" y="245347"/>
                  <a:pt x="223916" y="235744"/>
                  <a:pt x="235744" y="235744"/>
                </a:cubicBezTo>
                <a:cubicBezTo>
                  <a:pt x="247572" y="235744"/>
                  <a:pt x="257175" y="245347"/>
                  <a:pt x="257175" y="257175"/>
                </a:cubicBezTo>
                <a:close/>
              </a:path>
            </a:pathLst>
          </a:custGeom>
          <a:solidFill>
            <a:srgbClr val="0A0E17"/>
          </a:solidFill>
        </p:spPr>
      </p:sp>
      <p:sp>
        <p:nvSpPr>
          <p:cNvPr id="13" name="Text 10"/>
          <p:cNvSpPr/>
          <p:nvPr/>
        </p:nvSpPr>
        <p:spPr>
          <a:xfrm>
            <a:off x="2943225" y="3205163"/>
            <a:ext cx="2609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Try the Sandbox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43225" y="3548063"/>
            <a:ext cx="2581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OpenAPI sandbox / .well-known/agent.json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943225" y="3824288"/>
            <a:ext cx="1600200" cy="228600"/>
          </a:xfrm>
          <a:custGeom>
            <a:avLst/>
            <a:gdLst/>
            <a:ahLst/>
            <a:cxnLst/>
            <a:rect l="l" t="t" r="r" b="b"/>
            <a:pathLst>
              <a:path w="1600200" h="228600">
                <a:moveTo>
                  <a:pt x="38101" y="0"/>
                </a:moveTo>
                <a:lnTo>
                  <a:pt x="1562099" y="0"/>
                </a:lnTo>
                <a:cubicBezTo>
                  <a:pt x="1583142" y="0"/>
                  <a:pt x="1600200" y="17058"/>
                  <a:pt x="1600200" y="38101"/>
                </a:cubicBezTo>
                <a:lnTo>
                  <a:pt x="1600200" y="190499"/>
                </a:lnTo>
                <a:cubicBezTo>
                  <a:pt x="1600200" y="211542"/>
                  <a:pt x="1583142" y="228600"/>
                  <a:pt x="15620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057525" y="3862387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x-sandbox-mode: true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43225" y="4129088"/>
            <a:ext cx="2571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Simulate any provider or failure state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5063" y="3009900"/>
            <a:ext cx="4143375" cy="1466850"/>
          </a:xfrm>
          <a:custGeom>
            <a:avLst/>
            <a:gdLst/>
            <a:ahLst/>
            <a:cxnLst/>
            <a:rect l="l" t="t" r="r" b="b"/>
            <a:pathLst>
              <a:path w="4143375" h="1466850">
                <a:moveTo>
                  <a:pt x="114297" y="0"/>
                </a:moveTo>
                <a:lnTo>
                  <a:pt x="4029078" y="0"/>
                </a:lnTo>
                <a:cubicBezTo>
                  <a:pt x="4092203" y="0"/>
                  <a:pt x="4143375" y="51172"/>
                  <a:pt x="4143375" y="114297"/>
                </a:cubicBezTo>
                <a:lnTo>
                  <a:pt x="4143375" y="1352553"/>
                </a:lnTo>
                <a:cubicBezTo>
                  <a:pt x="4143375" y="1415678"/>
                  <a:pt x="4092203" y="1466850"/>
                  <a:pt x="40290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5AFE">
                  <a:alpha val="50000"/>
                </a:srgbClr>
              </a:gs>
              <a:gs pos="100000">
                <a:srgbClr val="1A237E">
                  <a:alpha val="70000"/>
                </a:srgbClr>
              </a:gs>
            </a:gsLst>
            <a:lin ang="2700000" scaled="1"/>
          </a:gra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0325" y="32623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" y="0"/>
                </a:moveTo>
                <a:lnTo>
                  <a:pt x="685800" y="0"/>
                </a:lnTo>
                <a:cubicBezTo>
                  <a:pt x="727856" y="0"/>
                  <a:pt x="762000" y="34144"/>
                  <a:pt x="762000" y="76200"/>
                </a:cubicBezTo>
                <a:lnTo>
                  <a:pt x="762000" y="685800"/>
                </a:lnTo>
                <a:cubicBezTo>
                  <a:pt x="762000" y="727856"/>
                  <a:pt x="727856" y="762000"/>
                  <a:pt x="685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</p:spPr>
      </p:sp>
      <p:sp>
        <p:nvSpPr>
          <p:cNvPr id="20" name="Shape 17"/>
          <p:cNvSpPr/>
          <p:nvPr/>
        </p:nvSpPr>
        <p:spPr>
          <a:xfrm>
            <a:off x="6615113" y="350043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7324725" y="3205163"/>
            <a:ext cx="2505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See the AI Agent in Action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24725" y="3548063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Connect Claude CoWork to your sandbox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24725" y="3852863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Request AFA Demo 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10340" y="38909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Shape 22"/>
          <p:cNvSpPr/>
          <p:nvPr/>
        </p:nvSpPr>
        <p:spPr>
          <a:xfrm>
            <a:off x="4156397" y="48244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6" name="Text 23"/>
          <p:cNvSpPr/>
          <p:nvPr/>
        </p:nvSpPr>
        <p:spPr>
          <a:xfrm>
            <a:off x="4442147" y="4786313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contact@neostrike.io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22752" y="48244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D5AFE"/>
          </a:solidFill>
        </p:spPr>
      </p:sp>
      <p:sp>
        <p:nvSpPr>
          <p:cNvPr id="28" name="Text 25"/>
          <p:cNvSpPr/>
          <p:nvPr/>
        </p:nvSpPr>
        <p:spPr>
          <a:xfrm>
            <a:off x="6708502" y="4786313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www.neostrike.io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81000" y="5867400"/>
            <a:ext cx="26765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NEO</a:t>
            </a:r>
            <a:r>
              <a:rPr lang="en-US" sz="3600" b="1" dirty="0">
                <a:solidFill>
                  <a:srgbClr val="3D5AF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STRIKE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422657" y="5715000"/>
            <a:ext cx="13906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00E5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48h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641732" y="6286500"/>
            <a:ext cx="117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LIVE IN 48 HOURS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12037</Words>
  <Application>WPS Writer</Application>
  <PresentationFormat>On-screen Show (16:9)</PresentationFormat>
  <Paragraphs>867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Liter</vt:lpstr>
      <vt:lpstr>Liter</vt:lpstr>
      <vt:lpstr>Liter</vt:lpstr>
      <vt:lpstr>Hedvig Letters Sans</vt:lpstr>
      <vt:lpstr>Hedvig Letters Sans</vt:lpstr>
      <vt:lpstr>Hedvig Letters Sans</vt:lpstr>
      <vt:lpstr>MiSans</vt:lpstr>
      <vt:lpstr>MiSans</vt:lpstr>
      <vt:lpstr>Microsoft YaHei</vt:lpstr>
      <vt:lpstr>汉仪旗黑</vt:lpstr>
      <vt:lpstr>Microsoft YaHei</vt:lpstr>
      <vt:lpstr>Microsoft YaHei</vt:lpstr>
      <vt:lpstr>Calibri</vt:lpstr>
      <vt:lpstr>Helvetica Neue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NEOSTRIKE Sales Deck v2.0</dc:title>
  <dc:creator>Kimi</dc:creator>
  <dc:subject>NEOSTRIKE Sales Deck v2.0</dc:subject>
  <cp:lastModifiedBy>Cheng Zuo</cp:lastModifiedBy>
  <cp:revision>2</cp:revision>
  <dcterms:created xsi:type="dcterms:W3CDTF">2026-04-05T09:52:15Z</dcterms:created>
  <dcterms:modified xsi:type="dcterms:W3CDTF">2026-04-05T09:52:15Z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{"Label":"NEOSTRIKE Sales Deck v2.0","ContentProducer":"001191110108MACG2KBH8F10000","ProduceID":"19d5cfd1-fdb2-88ea-8000-0000985671e6","ReservedCode1":"","ContentPropagator":"001191110108MACG2KBH8F20000","PropagateID":"19d5cfd1-fdb2-88ea-8000-0000985671e6","ReservedCode2":""}</vt:lpwstr>
  </property>
  <property fmtid="{D5CDD505-2E9C-101B-9397-08002B2CF9AE}" pid="3" name="ICV">
    <vt:lpwstr>53745EECC4D0AEC2CF30D269FB93C240_42</vt:lpwstr>
  </property>
  <property fmtid="{D5CDD505-2E9C-101B-9397-08002B2CF9AE}" pid="4" name="KSOProductBuildVer">
    <vt:lpwstr>1033-6.15.0.8733</vt:lpwstr>
  </property>
</Properties>
</file>